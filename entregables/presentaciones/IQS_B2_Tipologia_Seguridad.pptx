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1.jpg" ContentType="image/jpg"/>
  <Override PartName="/ppt/media/image-10-2.jpg" ContentType="image/jpg"/>
  <Override PartName="/ppt/media/image-10-3.jpg" ContentType="image/jpg"/>
  <Override PartName="/ppt/media/image-3-1.jpg" ContentType="image/jpg"/>
  <Override PartName="/ppt/media/image-4-1.jpg" ContentType="image/jpg"/>
  <Override PartName="/ppt/media/image-4-2.jpg" ContentType="image/jpg"/>
  <Override PartName="/ppt/media/image-4-3.jpg" ContentType="image/jpg"/>
  <Override PartName="/ppt/media/image-4-4.jpg" ContentType="image/jpg"/>
  <Override PartName="/ppt/media/image-8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Encuadrar el bloque en una frase: el mapa de la robótica actual. Tres sesiones: taxonomía y configuraciones, robots móviles, y cobots con seguridad y normativa. La parte de normativa es la de más salida profesional.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Avisar de las dos fechas: el jueves 24 es festivo (La Mercè) y al final de S7 quedan cerrados los equipos del proyecto integrador. El taller de análisis de riesgos de S7 es entregable puntuable. Sugerir que vayan hablando entre ellos para formar equipos.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 de la sesión: que cualquier robot que vean lo sepan situar en las dos taxonomías, reconocer su configuración y su grado de autonomía. La foto del Da Vinci sirve de gancho: fijo o móvil, fabricación o servicio, autónomo o teleoperado. Plan: 0-10 repaso del cuestionario B1; 10-35 taxonomías clasificando fotos; 35-65 configuraciones; 65-75 descanso; 75-95 autonomía; 95-115 actividad de fichas; 115-120 preformar equipos.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Dinámica: proyectar cada foto y pedir a la clase que la sitúe en ambas taxonomías antes de dar la respuesta. ASIMO permite decir que las categorías no son excluyentes (móvil y de servicio). Spot: robot de campo e inspección. Delta: fijo, de fabricación, con cadenas cinemáticas cerradas. El AGV portacontenedores prepara la pregunta de S6 sobre la diferencia con un AMR.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las dos taxonomías (movilidad y función) y detenerse en la tarjeta derecha: el industrial clásico vive enjaulado con piezas ordenadas; el cobot sustituye el vallado por sensórica y control; campo y servicio añaden entorno desordenado y personas cerca. Útil la escalera de intimidad física: el de reparto circula entre personas, el coche las lleva dentro, el quirúrgico opera dentro. Explica por qué percepción y seguridad dominan la robótica moderna.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Dibujar en la pizarra cada configuración con su espacio de trabajo al lado. Señalar que los robots del laboratorio son articulados de 6 ejes y que todo B4 se apoya en esa configuración. Del recuadro inferior, fijar tres conceptos que reaparecen: seis grados de libertad para pose arbitraria, espacio alcanzable frente a diestro, y repetibilidad (la cifra de catálogo) frente a exactitud (peor, y la que importa al programar fuera de línea).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Repasar los cuatro niveles con sus ejemplos y avisar de que un mismo sistema cambia de nivel según el modo de operación. Actividad en equipos (20 min): seis fichas por equipo (industrial, cobot, AMR, humanoide, quirúrgico, dron) y para cada una taxonomía, configuración si aplica y posición en el espectro. Puesta en común con votación; las discrepancias son el material interesante. Al cierre, preformar los equipos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Pregunta técnica que ordena la sesión: por qué la mayoría de los AMR llevan tracción diferencial y no dirección tipo coche. La distinción AGV-AMR separa dos generaciones de la logística. Plan: 0-5 recuperación (dibujar SCARA y articulado); 5-25 ruedas; 25-40 AGV frente a AMR, patas y aire; 40-55 ejercicio de selección de plataforma; 55-60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las cuatro arquitecturas con su criterio de uso. En Ackermann, introducir la palabra no holonómico con la intuición de aparcar en paralelo: no puede desplazarse lateralmente y eso condiciona la planificación en B7. En orugas, avisar de que el giro por deslizamiento castiga la odometría; el dato reaparece en localización (B6).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Tres niveles de convivencia: casa (Roomba, con su sensórica de contacto y precipicio), calle (robotaxi, percepción de 360 grados con vidas dentro) y mesa compartida (el brazo del ajedrez, contacto físico potencial). Dejar planteada la pregunta que abre S7: qué hace falta, técnica y normativamente, para que compartir mesa con un brazo industrial sea seguro.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distinción clave está en las dos tarjetas: el AGV sigue infraestructura física y el entorno se adapta al vehículo; el AMR navega con un mapa propio (SLAM en B6, Nav2 en B7) y se adapta él al entorno. Frase que conviene dictar: mismo hardware, distinto software. Del recuadro inferior: patas para escaleras y escombros a cambio de equilibrio y consumo, multirrotor frente a ala fija, ROV frente a AUV. Ejercicio de 15 minutos: elegir plataforma para almacén, hospital y viña, justificando locomoción, sensórica y autonomía.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la sesión como la de más salida profesional del bloque. Objetivos: las dos partes de la ISO 10218:2025, los cuatro métodos colaborativos y un primer análisis de riesgos en equipo (entregable puntuable). La foto del UR16e permite anticipar la idea de fuerza limitada: la e-Series estima el par por corriente en cada eje y lleva un sensor fuerza-par de seis ejes en la brida, no par medido articulación a articulación. Plan: 0-10 recuperación; 10-40 marco normativo; 40-70 métodos con vídeos; 70-80 descanso; 80-105 taller de riesgos; 105-120 cuestionario B2 en Moodle (15 min) y cierre de equipos.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idea principal es la división de responsabilidades: Parte 1 para el fabricante (el robot como componente), Parte 2 para el integrador (la célula completa), y el integrador es el responsable legal de la evaluación de riesgos. Dos aclaraciones: comprar un robot seguro no hace segura la célula, y cobot no es una categoría legal sino una aplicación colaborativa. La revisión de 2025 absorbió la ISO/TS 15066, que sigue siendo la referencia de los límites biomecánicos. Ejemplo provocador: un cobot con una cuchilla no es una aplicación colaborativa segura.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Proyectar un vídeo corto de cada método y pedir que identifiquen cuál es cuál antes de nombrarlos. Al recorrer las tarjetas, subrayar que los métodos se combinan (separación en la aproximación, fuerza limitada en la entrega) y que todos tienen coste de productividad: elegir método es una decisión de diseño, con el espíritu del MDQ de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los cinco pasos de la ISO 12100 insistiendo en dos puntos: los modos degradados (limpieza, mantenimiento, recuperación de fallos) concentran los accidentes reales, y la jerarquía de reducción es estricta: eliminar por diseño, luego proteger, informar solo al final. Encargo de 30 minutos en equipos: tabla de seis filas sobre la célula del ABB con carga y descarga manual. Corrección en común. Recordar que las normas del laboratorio son de obligado cumplimiento. Después: cuestionario B2 en Moodle y cierre de equipos.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223760" y="2377440"/>
            <a:ext cx="4983480" cy="44988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9509760" y="4480560"/>
            <a:ext cx="2697480" cy="239572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pic>
        <p:nvPicPr>
          <p:cNvPr id="4" name="Image 0" descr="/home/claude/work/curso_82514/media/logo_iqs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86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D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82514 · MECATRÓNICA Y ROBÓTICA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Tipología de robots, cobots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humanoides. Seguridad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5029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S5–S7 · 5 horas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 23 y 25 de septiembre de 2026 · IQS Universitat Ramon Llull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del bloque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vie 18 sep · 2 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423160"/>
            <a:ext cx="10479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de robots, configuraciones de manipuladores, grados de autonomía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16382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· mié 23 sep · 1 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3794760"/>
            <a:ext cx="10479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móviles: ruedas, patas, aire; AGV frente a AMR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53542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· vie 25 sep · 2 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5166360"/>
            <a:ext cx="10479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Cobots y seguridad: ISO 10218:2025, métodos colaborativos, análisis de riesgos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" y="5916168"/>
            <a:ext cx="104790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24 de septiembre: festivo (La Mercè). Los equipos del proyecto integrador quedan cerrados al final de S7.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82514 Mecatrónica y Robótica · B2 · IQS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y configuraciones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taxonomías · configuraciones de manipuladores · espectro de autonomía</a:t>
            </a:r>
            <a:endParaRPr lang="en-US" sz="1600" dirty="0"/>
          </a:p>
        </p:txBody>
      </p:sp>
      <p:pic>
        <p:nvPicPr>
          <p:cNvPr id="8" name="Image 0" descr="/home/claude/work/curso_82514/media/fotos/b2_davinc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3092958"/>
            <a:ext cx="3749040" cy="28117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18120" y="5904738"/>
            <a:ext cx="3749040" cy="54864"/>
          </a:xfrm>
          <a:prstGeom prst="rect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89520" y="603275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Vinci Xi: el telerobot quirúrgico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652881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Foto: Alvarogarciamd CC BY-SA 4.0 · Wikimedia Commons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TIPOS DE ROBOTS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taxonomía, en imágenes</a:t>
            </a:r>
            <a:endParaRPr lang="en-US" sz="3000" dirty="0"/>
          </a:p>
        </p:txBody>
      </p:sp>
      <p:pic>
        <p:nvPicPr>
          <p:cNvPr id="4" name="Image 0" descr="/home/claude/work/curso_82514/media/fotos/b2_humano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0" y="1371600"/>
            <a:ext cx="17145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69417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Humanoide (ASIMO): móvil y de servicio a la vez</a:t>
            </a:r>
            <a:endParaRPr lang="en-US" sz="1050" dirty="0"/>
          </a:p>
        </p:txBody>
      </p:sp>
      <p:pic>
        <p:nvPicPr>
          <p:cNvPr id="6" name="Image 1" descr="/home/claude/work/curso_82514/media/fotos/b2_cuadruped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342900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2200" y="369417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Cuadrúpedo de inspección (Spot)</a:t>
            </a:r>
            <a:endParaRPr lang="en-US" sz="1050" dirty="0"/>
          </a:p>
        </p:txBody>
      </p:sp>
      <p:pic>
        <p:nvPicPr>
          <p:cNvPr id="8" name="Image 2" descr="/home/claude/work/curso_82514/media/fotos/b2_delt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495" y="3977640"/>
            <a:ext cx="3256410" cy="2286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630021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delta: cadenas cinemáticas cerradas</a:t>
            </a:r>
            <a:endParaRPr lang="en-US" sz="1050" dirty="0"/>
          </a:p>
        </p:txBody>
      </p:sp>
      <p:pic>
        <p:nvPicPr>
          <p:cNvPr id="10" name="Image 3" descr="/home/claude/work/curso_82514/media/fotos/b2_agv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934" y="3977640"/>
            <a:ext cx="3043773" cy="2286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2200" y="630021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portacontenedores (puerto de Róterdam)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Fotos: Gnsin CC BY-SA 3.0 · ArticCynda CC BY-SA 4.0 · Trungdoanhong CC BY-SA 4.0 · CC0 · Wikimedia Commons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CLASIFICACIÓN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taxonomías complementarias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46504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movilidad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49926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Fijos («primera generación»: el trabajo va al robot)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Móviles: ruedas o patas (tierra), alas o rotores (aire), superficie o inmersión (agua)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" y="3941064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función (Corke)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4434840"/>
            <a:ext cx="49926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Fabricación, herederos del Unimate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Servicio, limpieza, cuidado, rehabilitación, transporte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Campo, agricultura, minería, construcción, exteriores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Humanoides, a la vez móviles y de servicio: las categorías no son excluyentes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64808" y="1746504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Fabricación frente a colaborativo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64808" y="2240280"/>
            <a:ext cx="485546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de fabricación: brazo sobre base fija, tareas repetitivas en célula local, piezas presentadas de forma ordenada → máxima velocidad y precisión. Peligroso: seguridad por exclusión (jaula).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Cobot: seguro para el humano, baja velocidad, se detiene ante una obstrucción. Sustituye vallado por sensórica y control.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y servicio, dos retos extra: entorno desordenado y cambiante, y personas cerca (el reparto circula entre ellas; el coche las lleva dentro; el quirúrgico opera dentro).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Corke, RVC3, cap. 1, sección 1.2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MANIPULADORES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Configuraciones de manipuladores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4650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Cartesiano (PPP)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30723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en caja; rígido; pórticos de paletizado y metrología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174650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SCARA (RRP)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44568" y="2240280"/>
            <a:ext cx="30723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Rígido en Z, ágil en el plano; ensamblado electrónico de alta velocidad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47888" y="174650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Esférico (RRP)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47888" y="2240280"/>
            <a:ext cx="30723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Unimate original y el Stanford Arm; espacio esférico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75818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Articulado (6R)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251960"/>
            <a:ext cx="30723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estándar: Mitsubishi y ABB del laboratorio; máxima destreza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1188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44568" y="375818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Paralelo / delta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44568" y="4251960"/>
            <a:ext cx="30723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cerradas; poca inercia, altísima velocidad; envasado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61188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47888" y="375818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Cilíndrico (RPP)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47888" y="4251960"/>
            <a:ext cx="30723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cilíndrico; hoy minoritario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6692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1248" y="5779008"/>
            <a:ext cx="104790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que reaparecen en B4: grados de libertad (6 para pose arbitraria) · espacio alcanzable frente a diestro · repetibilidad (±0,01–0,05 mm, la cifra estrella de catálogo) frente a exactitud (peor; clave en programación fuera de línea).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articulación rotativa · P = prismática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AUTONOMÍA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espectro de autonomía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8366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Teleoperación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220370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humano controla todo; el robot ejecuta. ROV, cirugía robótica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82112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355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5186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34740" y="192024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347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29100" y="188366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alternado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53028" y="2514600"/>
            <a:ext cx="220370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pasan el control por turnos. Piloto automático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93892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355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88366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compartido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64808" y="2514600"/>
            <a:ext cx="220370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a la vez. Mantener carril + velocidad humana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05672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355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7542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258300" y="192024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2583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52660" y="188366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supervisada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76588" y="2514600"/>
            <a:ext cx="220370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 decide localmente; el humano fija objetivos. Rovers, AMR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48056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41248" y="4626864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en equipos (20 min)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1248" y="5120640"/>
            <a:ext cx="104790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fichas por equipo: robot industrial, cobot, AMR, humanoide, quirúrgico, dron. Para cada una: taxonomía (movilidad y función), configuración cinemática si aplica, y posición en el espectro de autonomía. Puesta en común con votación.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Corke, RVC3, cap. 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móviles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Locomoción con ruedas y patas · AGV frente a AMR · aire y agua</a:t>
            </a:r>
            <a:endParaRPr lang="en-US" sz="1600" dirty="0"/>
          </a:p>
        </p:txBody>
      </p:sp>
      <p:pic>
        <p:nvPicPr>
          <p:cNvPr id="8" name="Image 0" descr="/home/claude/work/curso_82514/media/fotos/b2_dr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3249168"/>
            <a:ext cx="3749040" cy="2499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18120" y="5748528"/>
            <a:ext cx="3749040" cy="54864"/>
          </a:xfrm>
          <a:prstGeom prst="rect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89520" y="587654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Multirrotor: locomoción aérea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652881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Foto: J. Sorenson CC0 · Wikimedia Commons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· ARQUITECTURAS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Locomoción con ruedas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465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77440"/>
            <a:ext cx="49469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motrices independientes + apoyos. Gira sobre sí mismo. La arquitectura de la mayoría de AMR; modelo cinemático más simple (B4)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7465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Ackermann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19088" y="2377440"/>
            <a:ext cx="49469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delantera tipo coche. Radio de giro mínimo; no holonómico (sin desplazamiento lateral) → condiciona la planificación (B7)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0782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Omnidireccional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709160"/>
            <a:ext cx="49469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Ruedas mecanum o esféricas: holonómico (traslación y rotación simultáneas). Sensible al suelo; menos carga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0" y="4114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0782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Orugas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19088" y="4709160"/>
            <a:ext cx="49469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 suelto; giro por deslizamiento (skid-steer) que castiga la odometría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Corke, RVC3, parte II (contexto)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· SERVICIO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de servicio, entre personas</a:t>
            </a:r>
            <a:endParaRPr lang="en-US" sz="3000" dirty="0"/>
          </a:p>
        </p:txBody>
      </p:sp>
      <p:pic>
        <p:nvPicPr>
          <p:cNvPr id="4" name="Image 0" descr="/home/claude/work/curso_82514/media/fotos/b7_roomba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1660"/>
            <a:ext cx="35204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4086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Roomba: el robot doméstico más vendido de la historia</a:t>
            </a:r>
            <a:endParaRPr lang="en-US" sz="1050" dirty="0"/>
          </a:p>
        </p:txBody>
      </p:sp>
      <p:pic>
        <p:nvPicPr>
          <p:cNvPr id="6" name="Image 1" descr="/home/claude/work/curso_82514/media/fotos/b2_au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438400"/>
            <a:ext cx="3520440" cy="2346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15968" y="48219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Robotaxi: servicio autónomo en vía pública</a:t>
            </a:r>
            <a:endParaRPr lang="en-US" sz="1050" dirty="0"/>
          </a:p>
        </p:txBody>
      </p:sp>
      <p:pic>
        <p:nvPicPr>
          <p:cNvPr id="8" name="Image 2" descr="/home/claude/work/curso_82514/media/fotos/b8_ajedrez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2274570"/>
            <a:ext cx="3566160" cy="26746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91856" y="498576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mesa con un brazo industrial: interacción humano-robot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Fotos: CEphoto, U. Aranas CC BY-SA 4.0 · Dllu CC BY-SA 4.0 · S. Kazantsev CC BY-SA 4.0 · Wikimedia Commons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· PLATAFORMAS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frente a AMR, y el resto del mapa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46504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49926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infraestructura física: filoguiado, banda magnética, balizas. Ruta fija; se detiene ante obstáculos.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 se adapta al vehículo.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257800" cy="2651760"/>
          </a:xfrm>
          <a:prstGeom prst="roundRect">
            <a:avLst>
              <a:gd name="adj" fmla="val 275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64808" y="1746504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4808" y="2240280"/>
            <a:ext cx="485546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con un mapa que construye y mantiene (SLAM → B6); planifica rutas y rodea obstáculos (Nav2 → B7).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vehículo se adapta al entorno. Mismo hardware, distinto software: 30 años de progreso en percepción.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4581144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Patas, aire y agua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5074920"/>
            <a:ext cx="10479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Patas: escaleras y escombros a cambio de equilibrio dinámico y consumo; cuadrúpedos de inspección y humanoides bípedos (viables gracias también al RL → B8). Aire: multirrotores (estacionario, simplicidad) frente a ala fija (cobertura). Agua: ROV teleoperados y AUV autónomos. Todos comparten sense-plan-act con sensórica distinta.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AGV→AMR = valor añadido por software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Cobots, seguridad y normativa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10218:2025 · cuatro métodos colaborativos · análisis de riesgos</a:t>
            </a:r>
            <a:endParaRPr lang="en-US" sz="1600" dirty="0"/>
          </a:p>
        </p:txBody>
      </p:sp>
      <p:pic>
        <p:nvPicPr>
          <p:cNvPr id="8" name="Image 0" descr="/home/claude/work/curso_82514/media/fotos/b2_cobo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5023" y="3035808"/>
            <a:ext cx="3615234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85023" y="5961888"/>
            <a:ext cx="3615234" cy="54864"/>
          </a:xfrm>
          <a:prstGeom prst="rect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89520" y="608990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UR16e: fuerza limitada por corriente y sensor fuerza-par en la muñeca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652881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Foto: Auledas CC BY-SA 4.0 · Wikimedia Commons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· NORMATIVA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normativo: ISO 10218:2025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46504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1, El fabricante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49926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del robot como componente: paradas de seguridad, límites de eje, modos de operación.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64808" y="1746504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2, El integrador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4808" y="2240280"/>
            <a:ext cx="48554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del sistema completo: layout de la célula, resguardos, dispositivos de protección, validación. El integrador es responsable legal de la evaluación de riesgos.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4306824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ideas clave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4800600"/>
            <a:ext cx="1047902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Comprar un robot «seguro» no hace segura la célula: la seguridad es una propiedad de la aplicación integrada.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«Cobot» no es una categoría legal, sino una aplicación colaborativa: la revisión de 2025 integró en la ISO 10218 los requisitos que vivían en la ISO/TS 15066 (2016), que sigue siendo la referencia de los límites biomecánicos de fuerza y presión por región corporal.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10218-1/-2:2025 · ISO/TS 15066:2016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· MÉTODOS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métodos de operación colaborativa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007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monitorizada de seguridad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494690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 se detiene (parada segura) cuando entra una persona y reanuda al salir. Colaboración por turnos.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7007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Guiado manual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19088" y="2331720"/>
            <a:ext cx="494690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mueve el robot físicamente, con compensación de gravedad. Programación por demostración.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8039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y separación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" y="4434840"/>
            <a:ext cx="494690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en tiempo real de la distancia persona-robot; la velocidad se modula hasta detenerse. Escáneres láser / visión de seguridad certificada: células sin vallado con robots rápidos.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0" y="38404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38039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de potencia y fuerza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19088" y="4434840"/>
            <a:ext cx="494690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admite contacto, con fuerza, par y presión bajo los umbrales biomecánicos (ISO/TS 15066). El método de los cobots con medición de par articular.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5216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41248" y="5961888"/>
            <a:ext cx="10479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métodos se combinan (separación en aproximación + fuerza limitada en la entrega) y tienen coste de productividad: elegir método es diseño mecatrónico, el MDQ del bloque 1 reaparece.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10218:2025 · ISO/TS 15066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· TALLER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Taller: análisis de riesgos en 5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37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468880"/>
            <a:ext cx="165506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Espacio, tareas, quién interactúa y cómo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33472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355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6080" y="169164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108960" y="187452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108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1837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Peligros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27248" y="2468880"/>
            <a:ext cx="165506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tarea, incluidos modos degradados: limpieza, mantenimiento, recuperación de fallos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19472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355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12080" y="169164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394960" y="187452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94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89320" y="1837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13248" y="2468880"/>
            <a:ext cx="165506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del daño y probabilidad de que ocurra: exposición, suceso peligroso y posibilidad de evitarlo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05472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355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0" y="169164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680960" y="187452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80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75320" y="1837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99248" y="2468880"/>
            <a:ext cx="165506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Jerarquía: eliminar por diseño → proteger → informar (en ese orden)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91472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355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784080" y="169164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966960" y="187452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966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61320" y="1837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85248" y="2468880"/>
            <a:ext cx="165506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que las medidas funcionan y documentarlo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38912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41248" y="4535424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 (30 min, en equipos)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41248" y="5029200"/>
            <a:ext cx="104790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propuesta: robot ABB del laboratorio con carga y descarga manual de piezas. Entregable: tabla de riesgos de 6 filas (peligro, tarea, estimación, medida, método colaborativo si aplica). Corrección en común como síntesis del bloque. Después: cuestionario B2 en Moodle (15 min) y cierre de equipos del proyecto.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12100 · ISO 10218-2:2025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2026-08-11T07:26:35Z</dcterms:created>
  <dcterms:modified xsi:type="dcterms:W3CDTF">2026-08-11T07:26:35Z</dcterms:modified>
</cp:coreProperties>
</file>