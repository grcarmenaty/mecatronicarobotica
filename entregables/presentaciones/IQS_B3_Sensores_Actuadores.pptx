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3-1.jpg" ContentType="image/jpg"/>
  <Override PartName="/ppt/media/image-17-1.jpg" ContentType="image/jpg"/>
  <Override PartName="/ppt/media/image-18-1.jpg" ContentType="image/jpg"/>
  <Override PartName="/ppt/media/image-18-2.jpg" ContentType="image/jpg"/>
  <Override PartName="/ppt/media/image-3-1.jpg" ContentType="image/jpg"/>
  <Override PartName="/ppt/media/image-7-1.jpg" ContentType="image/jpg"/>
  <Override PartName="/ppt/media/image-7-2.jpg" ContentType="image/jpg"/>
  <Override PartName="/ppt/media/image-7-3.jpg" ContentType="image/jpg"/>
  <Override PartName="/ppt/media/image-7-4.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Encuadre del bloque: sensores y actuadores son los dos extremos de la cadena mecatrónica de B1. Cinco sesiones: tres de percibir y dos de actuar, con un ejercicio puntuable de selección de sensores en S10.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 semana: S8 y S9 construyen el lenguaje (hoja de datos, sensores de posición e inercia); S10 concentra fuerza, tacto y rango con el ejercicio puntuable; S11 y S12 pasan a los actuadores, con el motor DC como puerta del bloque 5. Cuestionario B3 en Moodle en los últimos 15 minutos de S12.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Idea de la sesión: qué hay entre el fenómeno físico y el número que ve el programa. La foto del HC-SR04 lo ilustra: sensor y acondicionamiento en la misma placa. Plan: 0-5 apertura del bloque; 5-20 cadena de instrumentación y Nyquist con las figuras de aliasing; 20-45 características estáticas sobre una única gráfica en pizarra; 45-55 dinámicas y la regla posición-velocidad-aceleración; 55-60 one-minute paper (definir resolución y distinguirla de exactitud).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Escribir en la pizarra la definición de Fraden (sensor: recibe un estímulo y responde con una señal eléctrica) y contraponerla a transductor y actuador; el altavoz es transductor y el motor actuador. Dibujar la cadena completa aunque esté proyectada. Cerrar el segmento con la pregunta de la tarjeta: muestrear 400 Hz a 500 Hz produce un alias a 100 Hz y ningún filtro digital posterior lo deshace.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ocho especificaciones sobre una única gráfica anotada en la pizarra; el objetivo es que sepan leer una hoja de datos. Insistir en el aviso del recuadro: un sesgo estable se calibra, una dispersión no; por eso repetibilidad y exactitud no son lo mismo. De las dinámicas, dejar la regla de Fraden: posición hasta unos 10 Hz, velocidad hasta el kilohercio, aceleración por encima.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de sensores propioceptivos: encoders, LVDT, Hall y la IMU con su problema característico, el bias. Plan: 0-5 recuperación de S8 e introducción propioceptivo-exteroceptivo; 5-25 posición (encoder con cuadratura en pizarra, LVDT, Hall); 25-45 acelerómetros y giróscopos; 45-55 IMU y navegación inercial con el modelo de error; 55-60 cierre y encargo de la lista de selección de acelerómetro.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Volver a proyectar cada foto al presentar su familia. El encoder abierto muestra el disco y el detector de donde sale la cuadratura. La IMU sobre el centavo fija la escala MEMS; suele ser lo que más recuerdan. La galga es un zigzag de constantán que convierte deformación en resistencia. El LiDAR sobre el coche es el sensor de rango de S10.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la pizarra: dibujar las señales A y B en cuadratura y deducir con la clase cómo dan cuenta y sentido; calcular la resolución de un encoder de N líneas con decodificación x4. Señalar el truco del recuadro: encoder en el lado del motor, la reductora multiplica su resolución sobre la articulación. Del LVDT, quedarse con que no tiene contacto ni desgaste y que su pariente industrial es el resolver. Del Hall, anticipar que es la base de la conmutación de los BLDC de S11.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Escribir la ecuación de segundo orden del acelerómetro (masa sísmica, suspensión, amortiguamiento). La idea clave de la sesión es de Corke: los acelerómetros miden la gravedad y el movimiento a la vez; en reposo miden g y de ahí sale la inclinación. Del bias: la lectura vale s por x más b más ruido; b deriva y al integrar dos veces el error de posición crece con el cuadrado del tiempo. Pregunta de cierre: por qué el dron del laboratorio no navega solo con su IMU barata. La respuesta completa (fusión con Kalman) llega en B6.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Estructura de la doble sesión: primera hora para el contacto (galgas, Wheatstone, táctiles), segunda para el rango y el ejercicio puntuable en parejas. La foto del par estéreo anticipa una de las tres familias de rango. Plan: 0-10 recuperación con dos estudiantes en pizarra; 10-35 galgas y Wheatstone; 35-55 táctiles y discusión de manipulación; 55-65 descanso; 65-90 rango; 90-115 ejercicio puntuable; 115-120 cierre.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 los cinco métodos de Fraden para medir fuerza, el dominante es medir la deformación de un elemento elástico. En la pizarra: el puente de Wheatstone, su condición de equilibrio y por qué cuatro galgas activas compensan la temperatura y cuadruplican la sensibilidad. Definir célula de carga como elemento elástico más galgas. Discusión final: por qué la manipulación diestra sigue limitada por el tacto; conectar con las pinzas del laboratorio y los humanoides de B2.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Principio común del rango: emitir energía y medir la reflexión; recorrer ultrasonidos, LiDAR y cámaras de profundidad con sus límites. El ejercicio puntuable usa la metodología de las tarjetas centrales: tabla de especificaciones, preguntas de Fraden, Nyquist y decisión tipo MDQ. Avisar de las dos trampas del caso del husillo: derivar posición para obtener vibración y muestrear a 10 kHz. Puesta en común con defensa oral de una pareja por caso.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Cambio de lado: de percibir a actuar. Cita de apertura de Corke: la mayoría de los robots actuales se accionan con motores eléctricos rotativos. La foto del NEMA 17 conecta con cualquier impresora 3D que hayan visto. Plan: 0-5 recuperación; 5-25 motor DC y fuerza contraelectromotriz con la curva par-velocidad en pizarra; 25-40 BLDC y paso a paso; 40-55 servoaccionamientos y SEA; 55-60 encargo de lectura sobre reductoras e inercia reflejada.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tres curvas resumen el bloque y conviene recuperar esta diapositiva en el repaso del cuestionario. Histéresis: la salida depende del camino. Cuadratura: el desfase de 90 grados da cuenta y sentido. Par-velocidad: par máximo a rotor parado y velocidad máxima sin carga; en la siguiente diapositiva se deduce de las ecuaciones.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Deducir en la pizarra la curva par-velocidad a partir de las tres ecuaciones del panel. Detenerse en la fuerza contraelectromotriz: el motor que gira es también generador, esa tensión se opone a la corriente y por eso existe una velocidad máxima; de paso aporta amortiguamiento aparente. Pregunta de control para la clase: por qué ese límite de velocidad. Anotar la simplificación habitual: la constante de tiempo eléctrica es mucho menor que la mecánica y el transitorio eléctrico se desprecia. Este modelo es el punto de partida de B5.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Construir en la pizarra, con la clase, la tabla de criterios de elección (coste, mantenimiento, necesidad de realimentación). Conectar los sensores Hall de S9 con la conmutación del BLDC. Perla histórica: la palabra servo viene del steering engine de 1866. Del SEA, quedarse con la idea: un muelle entre motor y carga da control de fuerza y seguridad junto a personas; es el hardware coherente con los cobots de S7.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Última sesión del bloque: lo que no es motor eléctrico y el componente más subestimado, la reductora (la foto muestra un harmonic drive). Plan: 0-5 recuperación de la fuerza contraelectromotriz; 5-20 hidráulica y neumática a dos columnas; 20-40 inercia reflejada con la tabla 9.1 de Corke; 40-45 ejercicio guiado de selección motor-reductora; 45-60 cuestionario B3 en Moodle (15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Tres piezas para fijar la teoría. El NEMA 17 posiciona en lazo abierto contando pasos y pierde pasos bajo sobrecarga. El harmonic drive es la reductora típica de las articulaciones: reducción alta sin holgura en un disco plano; conviene tenerlo en la cabeza al calcular inercia reflejada. El UR16e integra en cada eje motor, reductora y encoder, y cierra la muñeca con un sensor fuerza-par de seis ejes en la brida: el actuador completo de la sesión anterior multiplicado por seis, con la medida de fuerza concentrada en el extremo. La alternativa con par medido en cada articulación es la del KUKA LBR iiwa o el Franka.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Construir la comparativa con aportaciones de la clase antes de mostrar las tarjetas. Anclar con dos ejemplos: la excavadora (hidráulica: densidad de fuerza, mantiene carga) y la pinza de fin de brazo (neumática: limpia, rápida, naturalmente flexible). Regla final: prensas y maquinaria pesada hidráulica, pinzas rápidas neumática, casi todo lo demás eléctrico. Señalar que la selección del tipo de actuador es la capa superior de la jerarquía MDQ de B1.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Motivación de Corke: los motores eléctricos giran rápido pero dan poco par. De la tabla 9.1, subrayar el cuadrado: la inercia de la carga vista desde el motor se divide por G al cuadrado; dar el dato del PUMA (G de 107,8 en el hombro). Ejercicio guiado en la pizarra con los cuatro pasos de la derecha, comentando los márgenes de catálogo. Últimos 15 minutos: cuestionario B3 en Moodle.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hyperlink" Target="https://colab.research.google.com/github/grcarmenaty/MecatronicaRobotica/blob/claude/verify-teaching-materials-7mpq8x/cuadernos/82514_S08_Caracteristicas_Sensores.ipynb"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olab.research.google.com/github/grcarmenaty/MecatronicaRobotica/blob/claude/verify-teaching-materials-7mpq8x/cuadernos/82514_S09_Encoders_IMU.ipynb" TargetMode="Externa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hyperlink" Target="https://colab.research.google.com/github/grcarmenaty/MecatronicaRobotica/blob/claude/verify-teaching-materials-7mpq8x/cuadernos/82514_S10_Fuerza_Tacto_Rango.ipynb"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hyperlink" Target="https://colab.research.google.com/github/grcarmenaty/MecatronicaRobotica/blob/claude/verify-teaching-materials-7mpq8x/cuadernos/82514_S11_Actuadores_Electricos.ipynb" TargetMode="Externa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hyperlink" Target="https://colab.research.google.com/github/grcarmenaty/MecatronicaRobotica/blob/claude/verify-teaching-materials-7mpq8x/cuadernos/82514_S12_Transmisiones_Seleccion.ipynb" TargetMode="Externa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0"/>
        </a:solidFill>
      </p:bgPr>
    </p:bg>
    <p:spTree>
      <p:nvGrpSpPr>
        <p:cNvPr id="1" name=""/>
        <p:cNvGrpSpPr/>
        <p:nvPr/>
      </p:nvGrpSpPr>
      <p:grpSpPr>
        <a:xfrm>
          <a:off x="0" y="0"/>
          <a:ext cx="0" cy="0"/>
          <a:chOff x="0" y="0"/>
          <a:chExt cx="0" cy="0"/>
        </a:xfrm>
      </p:grpSpPr>
      <p:sp>
        <p:nvSpPr>
          <p:cNvPr id="2" name="Shape 0"/>
          <p:cNvSpPr/>
          <p:nvPr/>
        </p:nvSpPr>
        <p:spPr>
          <a:xfrm flipH="1">
            <a:off x="7223760" y="2377440"/>
            <a:ext cx="4983480" cy="4498848"/>
          </a:xfrm>
          <a:prstGeom prst="rtTriangle">
            <a:avLst/>
          </a:prstGeom>
          <a:solidFill>
            <a:srgbClr val="2E3FA3"/>
          </a:solidFill>
          <a:ln/>
        </p:spPr>
        <p:txBody>
          <a:bodyPr/>
          <a:p/>
        </p:txBody>
      </p:sp>
      <p:sp>
        <p:nvSpPr>
          <p:cNvPr id="3" name="Shape 1"/>
          <p:cNvSpPr/>
          <p:nvPr/>
        </p:nvSpPr>
        <p:spPr>
          <a:xfrm flipH="1">
            <a:off x="9509760" y="4480560"/>
            <a:ext cx="2697480" cy="2395728"/>
          </a:xfrm>
          <a:prstGeom prst="rtTriangle">
            <a:avLst/>
          </a:prstGeom>
          <a:solidFill>
            <a:srgbClr val="2FD26E"/>
          </a:solidFill>
          <a:ln/>
        </p:spPr>
        <p:txBody>
          <a:bodyPr/>
          <a:p/>
        </p:txBody>
      </p:sp>
      <p:pic>
        <p:nvPicPr>
          <p:cNvPr id="4" name="Image 0" descr="/home/claude/work/curso_82514/media/logo_iqs_blanco.png">    </p:cNvPr>
          <p:cNvPicPr>
            <a:picLocks noChangeAspect="1"/>
          </p:cNvPicPr>
          <p:nvPr/>
        </p:nvPicPr>
        <p:blipFill>
          <a:blip r:embed="rId1"/>
          <a:stretch>
            <a:fillRect/>
          </a:stretch>
        </p:blipFill>
        <p:spPr>
          <a:xfrm>
            <a:off x="640080" y="384048"/>
            <a:ext cx="1188720" cy="1188720"/>
          </a:xfrm>
          <a:prstGeom prst="rect">
            <a:avLst/>
          </a:prstGeom>
        </p:spPr>
      </p:pic>
      <p:sp>
        <p:nvSpPr>
          <p:cNvPr id="5" name="Text 2"/>
          <p:cNvSpPr/>
          <p:nvPr/>
        </p:nvSpPr>
        <p:spPr>
          <a:xfrm>
            <a:off x="640080" y="2286000"/>
            <a:ext cx="8686800" cy="457200"/>
          </a:xfrm>
          <a:prstGeom prst="rect">
            <a:avLst/>
          </a:prstGeom>
          <a:noFill/>
          <a:ln/>
        </p:spPr>
        <p:txBody>
          <a:bodyPr wrap="square" lIns="0" tIns="0" rIns="0" bIns="0" rtlCol="0" anchor="ctr"/>
          <a:lstStyle/>
          <a:p>
            <a:pPr indent="0" marL="0">
              <a:buNone/>
            </a:pPr>
            <a:r>
              <a:rPr lang="en-US" sz="1800" b="1" dirty="0">
                <a:solidFill>
                  <a:srgbClr val="2FD26E"/>
                </a:solidFill>
                <a:latin typeface="Calibri" pitchFamily="34" charset="0"/>
                <a:ea typeface="Calibri" pitchFamily="34" charset="-122"/>
                <a:cs typeface="Calibri" pitchFamily="34" charset="-120"/>
              </a:rPr>
              <a:t>82514 · MECATRÓNICA Y ROBÓTICA</a:t>
            </a:r>
            <a:endParaRPr lang="en-US" sz="1800" dirty="0"/>
          </a:p>
        </p:txBody>
      </p:sp>
      <p:sp>
        <p:nvSpPr>
          <p:cNvPr id="6" name="Text 3"/>
          <p:cNvSpPr/>
          <p:nvPr/>
        </p:nvSpPr>
        <p:spPr>
          <a:xfrm>
            <a:off x="640080" y="2743200"/>
            <a:ext cx="822960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Bloque 3</a:t>
            </a:r>
            <a:endParaRPr lang="en-US" sz="2200" dirty="0"/>
          </a:p>
        </p:txBody>
      </p:sp>
      <p:sp>
        <p:nvSpPr>
          <p:cNvPr id="7" name="Text 4"/>
          <p:cNvSpPr/>
          <p:nvPr/>
        </p:nvSpPr>
        <p:spPr>
          <a:xfrm>
            <a:off x="640080" y="3246120"/>
            <a:ext cx="7863840" cy="15544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Sensores y actuadores</a:t>
            </a:r>
            <a:endParaRPr lang="en-US" sz="4000" dirty="0"/>
          </a:p>
        </p:txBody>
      </p:sp>
      <p:sp>
        <p:nvSpPr>
          <p:cNvPr id="8" name="Text 5"/>
          <p:cNvSpPr/>
          <p:nvPr/>
        </p:nvSpPr>
        <p:spPr>
          <a:xfrm>
            <a:off x="640080" y="5029200"/>
            <a:ext cx="7315200" cy="45720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Sesiones S8–S12 · 6 horas</a:t>
            </a:r>
            <a:endParaRPr lang="en-US" sz="1600" dirty="0"/>
          </a:p>
        </p:txBody>
      </p:sp>
      <p:sp>
        <p:nvSpPr>
          <p:cNvPr id="9" name="Text 6"/>
          <p:cNvSpPr/>
          <p:nvPr/>
        </p:nvSpPr>
        <p:spPr>
          <a:xfrm>
            <a:off x="640080" y="5486400"/>
            <a:ext cx="7315200" cy="457200"/>
          </a:xfrm>
          <a:prstGeom prst="rect">
            <a:avLst/>
          </a:prstGeom>
          <a:noFill/>
          <a:ln/>
        </p:spPr>
        <p:txBody>
          <a:bodyPr wrap="square" lIns="0" tIns="0" rIns="0" bIns="0" rtlCol="0" anchor="ctr"/>
          <a:lstStyle/>
          <a:p>
            <a:pPr indent="0" marL="0">
              <a:buNone/>
            </a:pPr>
            <a:r>
              <a:rPr lang="en-US" sz="1400" dirty="0">
                <a:solidFill>
                  <a:srgbClr val="9AA7E8"/>
                </a:solidFill>
                <a:latin typeface="Calibri" pitchFamily="34" charset="0"/>
                <a:ea typeface="Calibri" pitchFamily="34" charset="-122"/>
                <a:cs typeface="Calibri" pitchFamily="34" charset="-120"/>
              </a:rPr>
              <a:t>30 de septiembre y 1, 2, 7 y 8 de octubre de 2026 · IQS Universitat Ramon Llull</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BLOQUE 3</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Hoja de ruta del bloque</a:t>
            </a:r>
            <a:endParaRPr lang="en-US" sz="3000" dirty="0"/>
          </a:p>
        </p:txBody>
      </p:sp>
      <p:sp>
        <p:nvSpPr>
          <p:cNvPr id="4" name="Shape 2"/>
          <p:cNvSpPr/>
          <p:nvPr/>
        </p:nvSpPr>
        <p:spPr>
          <a:xfrm>
            <a:off x="640080" y="1481328"/>
            <a:ext cx="10881360" cy="822960"/>
          </a:xfrm>
          <a:prstGeom prst="roundRect">
            <a:avLst>
              <a:gd name="adj" fmla="val 8889"/>
            </a:avLst>
          </a:prstGeom>
          <a:solidFill>
            <a:srgbClr val="F2F4FB"/>
          </a:solidFill>
          <a:ln/>
        </p:spPr>
        <p:txBody>
          <a:bodyPr/>
          <a:p/>
        </p:txBody>
      </p:sp>
      <p:sp>
        <p:nvSpPr>
          <p:cNvPr id="5" name="Shape 3"/>
          <p:cNvSpPr/>
          <p:nvPr/>
        </p:nvSpPr>
        <p:spPr>
          <a:xfrm>
            <a:off x="841248" y="1664208"/>
            <a:ext cx="457200" cy="457200"/>
          </a:xfrm>
          <a:prstGeom prst="ellipse">
            <a:avLst/>
          </a:prstGeom>
          <a:solidFill>
            <a:srgbClr val="2FD26E"/>
          </a:solidFill>
          <a:ln/>
        </p:spPr>
        <p:txBody>
          <a:bodyPr/>
          <a:p/>
        </p:txBody>
      </p:sp>
      <p:sp>
        <p:nvSpPr>
          <p:cNvPr id="6" name="Text 4"/>
          <p:cNvSpPr/>
          <p:nvPr/>
        </p:nvSpPr>
        <p:spPr>
          <a:xfrm>
            <a:off x="841248" y="166420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1481328"/>
            <a:ext cx="9829800" cy="82296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S8 · mié 30 sep · 1 h </a:t>
            </a:r>
            <a:pPr indent="0" marL="0">
              <a:buNone/>
            </a:pPr>
            <a:r>
              <a:rPr lang="en-US" sz="1250" dirty="0">
                <a:solidFill>
                  <a:srgbClr val="1A1A2E"/>
                </a:solidFill>
                <a:latin typeface="Calibri" pitchFamily="34" charset="0"/>
                <a:ea typeface="Calibri" pitchFamily="34" charset="-122"/>
                <a:cs typeface="Calibri" pitchFamily="34" charset="-120"/>
              </a:rPr>
              <a:t>, Arquitectura de instrumentación y características de sensores</a:t>
            </a:r>
            <a:endParaRPr lang="en-US" sz="1350" dirty="0"/>
          </a:p>
        </p:txBody>
      </p:sp>
      <p:sp>
        <p:nvSpPr>
          <p:cNvPr id="8" name="Shape 6"/>
          <p:cNvSpPr/>
          <p:nvPr/>
        </p:nvSpPr>
        <p:spPr>
          <a:xfrm>
            <a:off x="640080" y="2441448"/>
            <a:ext cx="10881360" cy="822960"/>
          </a:xfrm>
          <a:prstGeom prst="roundRect">
            <a:avLst>
              <a:gd name="adj" fmla="val 8889"/>
            </a:avLst>
          </a:prstGeom>
          <a:solidFill>
            <a:srgbClr val="F2F4FB"/>
          </a:solidFill>
          <a:ln/>
        </p:spPr>
        <p:txBody>
          <a:bodyPr/>
          <a:p/>
        </p:txBody>
      </p:sp>
      <p:sp>
        <p:nvSpPr>
          <p:cNvPr id="9" name="Shape 7"/>
          <p:cNvSpPr/>
          <p:nvPr/>
        </p:nvSpPr>
        <p:spPr>
          <a:xfrm>
            <a:off x="841248" y="2624328"/>
            <a:ext cx="457200" cy="457200"/>
          </a:xfrm>
          <a:prstGeom prst="ellipse">
            <a:avLst/>
          </a:prstGeom>
          <a:solidFill>
            <a:srgbClr val="2FD26E"/>
          </a:solidFill>
          <a:ln/>
        </p:spPr>
        <p:txBody>
          <a:bodyPr/>
          <a:p/>
        </p:txBody>
      </p:sp>
      <p:sp>
        <p:nvSpPr>
          <p:cNvPr id="10" name="Text 8"/>
          <p:cNvSpPr/>
          <p:nvPr/>
        </p:nvSpPr>
        <p:spPr>
          <a:xfrm>
            <a:off x="841248" y="262432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81328" y="2441448"/>
            <a:ext cx="9829800" cy="82296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S9 · jue 1 oct · 1 h </a:t>
            </a:r>
            <a:pPr indent="0" marL="0">
              <a:buNone/>
            </a:pPr>
            <a:r>
              <a:rPr lang="en-US" sz="1250" dirty="0">
                <a:solidFill>
                  <a:srgbClr val="1A1A2E"/>
                </a:solidFill>
                <a:latin typeface="Calibri" pitchFamily="34" charset="0"/>
                <a:ea typeface="Calibri" pitchFamily="34" charset="-122"/>
                <a:cs typeface="Calibri" pitchFamily="34" charset="-120"/>
              </a:rPr>
              <a:t>, Sensores de posición, velocidad e inercia (encoders, LVDT, IMU)</a:t>
            </a:r>
            <a:endParaRPr lang="en-US" sz="1350" dirty="0"/>
          </a:p>
        </p:txBody>
      </p:sp>
      <p:sp>
        <p:nvSpPr>
          <p:cNvPr id="12" name="Shape 10"/>
          <p:cNvSpPr/>
          <p:nvPr/>
        </p:nvSpPr>
        <p:spPr>
          <a:xfrm>
            <a:off x="640080" y="3401568"/>
            <a:ext cx="10881360" cy="822960"/>
          </a:xfrm>
          <a:prstGeom prst="roundRect">
            <a:avLst>
              <a:gd name="adj" fmla="val 8889"/>
            </a:avLst>
          </a:prstGeom>
          <a:solidFill>
            <a:srgbClr val="F2F4FB"/>
          </a:solidFill>
          <a:ln/>
        </p:spPr>
        <p:txBody>
          <a:bodyPr/>
          <a:p/>
        </p:txBody>
      </p:sp>
      <p:sp>
        <p:nvSpPr>
          <p:cNvPr id="13" name="Shape 11"/>
          <p:cNvSpPr/>
          <p:nvPr/>
        </p:nvSpPr>
        <p:spPr>
          <a:xfrm>
            <a:off x="841248" y="3584448"/>
            <a:ext cx="457200" cy="457200"/>
          </a:xfrm>
          <a:prstGeom prst="ellipse">
            <a:avLst/>
          </a:prstGeom>
          <a:solidFill>
            <a:srgbClr val="2FD26E"/>
          </a:solidFill>
          <a:ln/>
        </p:spPr>
        <p:txBody>
          <a:bodyPr/>
          <a:p/>
        </p:txBody>
      </p:sp>
      <p:sp>
        <p:nvSpPr>
          <p:cNvPr id="14" name="Text 12"/>
          <p:cNvSpPr/>
          <p:nvPr/>
        </p:nvSpPr>
        <p:spPr>
          <a:xfrm>
            <a:off x="841248" y="358444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81328" y="3401568"/>
            <a:ext cx="9829800" cy="82296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S10 · vie 2 oct · 2 h </a:t>
            </a:r>
            <a:pPr indent="0" marL="0">
              <a:buNone/>
            </a:pPr>
            <a:r>
              <a:rPr lang="en-US" sz="1250" dirty="0">
                <a:solidFill>
                  <a:srgbClr val="1A1A2E"/>
                </a:solidFill>
                <a:latin typeface="Calibri" pitchFamily="34" charset="0"/>
                <a:ea typeface="Calibri" pitchFamily="34" charset="-122"/>
                <a:cs typeface="Calibri" pitchFamily="34" charset="-120"/>
              </a:rPr>
              <a:t>, Fuerza, tacto y rango; ejercicio puntuable de selección de sensores</a:t>
            </a:r>
            <a:endParaRPr lang="en-US" sz="1350" dirty="0"/>
          </a:p>
        </p:txBody>
      </p:sp>
      <p:sp>
        <p:nvSpPr>
          <p:cNvPr id="16" name="Shape 14"/>
          <p:cNvSpPr/>
          <p:nvPr/>
        </p:nvSpPr>
        <p:spPr>
          <a:xfrm>
            <a:off x="640080" y="4361688"/>
            <a:ext cx="10881360" cy="822960"/>
          </a:xfrm>
          <a:prstGeom prst="roundRect">
            <a:avLst>
              <a:gd name="adj" fmla="val 8889"/>
            </a:avLst>
          </a:prstGeom>
          <a:solidFill>
            <a:srgbClr val="F2F4FB"/>
          </a:solidFill>
          <a:ln/>
        </p:spPr>
        <p:txBody>
          <a:bodyPr/>
          <a:p/>
        </p:txBody>
      </p:sp>
      <p:sp>
        <p:nvSpPr>
          <p:cNvPr id="17" name="Shape 15"/>
          <p:cNvSpPr/>
          <p:nvPr/>
        </p:nvSpPr>
        <p:spPr>
          <a:xfrm>
            <a:off x="841248" y="4544568"/>
            <a:ext cx="457200" cy="457200"/>
          </a:xfrm>
          <a:prstGeom prst="ellipse">
            <a:avLst/>
          </a:prstGeom>
          <a:solidFill>
            <a:srgbClr val="2FD26E"/>
          </a:solidFill>
          <a:ln/>
        </p:spPr>
        <p:txBody>
          <a:bodyPr/>
          <a:p/>
        </p:txBody>
      </p:sp>
      <p:sp>
        <p:nvSpPr>
          <p:cNvPr id="18" name="Text 16"/>
          <p:cNvSpPr/>
          <p:nvPr/>
        </p:nvSpPr>
        <p:spPr>
          <a:xfrm>
            <a:off x="841248" y="454456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81328" y="4361688"/>
            <a:ext cx="9829800" cy="82296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S11 · mié 7 oct · 1 h </a:t>
            </a:r>
            <a:pPr indent="0" marL="0">
              <a:buNone/>
            </a:pPr>
            <a:r>
              <a:rPr lang="en-US" sz="1250" dirty="0">
                <a:solidFill>
                  <a:srgbClr val="1A1A2E"/>
                </a:solidFill>
                <a:latin typeface="Calibri" pitchFamily="34" charset="0"/>
                <a:ea typeface="Calibri" pitchFamily="34" charset="-122"/>
                <a:cs typeface="Calibri" pitchFamily="34" charset="-120"/>
              </a:rPr>
              <a:t>, Actuadores eléctricos: motor DC, BLDC, paso a paso y servoaccionamientos</a:t>
            </a:r>
            <a:endParaRPr lang="en-US" sz="1350" dirty="0"/>
          </a:p>
        </p:txBody>
      </p:sp>
      <p:sp>
        <p:nvSpPr>
          <p:cNvPr id="20" name="Shape 18"/>
          <p:cNvSpPr/>
          <p:nvPr/>
        </p:nvSpPr>
        <p:spPr>
          <a:xfrm>
            <a:off x="640080" y="5321808"/>
            <a:ext cx="10881360" cy="822960"/>
          </a:xfrm>
          <a:prstGeom prst="roundRect">
            <a:avLst>
              <a:gd name="adj" fmla="val 8889"/>
            </a:avLst>
          </a:prstGeom>
          <a:solidFill>
            <a:srgbClr val="F2F4FB"/>
          </a:solidFill>
          <a:ln/>
        </p:spPr>
        <p:txBody>
          <a:bodyPr/>
          <a:p/>
        </p:txBody>
      </p:sp>
      <p:sp>
        <p:nvSpPr>
          <p:cNvPr id="21" name="Shape 19"/>
          <p:cNvSpPr/>
          <p:nvPr/>
        </p:nvSpPr>
        <p:spPr>
          <a:xfrm>
            <a:off x="841248" y="5504688"/>
            <a:ext cx="457200" cy="457200"/>
          </a:xfrm>
          <a:prstGeom prst="ellipse">
            <a:avLst/>
          </a:prstGeom>
          <a:solidFill>
            <a:srgbClr val="2FD26E"/>
          </a:solidFill>
          <a:ln/>
        </p:spPr>
        <p:txBody>
          <a:bodyPr/>
          <a:p/>
        </p:txBody>
      </p:sp>
      <p:sp>
        <p:nvSpPr>
          <p:cNvPr id="22" name="Text 20"/>
          <p:cNvSpPr/>
          <p:nvPr/>
        </p:nvSpPr>
        <p:spPr>
          <a:xfrm>
            <a:off x="841248" y="550468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81328" y="5321808"/>
            <a:ext cx="9829800" cy="82296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S12 · jue 8 oct · 1 h </a:t>
            </a:r>
            <a:pPr indent="0" marL="0">
              <a:buNone/>
            </a:pPr>
            <a:r>
              <a:rPr lang="en-US" sz="1250" dirty="0">
                <a:solidFill>
                  <a:srgbClr val="1A1A2E"/>
                </a:solidFill>
                <a:latin typeface="Calibri" pitchFamily="34" charset="0"/>
                <a:ea typeface="Calibri" pitchFamily="34" charset="-122"/>
                <a:cs typeface="Calibri" pitchFamily="34" charset="-120"/>
              </a:rPr>
              <a:t>, Hidráulica, neumática y selección motor-reductora · cuestionario B3</a:t>
            </a:r>
            <a:endParaRPr lang="en-US" sz="1350" dirty="0"/>
          </a:p>
        </p:txBody>
      </p:sp>
      <p:sp>
        <p:nvSpPr>
          <p:cNvPr id="25" name="Text 22"/>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82514 Mecatrónica y Robótica · B3 · IQS</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S8</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Arquitectura de instrumentación</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Cadena de adquisición · Nyquist · características estáticas y dinámicas</a:t>
            </a:r>
            <a:endParaRPr lang="en-US" sz="1600" dirty="0"/>
          </a:p>
        </p:txBody>
      </p:sp>
      <p:pic>
        <p:nvPicPr>
          <p:cNvPr id="8" name="Image 0" descr="/home/claude/work/curso_82514/media/fotos/b3_ultrasonido.jpg">    </p:cNvPr>
          <p:cNvPicPr>
            <a:picLocks noChangeAspect="1"/>
          </p:cNvPicPr>
          <p:nvPr/>
        </p:nvPicPr>
        <p:blipFill>
          <a:blip r:embed="rId1"/>
          <a:stretch>
            <a:fillRect/>
          </a:stretch>
        </p:blipFill>
        <p:spPr>
          <a:xfrm>
            <a:off x="7818120" y="3249168"/>
            <a:ext cx="3749040" cy="2499360"/>
          </a:xfrm>
          <a:prstGeom prst="rect">
            <a:avLst/>
          </a:prstGeom>
        </p:spPr>
      </p:pic>
      <p:sp>
        <p:nvSpPr>
          <p:cNvPr id="9" name="Shape 6"/>
          <p:cNvSpPr/>
          <p:nvPr/>
        </p:nvSpPr>
        <p:spPr>
          <a:xfrm>
            <a:off x="7818120" y="5748528"/>
            <a:ext cx="3749040" cy="54864"/>
          </a:xfrm>
          <a:prstGeom prst="rect">
            <a:avLst/>
          </a:prstGeom>
          <a:solidFill>
            <a:srgbClr val="2FD26E"/>
          </a:solidFill>
          <a:ln/>
        </p:spPr>
        <p:txBody>
          <a:bodyPr/>
          <a:p/>
        </p:txBody>
      </p:sp>
      <p:sp>
        <p:nvSpPr>
          <p:cNvPr id="10" name="Text 7"/>
          <p:cNvSpPr/>
          <p:nvPr/>
        </p:nvSpPr>
        <p:spPr>
          <a:xfrm>
            <a:off x="7589520" y="587654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HC-SR04: sensor y acondicionamiento en la misma placa</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S. Dwivedi CC BY-SA 4.0 · Wikimedia Commons</a:t>
            </a:r>
            <a:endParaRPr lang="en-US" sz="800" dirty="0"/>
          </a:p>
        </p:txBody>
      </p:sp>
      <p:sp>
        <p:nvSpPr>
          <p:cNvPr id="12" name="TextBox 11">
            <a:hlinkClick r:id="rId4"/>
          </p:cNvPr>
          <p:cNvSpPr txBox="1"/>
          <p:nvPr/>
        </p:nvSpPr>
        <p:spPr>
          <a:xfrm>
            <a:off x="2057400" y="3310128"/>
            <a:ext cx="5486400" cy="347472"/>
          </a:xfrm>
          <a:prstGeom prst="rect">
            <a:avLst/>
          </a:prstGeom>
          <a:noFill/>
        </p:spPr>
        <p:txBody>
          <a:bodyPr wrap="square" lIns="0" tIns="0" bIns="0" rIns="0">
            <a:noAutofit/>
          </a:bodyPr>
          <a:lstStyle/>
          <a:p>
            <a:pPr algn="l"/>
            <a:r>
              <a:rPr sz="1400" b="1">
                <a:solidFill>
                  <a:srgbClr val="2FD26E"/>
                </a:solidFill>
                <a:latin typeface="Calibri"/>
              </a:rPr>
              <a:t>▸  Abrir en Colab · cuaderno S08</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S8 · ADQUISICIÓN DE DATOS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La cadena de instrumentación</a:t>
            </a:r>
            <a:endParaRPr lang="en-US" sz="3000" dirty="0"/>
          </a:p>
        </p:txBody>
      </p:sp>
      <p:sp>
        <p:nvSpPr>
          <p:cNvPr id="4" name="Shape 2"/>
          <p:cNvSpPr/>
          <p:nvPr/>
        </p:nvSpPr>
        <p:spPr>
          <a:xfrm>
            <a:off x="640080" y="1554480"/>
            <a:ext cx="1600200" cy="1371600"/>
          </a:xfrm>
          <a:prstGeom prst="roundRect">
            <a:avLst>
              <a:gd name="adj" fmla="val 5333"/>
            </a:avLst>
          </a:prstGeom>
          <a:solidFill>
            <a:srgbClr val="F2F4FB"/>
          </a:solidFill>
          <a:ln/>
        </p:spPr>
        <p:txBody>
          <a:bodyPr/>
          <a:p/>
        </p:txBody>
      </p:sp>
      <p:sp>
        <p:nvSpPr>
          <p:cNvPr id="5" name="Text 3"/>
          <p:cNvSpPr/>
          <p:nvPr/>
        </p:nvSpPr>
        <p:spPr>
          <a:xfrm>
            <a:off x="841248" y="1700784"/>
            <a:ext cx="1197864" cy="502920"/>
          </a:xfrm>
          <a:prstGeom prst="rect">
            <a:avLst/>
          </a:prstGeom>
          <a:noFill/>
          <a:ln/>
        </p:spPr>
        <p:txBody>
          <a:bodyPr wrap="square" lIns="0" tIns="0" rIns="0" bIns="0" rtlCol="0" anchor="ctr"/>
          <a:lstStyle/>
          <a:p>
            <a:pPr indent="0" marL="0">
              <a:buNone/>
            </a:pPr>
            <a:r>
              <a:rPr lang="en-US" sz="1150" b="1" dirty="0">
                <a:solidFill>
                  <a:srgbClr val="1B2A80"/>
                </a:solidFill>
                <a:latin typeface="Calibri" pitchFamily="34" charset="0"/>
                <a:ea typeface="Calibri" pitchFamily="34" charset="-122"/>
                <a:cs typeface="Calibri" pitchFamily="34" charset="-120"/>
              </a:rPr>
              <a:t>Sensor</a:t>
            </a:r>
            <a:endParaRPr lang="en-US" sz="1150" dirty="0"/>
          </a:p>
        </p:txBody>
      </p:sp>
      <p:sp>
        <p:nvSpPr>
          <p:cNvPr id="6" name="Text 4"/>
          <p:cNvSpPr/>
          <p:nvPr/>
        </p:nvSpPr>
        <p:spPr>
          <a:xfrm>
            <a:off x="841248" y="2194560"/>
            <a:ext cx="1197864" cy="603504"/>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estímulo → señal eléctrica</a:t>
            </a:r>
            <a:endParaRPr lang="en-US" sz="950" dirty="0"/>
          </a:p>
        </p:txBody>
      </p:sp>
      <p:sp>
        <p:nvSpPr>
          <p:cNvPr id="7" name="Text 5"/>
          <p:cNvSpPr/>
          <p:nvPr/>
        </p:nvSpPr>
        <p:spPr>
          <a:xfrm>
            <a:off x="2221992" y="20116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8" name="Shape 6"/>
          <p:cNvSpPr/>
          <p:nvPr/>
        </p:nvSpPr>
        <p:spPr>
          <a:xfrm>
            <a:off x="2496312" y="1554480"/>
            <a:ext cx="1600200" cy="1371600"/>
          </a:xfrm>
          <a:prstGeom prst="roundRect">
            <a:avLst>
              <a:gd name="adj" fmla="val 5333"/>
            </a:avLst>
          </a:prstGeom>
          <a:solidFill>
            <a:srgbClr val="F2F4FB"/>
          </a:solidFill>
          <a:ln/>
        </p:spPr>
        <p:txBody>
          <a:bodyPr/>
          <a:p/>
        </p:txBody>
      </p:sp>
      <p:sp>
        <p:nvSpPr>
          <p:cNvPr id="9" name="Text 7"/>
          <p:cNvSpPr/>
          <p:nvPr/>
        </p:nvSpPr>
        <p:spPr>
          <a:xfrm>
            <a:off x="2697480" y="1700784"/>
            <a:ext cx="1197864" cy="502920"/>
          </a:xfrm>
          <a:prstGeom prst="rect">
            <a:avLst/>
          </a:prstGeom>
          <a:noFill/>
          <a:ln/>
        </p:spPr>
        <p:txBody>
          <a:bodyPr wrap="square" lIns="0" tIns="0" rIns="0" bIns="0" rtlCol="0" anchor="ctr"/>
          <a:lstStyle/>
          <a:p>
            <a:pPr indent="0" marL="0">
              <a:buNone/>
            </a:pPr>
            <a:r>
              <a:rPr lang="en-US" sz="1150" b="1" dirty="0">
                <a:solidFill>
                  <a:srgbClr val="1B2A80"/>
                </a:solidFill>
                <a:latin typeface="Calibri" pitchFamily="34" charset="0"/>
                <a:ea typeface="Calibri" pitchFamily="34" charset="-122"/>
                <a:cs typeface="Calibri" pitchFamily="34" charset="-120"/>
              </a:rPr>
              <a:t>Acondicionador</a:t>
            </a:r>
            <a:endParaRPr lang="en-US" sz="1150" dirty="0"/>
          </a:p>
        </p:txBody>
      </p:sp>
      <p:sp>
        <p:nvSpPr>
          <p:cNvPr id="10" name="Text 8"/>
          <p:cNvSpPr/>
          <p:nvPr/>
        </p:nvSpPr>
        <p:spPr>
          <a:xfrm>
            <a:off x="2697480" y="2194560"/>
            <a:ext cx="1197864" cy="603504"/>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interfaz de señal</a:t>
            </a:r>
            <a:endParaRPr lang="en-US" sz="950" dirty="0"/>
          </a:p>
        </p:txBody>
      </p:sp>
      <p:sp>
        <p:nvSpPr>
          <p:cNvPr id="11" name="Text 9"/>
          <p:cNvSpPr/>
          <p:nvPr/>
        </p:nvSpPr>
        <p:spPr>
          <a:xfrm>
            <a:off x="4078224" y="20116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12" name="Shape 10"/>
          <p:cNvSpPr/>
          <p:nvPr/>
        </p:nvSpPr>
        <p:spPr>
          <a:xfrm>
            <a:off x="4352544" y="1554480"/>
            <a:ext cx="1600200" cy="1371600"/>
          </a:xfrm>
          <a:prstGeom prst="roundRect">
            <a:avLst>
              <a:gd name="adj" fmla="val 5333"/>
            </a:avLst>
          </a:prstGeom>
          <a:solidFill>
            <a:srgbClr val="F2F4FB"/>
          </a:solidFill>
          <a:ln/>
        </p:spPr>
        <p:txBody>
          <a:bodyPr/>
          <a:p/>
        </p:txBody>
      </p:sp>
      <p:sp>
        <p:nvSpPr>
          <p:cNvPr id="13" name="Text 11"/>
          <p:cNvSpPr/>
          <p:nvPr/>
        </p:nvSpPr>
        <p:spPr>
          <a:xfrm>
            <a:off x="4553712" y="1700784"/>
            <a:ext cx="1197864" cy="502920"/>
          </a:xfrm>
          <a:prstGeom prst="rect">
            <a:avLst/>
          </a:prstGeom>
          <a:noFill/>
          <a:ln/>
        </p:spPr>
        <p:txBody>
          <a:bodyPr wrap="square" lIns="0" tIns="0" rIns="0" bIns="0" rtlCol="0" anchor="ctr"/>
          <a:lstStyle/>
          <a:p>
            <a:pPr indent="0" marL="0">
              <a:buNone/>
            </a:pPr>
            <a:r>
              <a:rPr lang="en-US" sz="1150" b="1" dirty="0">
                <a:solidFill>
                  <a:srgbClr val="1B2A80"/>
                </a:solidFill>
                <a:latin typeface="Calibri" pitchFamily="34" charset="0"/>
                <a:ea typeface="Calibri" pitchFamily="34" charset="-122"/>
                <a:cs typeface="Calibri" pitchFamily="34" charset="-120"/>
              </a:rPr>
              <a:t>Multiplexor</a:t>
            </a:r>
            <a:endParaRPr lang="en-US" sz="1150" dirty="0"/>
          </a:p>
        </p:txBody>
      </p:sp>
      <p:sp>
        <p:nvSpPr>
          <p:cNvPr id="14" name="Text 12"/>
          <p:cNvSpPr/>
          <p:nvPr/>
        </p:nvSpPr>
        <p:spPr>
          <a:xfrm>
            <a:off x="4553712" y="2194560"/>
            <a:ext cx="1197864" cy="603504"/>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un canal cada vez</a:t>
            </a:r>
            <a:endParaRPr lang="en-US" sz="950" dirty="0"/>
          </a:p>
        </p:txBody>
      </p:sp>
      <p:sp>
        <p:nvSpPr>
          <p:cNvPr id="15" name="Text 13"/>
          <p:cNvSpPr/>
          <p:nvPr/>
        </p:nvSpPr>
        <p:spPr>
          <a:xfrm>
            <a:off x="5934456" y="20116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16" name="Shape 14"/>
          <p:cNvSpPr/>
          <p:nvPr/>
        </p:nvSpPr>
        <p:spPr>
          <a:xfrm>
            <a:off x="6208776" y="1554480"/>
            <a:ext cx="1600200" cy="1371600"/>
          </a:xfrm>
          <a:prstGeom prst="roundRect">
            <a:avLst>
              <a:gd name="adj" fmla="val 5333"/>
            </a:avLst>
          </a:prstGeom>
          <a:solidFill>
            <a:srgbClr val="F2F4FB"/>
          </a:solidFill>
          <a:ln/>
        </p:spPr>
        <p:txBody>
          <a:bodyPr/>
          <a:p/>
        </p:txBody>
      </p:sp>
      <p:sp>
        <p:nvSpPr>
          <p:cNvPr id="17" name="Text 15"/>
          <p:cNvSpPr/>
          <p:nvPr/>
        </p:nvSpPr>
        <p:spPr>
          <a:xfrm>
            <a:off x="6409944" y="1700784"/>
            <a:ext cx="1197864" cy="502920"/>
          </a:xfrm>
          <a:prstGeom prst="rect">
            <a:avLst/>
          </a:prstGeom>
          <a:noFill/>
          <a:ln/>
        </p:spPr>
        <p:txBody>
          <a:bodyPr wrap="square" lIns="0" tIns="0" rIns="0" bIns="0" rtlCol="0" anchor="ctr"/>
          <a:lstStyle/>
          <a:p>
            <a:pPr indent="0" marL="0">
              <a:buNone/>
            </a:pPr>
            <a:r>
              <a:rPr lang="en-US" sz="1150" b="1" dirty="0">
                <a:solidFill>
                  <a:srgbClr val="1B2A80"/>
                </a:solidFill>
                <a:latin typeface="Calibri" pitchFamily="34" charset="0"/>
                <a:ea typeface="Calibri" pitchFamily="34" charset="-122"/>
                <a:cs typeface="Calibri" pitchFamily="34" charset="-120"/>
              </a:rPr>
              <a:t>Conversor A/D</a:t>
            </a:r>
            <a:endParaRPr lang="en-US" sz="1150" dirty="0"/>
          </a:p>
        </p:txBody>
      </p:sp>
      <p:sp>
        <p:nvSpPr>
          <p:cNvPr id="18" name="Text 16"/>
          <p:cNvSpPr/>
          <p:nvPr/>
        </p:nvSpPr>
        <p:spPr>
          <a:xfrm>
            <a:off x="6409944" y="2194560"/>
            <a:ext cx="1197864" cy="603504"/>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muestreo y cuantización</a:t>
            </a:r>
            <a:endParaRPr lang="en-US" sz="950" dirty="0"/>
          </a:p>
        </p:txBody>
      </p:sp>
      <p:sp>
        <p:nvSpPr>
          <p:cNvPr id="19" name="Text 17"/>
          <p:cNvSpPr/>
          <p:nvPr/>
        </p:nvSpPr>
        <p:spPr>
          <a:xfrm>
            <a:off x="7790688" y="20116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0" name="Shape 18"/>
          <p:cNvSpPr/>
          <p:nvPr/>
        </p:nvSpPr>
        <p:spPr>
          <a:xfrm>
            <a:off x="8065008" y="1554480"/>
            <a:ext cx="1600200" cy="1371600"/>
          </a:xfrm>
          <a:prstGeom prst="roundRect">
            <a:avLst>
              <a:gd name="adj" fmla="val 5333"/>
            </a:avLst>
          </a:prstGeom>
          <a:solidFill>
            <a:srgbClr val="F2F4FB"/>
          </a:solidFill>
          <a:ln/>
        </p:spPr>
        <p:txBody>
          <a:bodyPr/>
          <a:p/>
        </p:txBody>
      </p:sp>
      <p:sp>
        <p:nvSpPr>
          <p:cNvPr id="21" name="Text 19"/>
          <p:cNvSpPr/>
          <p:nvPr/>
        </p:nvSpPr>
        <p:spPr>
          <a:xfrm>
            <a:off x="8266176" y="1700784"/>
            <a:ext cx="1197864" cy="502920"/>
          </a:xfrm>
          <a:prstGeom prst="rect">
            <a:avLst/>
          </a:prstGeom>
          <a:noFill/>
          <a:ln/>
        </p:spPr>
        <p:txBody>
          <a:bodyPr wrap="square" lIns="0" tIns="0" rIns="0" bIns="0" rtlCol="0" anchor="ctr"/>
          <a:lstStyle/>
          <a:p>
            <a:pPr indent="0" marL="0">
              <a:buNone/>
            </a:pPr>
            <a:r>
              <a:rPr lang="en-US" sz="1150" b="1" dirty="0">
                <a:solidFill>
                  <a:srgbClr val="1B2A80"/>
                </a:solidFill>
                <a:latin typeface="Calibri" pitchFamily="34" charset="0"/>
                <a:ea typeface="Calibri" pitchFamily="34" charset="-122"/>
                <a:cs typeface="Calibri" pitchFamily="34" charset="-120"/>
              </a:rPr>
              <a:t>Computador</a:t>
            </a:r>
            <a:endParaRPr lang="en-US" sz="1150" dirty="0"/>
          </a:p>
        </p:txBody>
      </p:sp>
      <p:sp>
        <p:nvSpPr>
          <p:cNvPr id="22" name="Text 20"/>
          <p:cNvSpPr/>
          <p:nvPr/>
        </p:nvSpPr>
        <p:spPr>
          <a:xfrm>
            <a:off x="8266176" y="2194560"/>
            <a:ext cx="1197864" cy="603504"/>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gobierna la temporización</a:t>
            </a:r>
            <a:endParaRPr lang="en-US" sz="950" dirty="0"/>
          </a:p>
        </p:txBody>
      </p:sp>
      <p:sp>
        <p:nvSpPr>
          <p:cNvPr id="23" name="Text 21"/>
          <p:cNvSpPr/>
          <p:nvPr/>
        </p:nvSpPr>
        <p:spPr>
          <a:xfrm>
            <a:off x="9646920" y="20116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4" name="Shape 22"/>
          <p:cNvSpPr/>
          <p:nvPr/>
        </p:nvSpPr>
        <p:spPr>
          <a:xfrm>
            <a:off x="9921240" y="1554480"/>
            <a:ext cx="1600200" cy="1371600"/>
          </a:xfrm>
          <a:prstGeom prst="roundRect">
            <a:avLst>
              <a:gd name="adj" fmla="val 5333"/>
            </a:avLst>
          </a:prstGeom>
          <a:solidFill>
            <a:srgbClr val="F2F4FB"/>
          </a:solidFill>
          <a:ln/>
        </p:spPr>
        <p:txBody>
          <a:bodyPr/>
          <a:p/>
        </p:txBody>
      </p:sp>
      <p:sp>
        <p:nvSpPr>
          <p:cNvPr id="25" name="Text 23"/>
          <p:cNvSpPr/>
          <p:nvPr/>
        </p:nvSpPr>
        <p:spPr>
          <a:xfrm>
            <a:off x="10122408" y="1700784"/>
            <a:ext cx="1197864" cy="502920"/>
          </a:xfrm>
          <a:prstGeom prst="rect">
            <a:avLst/>
          </a:prstGeom>
          <a:noFill/>
          <a:ln/>
        </p:spPr>
        <p:txBody>
          <a:bodyPr wrap="square" lIns="0" tIns="0" rIns="0" bIns="0" rtlCol="0" anchor="ctr"/>
          <a:lstStyle/>
          <a:p>
            <a:pPr indent="0" marL="0">
              <a:buNone/>
            </a:pPr>
            <a:r>
              <a:rPr lang="en-US" sz="1150" b="1" dirty="0">
                <a:solidFill>
                  <a:srgbClr val="1B2A80"/>
                </a:solidFill>
                <a:latin typeface="Calibri" pitchFamily="34" charset="0"/>
                <a:ea typeface="Calibri" pitchFamily="34" charset="-122"/>
                <a:cs typeface="Calibri" pitchFamily="34" charset="-120"/>
              </a:rPr>
              <a:t>Actuador</a:t>
            </a:r>
            <a:endParaRPr lang="en-US" sz="1150" dirty="0"/>
          </a:p>
        </p:txBody>
      </p:sp>
      <p:sp>
        <p:nvSpPr>
          <p:cNvPr id="26" name="Text 24"/>
          <p:cNvSpPr/>
          <p:nvPr/>
        </p:nvSpPr>
        <p:spPr>
          <a:xfrm>
            <a:off x="10122408" y="2194560"/>
            <a:ext cx="1197864" cy="603504"/>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motor, solenoide, válvula</a:t>
            </a:r>
            <a:endParaRPr lang="en-US" sz="950" dirty="0"/>
          </a:p>
        </p:txBody>
      </p:sp>
      <p:sp>
        <p:nvSpPr>
          <p:cNvPr id="27" name="Shape 25"/>
          <p:cNvSpPr/>
          <p:nvPr/>
        </p:nvSpPr>
        <p:spPr>
          <a:xfrm>
            <a:off x="640080" y="3200400"/>
            <a:ext cx="5394960" cy="1600200"/>
          </a:xfrm>
          <a:prstGeom prst="roundRect">
            <a:avLst>
              <a:gd name="adj" fmla="val 4571"/>
            </a:avLst>
          </a:prstGeom>
          <a:solidFill>
            <a:srgbClr val="F2F4FB"/>
          </a:solidFill>
          <a:ln/>
        </p:spPr>
        <p:txBody>
          <a:bodyPr/>
          <a:p/>
        </p:txBody>
      </p:sp>
      <p:sp>
        <p:nvSpPr>
          <p:cNvPr id="28" name="Text 26"/>
          <p:cNvSpPr/>
          <p:nvPr/>
        </p:nvSpPr>
        <p:spPr>
          <a:xfrm>
            <a:off x="841248" y="334670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Vocabulario preciso (Fraden)</a:t>
            </a:r>
            <a:endParaRPr lang="en-US" sz="1500" dirty="0"/>
          </a:p>
        </p:txBody>
      </p:sp>
      <p:sp>
        <p:nvSpPr>
          <p:cNvPr id="29" name="Text 27"/>
          <p:cNvSpPr/>
          <p:nvPr/>
        </p:nvSpPr>
        <p:spPr>
          <a:xfrm>
            <a:off x="841248" y="3840480"/>
            <a:ext cx="4992624" cy="8321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Sensor: «recibe un estímulo y responde con una señal eléctrica». Transductor: convierte una energía en otra. Actuador: «lo opuesto a un sensor». El altavoz es transductor; el motor, actuador.</a:t>
            </a:r>
            <a:endParaRPr lang="en-US" sz="1200" dirty="0"/>
          </a:p>
        </p:txBody>
      </p:sp>
      <p:sp>
        <p:nvSpPr>
          <p:cNvPr id="30" name="Shape 28"/>
          <p:cNvSpPr/>
          <p:nvPr/>
        </p:nvSpPr>
        <p:spPr>
          <a:xfrm>
            <a:off x="6263640" y="3200400"/>
            <a:ext cx="5257800" cy="1600200"/>
          </a:xfrm>
          <a:prstGeom prst="roundRect">
            <a:avLst>
              <a:gd name="adj" fmla="val 4571"/>
            </a:avLst>
          </a:prstGeom>
          <a:solidFill>
            <a:srgbClr val="F2F4FB"/>
          </a:solidFill>
          <a:ln/>
        </p:spPr>
        <p:txBody>
          <a:bodyPr/>
          <a:p/>
        </p:txBody>
      </p:sp>
      <p:sp>
        <p:nvSpPr>
          <p:cNvPr id="31" name="Text 29"/>
          <p:cNvSpPr/>
          <p:nvPr/>
        </p:nvSpPr>
        <p:spPr>
          <a:xfrm>
            <a:off x="6464808" y="334670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Pasivo / activo · directo / complejo</a:t>
            </a:r>
            <a:endParaRPr lang="en-US" sz="1500" dirty="0"/>
          </a:p>
        </p:txBody>
      </p:sp>
      <p:sp>
        <p:nvSpPr>
          <p:cNvPr id="32" name="Text 30"/>
          <p:cNvSpPr/>
          <p:nvPr/>
        </p:nvSpPr>
        <p:spPr>
          <a:xfrm>
            <a:off x="6464808" y="3840480"/>
            <a:ext cx="4855464" cy="8321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El termistor es activo: necesita excitación externa que el estímulo modifica. Un sensor complejo encadena transductores antes del sensor directo final.</a:t>
            </a:r>
            <a:endParaRPr lang="en-US" sz="1200" dirty="0"/>
          </a:p>
        </p:txBody>
      </p:sp>
      <p:sp>
        <p:nvSpPr>
          <p:cNvPr id="33" name="Shape 31"/>
          <p:cNvSpPr/>
          <p:nvPr/>
        </p:nvSpPr>
        <p:spPr>
          <a:xfrm>
            <a:off x="640080" y="4983480"/>
            <a:ext cx="10881360" cy="1143000"/>
          </a:xfrm>
          <a:prstGeom prst="roundRect">
            <a:avLst>
              <a:gd name="adj" fmla="val 6400"/>
            </a:avLst>
          </a:prstGeom>
          <a:solidFill>
            <a:srgbClr val="E3F7EC"/>
          </a:solidFill>
          <a:ln/>
        </p:spPr>
        <p:txBody>
          <a:bodyPr/>
          <a:p/>
        </p:txBody>
      </p:sp>
      <p:sp>
        <p:nvSpPr>
          <p:cNvPr id="34" name="Text 32"/>
          <p:cNvSpPr/>
          <p:nvPr/>
        </p:nvSpPr>
        <p:spPr>
          <a:xfrm>
            <a:off x="841248" y="5129784"/>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Muestreo: teorema de Nyquist-Shannon</a:t>
            </a:r>
            <a:endParaRPr lang="en-US" sz="1500" dirty="0"/>
          </a:p>
        </p:txBody>
      </p:sp>
      <p:sp>
        <p:nvSpPr>
          <p:cNvPr id="35" name="Text 33"/>
          <p:cNvSpPr/>
          <p:nvPr/>
        </p:nvSpPr>
        <p:spPr>
          <a:xfrm>
            <a:off x="841248" y="5623560"/>
            <a:ext cx="10479024" cy="3749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a:t>
            </a:r>
            <a:pPr indent="0" marL="0">
              <a:buNone/>
            </a:pPr>
            <a:r>
              <a:rPr lang="en-US" sz="1200" baseline="-40000" dirty="0">
                <a:solidFill>
                  <a:srgbClr val="1A1A2E"/>
                </a:solidFill>
                <a:latin typeface="Calibri" pitchFamily="34" charset="0"/>
                <a:ea typeface="Calibri" pitchFamily="34" charset="-122"/>
                <a:cs typeface="Calibri" pitchFamily="34" charset="-120"/>
              </a:rPr>
              <a:t>s</a:t>
            </a:r>
            <a:pPr indent="0" marL="0">
              <a:buNone/>
            </a:pPr>
            <a:r>
              <a:rPr lang="en-US" sz="1200" dirty="0">
                <a:solidFill>
                  <a:srgbClr val="1A1A2E"/>
                </a:solidFill>
                <a:latin typeface="Calibri" pitchFamily="34" charset="0"/>
                <a:ea typeface="Calibri" pitchFamily="34" charset="-122"/>
                <a:cs typeface="Calibri" pitchFamily="34" charset="-120"/>
              </a:rPr>
              <a:t> ≥ 2·f</a:t>
            </a:r>
            <a:pPr indent="0" marL="0">
              <a:buNone/>
            </a:pPr>
            <a:r>
              <a:rPr lang="en-US" sz="1200" baseline="-40000" dirty="0">
                <a:solidFill>
                  <a:srgbClr val="1A1A2E"/>
                </a:solidFill>
                <a:latin typeface="Calibri" pitchFamily="34" charset="0"/>
                <a:ea typeface="Calibri" pitchFamily="34" charset="-122"/>
                <a:cs typeface="Calibri" pitchFamily="34" charset="-120"/>
              </a:rPr>
              <a:t>señal</a:t>
            </a:r>
            <a:pPr indent="0" marL="0">
              <a:buNone/>
            </a:pPr>
            <a:r>
              <a:rPr lang="en-US" sz="1200" dirty="0">
                <a:solidFill>
                  <a:srgbClr val="1A1A2E"/>
                </a:solidFill>
                <a:latin typeface="Calibri" pitchFamily="34" charset="0"/>
                <a:ea typeface="Calibri" pitchFamily="34" charset="-122"/>
                <a:cs typeface="Calibri" pitchFamily="34" charset="-120"/>
              </a:rPr>
              <a:t> para evitar el aliasing; los analizadores usan factor 2,56. Pregunta: ¿qué pasa si muestreo una vibración de 400 Hz a 500 Hz? Ningún filtro digital posterior deshace un aliasing ya cometido.</a:t>
            </a:r>
            <a:endParaRPr lang="en-US" sz="1200" dirty="0"/>
          </a:p>
        </p:txBody>
      </p:sp>
      <p:sp>
        <p:nvSpPr>
          <p:cNvPr id="37" name="Text 3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Fraden, 2016, pp. 2-5 · De Silva et al., 2016, pp. 147-152</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S8 · HOJA DE DATOS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Características estáticas y dinámicas</a:t>
            </a:r>
            <a:endParaRPr lang="en-US" sz="3000" dirty="0"/>
          </a:p>
        </p:txBody>
      </p:sp>
      <p:sp>
        <p:nvSpPr>
          <p:cNvPr id="4" name="Shape 2"/>
          <p:cNvSpPr/>
          <p:nvPr/>
        </p:nvSpPr>
        <p:spPr>
          <a:xfrm>
            <a:off x="640080" y="1554480"/>
            <a:ext cx="2606040" cy="1344168"/>
          </a:xfrm>
          <a:prstGeom prst="roundRect">
            <a:avLst>
              <a:gd name="adj" fmla="val 5442"/>
            </a:avLst>
          </a:prstGeom>
          <a:solidFill>
            <a:srgbClr val="F2F4FB"/>
          </a:solidFill>
          <a:ln/>
        </p:spPr>
        <p:txBody>
          <a:bodyPr/>
          <a:p/>
        </p:txBody>
      </p:sp>
      <p:sp>
        <p:nvSpPr>
          <p:cNvPr id="5" name="Text 3"/>
          <p:cNvSpPr/>
          <p:nvPr/>
        </p:nvSpPr>
        <p:spPr>
          <a:xfrm>
            <a:off x="841248" y="1700784"/>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Span (FS)</a:t>
            </a:r>
            <a:endParaRPr lang="en-US" sz="1300" dirty="0"/>
          </a:p>
        </p:txBody>
      </p:sp>
      <p:sp>
        <p:nvSpPr>
          <p:cNvPr id="6" name="Text 4"/>
          <p:cNvSpPr/>
          <p:nvPr/>
        </p:nvSpPr>
        <p:spPr>
          <a:xfrm>
            <a:off x="841248" y="2194560"/>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Rango dinámico de estímulos convertibles (p. 30)</a:t>
            </a:r>
            <a:endParaRPr lang="en-US" sz="1050" dirty="0"/>
          </a:p>
        </p:txBody>
      </p:sp>
      <p:sp>
        <p:nvSpPr>
          <p:cNvPr id="7" name="Shape 5"/>
          <p:cNvSpPr/>
          <p:nvPr/>
        </p:nvSpPr>
        <p:spPr>
          <a:xfrm>
            <a:off x="3451860" y="1554480"/>
            <a:ext cx="2606040" cy="1344168"/>
          </a:xfrm>
          <a:prstGeom prst="roundRect">
            <a:avLst>
              <a:gd name="adj" fmla="val 5442"/>
            </a:avLst>
          </a:prstGeom>
          <a:solidFill>
            <a:srgbClr val="F2F4FB"/>
          </a:solidFill>
          <a:ln/>
        </p:spPr>
        <p:txBody>
          <a:bodyPr/>
          <a:p/>
        </p:txBody>
      </p:sp>
      <p:sp>
        <p:nvSpPr>
          <p:cNvPr id="8" name="Text 6"/>
          <p:cNvSpPr/>
          <p:nvPr/>
        </p:nvSpPr>
        <p:spPr>
          <a:xfrm>
            <a:off x="3653028" y="1700784"/>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Exactitud</a:t>
            </a:r>
            <a:endParaRPr lang="en-US" sz="1300" dirty="0"/>
          </a:p>
        </p:txBody>
      </p:sp>
      <p:sp>
        <p:nvSpPr>
          <p:cNvPr id="9" name="Text 7"/>
          <p:cNvSpPr/>
          <p:nvPr/>
        </p:nvSpPr>
        <p:spPr>
          <a:xfrm>
            <a:off x="3653028" y="2194560"/>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«En realidad, inexactitud»: máxima desviación del valor verdadero (p. 31)</a:t>
            </a:r>
            <a:endParaRPr lang="en-US" sz="1050" dirty="0"/>
          </a:p>
        </p:txBody>
      </p:sp>
      <p:sp>
        <p:nvSpPr>
          <p:cNvPr id="10" name="Shape 8"/>
          <p:cNvSpPr/>
          <p:nvPr/>
        </p:nvSpPr>
        <p:spPr>
          <a:xfrm>
            <a:off x="6263640" y="1554480"/>
            <a:ext cx="2606040" cy="1344168"/>
          </a:xfrm>
          <a:prstGeom prst="roundRect">
            <a:avLst>
              <a:gd name="adj" fmla="val 5442"/>
            </a:avLst>
          </a:prstGeom>
          <a:solidFill>
            <a:srgbClr val="F2F4FB"/>
          </a:solidFill>
          <a:ln/>
        </p:spPr>
        <p:txBody>
          <a:bodyPr/>
          <a:p/>
        </p:txBody>
      </p:sp>
      <p:sp>
        <p:nvSpPr>
          <p:cNvPr id="11" name="Text 9"/>
          <p:cNvSpPr/>
          <p:nvPr/>
        </p:nvSpPr>
        <p:spPr>
          <a:xfrm>
            <a:off x="6464808" y="1700784"/>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Histéresis</a:t>
            </a:r>
            <a:endParaRPr lang="en-US" sz="1300" dirty="0"/>
          </a:p>
        </p:txBody>
      </p:sp>
      <p:sp>
        <p:nvSpPr>
          <p:cNvPr id="12" name="Text 10"/>
          <p:cNvSpPr/>
          <p:nvPr/>
        </p:nvSpPr>
        <p:spPr>
          <a:xfrm>
            <a:off x="6464808" y="2194560"/>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La salida depende del lado por el que llega el estímulo (p. 35)</a:t>
            </a:r>
            <a:endParaRPr lang="en-US" sz="1050" dirty="0"/>
          </a:p>
        </p:txBody>
      </p:sp>
      <p:sp>
        <p:nvSpPr>
          <p:cNvPr id="13" name="Shape 11"/>
          <p:cNvSpPr/>
          <p:nvPr/>
        </p:nvSpPr>
        <p:spPr>
          <a:xfrm>
            <a:off x="9075420" y="1554480"/>
            <a:ext cx="2606040" cy="1344168"/>
          </a:xfrm>
          <a:prstGeom prst="roundRect">
            <a:avLst>
              <a:gd name="adj" fmla="val 5442"/>
            </a:avLst>
          </a:prstGeom>
          <a:solidFill>
            <a:srgbClr val="F2F4FB"/>
          </a:solidFill>
          <a:ln/>
        </p:spPr>
        <p:txBody>
          <a:bodyPr/>
          <a:p/>
        </p:txBody>
      </p:sp>
      <p:sp>
        <p:nvSpPr>
          <p:cNvPr id="14" name="Text 12"/>
          <p:cNvSpPr/>
          <p:nvPr/>
        </p:nvSpPr>
        <p:spPr>
          <a:xfrm>
            <a:off x="9276588" y="1700784"/>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No linealidad</a:t>
            </a:r>
            <a:endParaRPr lang="en-US" sz="1300" dirty="0"/>
          </a:p>
        </p:txBody>
      </p:sp>
      <p:sp>
        <p:nvSpPr>
          <p:cNvPr id="15" name="Text 13"/>
          <p:cNvSpPr/>
          <p:nvPr/>
        </p:nvSpPr>
        <p:spPr>
          <a:xfrm>
            <a:off x="9276588" y="2194560"/>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Desviación máxima respecto a la recta de ajuste (p. 36)</a:t>
            </a:r>
            <a:endParaRPr lang="en-US" sz="1050" dirty="0"/>
          </a:p>
        </p:txBody>
      </p:sp>
      <p:sp>
        <p:nvSpPr>
          <p:cNvPr id="16" name="Shape 14"/>
          <p:cNvSpPr/>
          <p:nvPr/>
        </p:nvSpPr>
        <p:spPr>
          <a:xfrm>
            <a:off x="640080" y="3035808"/>
            <a:ext cx="2606040" cy="1344168"/>
          </a:xfrm>
          <a:prstGeom prst="roundRect">
            <a:avLst>
              <a:gd name="adj" fmla="val 5442"/>
            </a:avLst>
          </a:prstGeom>
          <a:solidFill>
            <a:srgbClr val="F2F4FB"/>
          </a:solidFill>
          <a:ln/>
        </p:spPr>
        <p:txBody>
          <a:bodyPr/>
          <a:p/>
        </p:txBody>
      </p:sp>
      <p:sp>
        <p:nvSpPr>
          <p:cNvPr id="17" name="Text 15"/>
          <p:cNvSpPr/>
          <p:nvPr/>
        </p:nvSpPr>
        <p:spPr>
          <a:xfrm>
            <a:off x="841248" y="3182112"/>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Saturación</a:t>
            </a:r>
            <a:endParaRPr lang="en-US" sz="1300" dirty="0"/>
          </a:p>
        </p:txBody>
      </p:sp>
      <p:sp>
        <p:nvSpPr>
          <p:cNvPr id="18" name="Text 16"/>
          <p:cNvSpPr/>
          <p:nvPr/>
        </p:nvSpPr>
        <p:spPr>
          <a:xfrm>
            <a:off x="841248" y="3675888"/>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La respuesta se limita a estímulos altos (p. 37)</a:t>
            </a:r>
            <a:endParaRPr lang="en-US" sz="1050" dirty="0"/>
          </a:p>
        </p:txBody>
      </p:sp>
      <p:sp>
        <p:nvSpPr>
          <p:cNvPr id="19" name="Shape 17"/>
          <p:cNvSpPr/>
          <p:nvPr/>
        </p:nvSpPr>
        <p:spPr>
          <a:xfrm>
            <a:off x="3451860" y="3035808"/>
            <a:ext cx="2606040" cy="1344168"/>
          </a:xfrm>
          <a:prstGeom prst="roundRect">
            <a:avLst>
              <a:gd name="adj" fmla="val 5442"/>
            </a:avLst>
          </a:prstGeom>
          <a:solidFill>
            <a:srgbClr val="F2F4FB"/>
          </a:solidFill>
          <a:ln/>
        </p:spPr>
        <p:txBody>
          <a:bodyPr/>
          <a:p/>
        </p:txBody>
      </p:sp>
      <p:sp>
        <p:nvSpPr>
          <p:cNvPr id="20" name="Text 18"/>
          <p:cNvSpPr/>
          <p:nvPr/>
        </p:nvSpPr>
        <p:spPr>
          <a:xfrm>
            <a:off x="3653028" y="3182112"/>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Repetibilidad</a:t>
            </a:r>
            <a:endParaRPr lang="en-US" sz="1300" dirty="0"/>
          </a:p>
        </p:txBody>
      </p:sp>
      <p:sp>
        <p:nvSpPr>
          <p:cNvPr id="21" name="Text 19"/>
          <p:cNvSpPr/>
          <p:nvPr/>
        </p:nvSpPr>
        <p:spPr>
          <a:xfrm>
            <a:off x="3653028" y="3675888"/>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Dispersión entre ciclos idénticos, en % FS (p. 38)</a:t>
            </a:r>
            <a:endParaRPr lang="en-US" sz="1050" dirty="0"/>
          </a:p>
        </p:txBody>
      </p:sp>
      <p:sp>
        <p:nvSpPr>
          <p:cNvPr id="22" name="Shape 20"/>
          <p:cNvSpPr/>
          <p:nvPr/>
        </p:nvSpPr>
        <p:spPr>
          <a:xfrm>
            <a:off x="6263640" y="3035808"/>
            <a:ext cx="2606040" cy="1344168"/>
          </a:xfrm>
          <a:prstGeom prst="roundRect">
            <a:avLst>
              <a:gd name="adj" fmla="val 5442"/>
            </a:avLst>
          </a:prstGeom>
          <a:solidFill>
            <a:srgbClr val="F2F4FB"/>
          </a:solidFill>
          <a:ln/>
        </p:spPr>
        <p:txBody>
          <a:bodyPr/>
          <a:p/>
        </p:txBody>
      </p:sp>
      <p:sp>
        <p:nvSpPr>
          <p:cNvPr id="23" name="Text 21"/>
          <p:cNvSpPr/>
          <p:nvPr/>
        </p:nvSpPr>
        <p:spPr>
          <a:xfrm>
            <a:off x="6464808" y="3182112"/>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Banda muerta</a:t>
            </a:r>
            <a:endParaRPr lang="en-US" sz="1300" dirty="0"/>
          </a:p>
        </p:txBody>
      </p:sp>
      <p:sp>
        <p:nvSpPr>
          <p:cNvPr id="24" name="Text 22"/>
          <p:cNvSpPr/>
          <p:nvPr/>
        </p:nvSpPr>
        <p:spPr>
          <a:xfrm>
            <a:off x="6464808" y="3675888"/>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Insensibilidad en un rango de entrada (p. 38)</a:t>
            </a:r>
            <a:endParaRPr lang="en-US" sz="1050" dirty="0"/>
          </a:p>
        </p:txBody>
      </p:sp>
      <p:sp>
        <p:nvSpPr>
          <p:cNvPr id="25" name="Shape 23"/>
          <p:cNvSpPr/>
          <p:nvPr/>
        </p:nvSpPr>
        <p:spPr>
          <a:xfrm>
            <a:off x="9075420" y="3035808"/>
            <a:ext cx="2606040" cy="1344168"/>
          </a:xfrm>
          <a:prstGeom prst="roundRect">
            <a:avLst>
              <a:gd name="adj" fmla="val 5442"/>
            </a:avLst>
          </a:prstGeom>
          <a:solidFill>
            <a:srgbClr val="F2F4FB"/>
          </a:solidFill>
          <a:ln/>
        </p:spPr>
        <p:txBody>
          <a:bodyPr/>
          <a:p/>
        </p:txBody>
      </p:sp>
      <p:sp>
        <p:nvSpPr>
          <p:cNvPr id="26" name="Text 24"/>
          <p:cNvSpPr/>
          <p:nvPr/>
        </p:nvSpPr>
        <p:spPr>
          <a:xfrm>
            <a:off x="9276588" y="3182112"/>
            <a:ext cx="2203704"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Resolución</a:t>
            </a:r>
            <a:endParaRPr lang="en-US" sz="1300" dirty="0"/>
          </a:p>
        </p:txBody>
      </p:sp>
      <p:sp>
        <p:nvSpPr>
          <p:cNvPr id="27" name="Text 25"/>
          <p:cNvSpPr/>
          <p:nvPr/>
        </p:nvSpPr>
        <p:spPr>
          <a:xfrm>
            <a:off x="9276588" y="3675888"/>
            <a:ext cx="2203704" cy="576072"/>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Incremento más pequeño de estímulo detectable (p. 38)</a:t>
            </a:r>
            <a:endParaRPr lang="en-US" sz="1050" dirty="0"/>
          </a:p>
        </p:txBody>
      </p:sp>
      <p:sp>
        <p:nvSpPr>
          <p:cNvPr id="28" name="Shape 26"/>
          <p:cNvSpPr/>
          <p:nvPr/>
        </p:nvSpPr>
        <p:spPr>
          <a:xfrm>
            <a:off x="640080" y="4681728"/>
            <a:ext cx="10881360" cy="1051560"/>
          </a:xfrm>
          <a:prstGeom prst="roundRect">
            <a:avLst>
              <a:gd name="adj" fmla="val 6957"/>
            </a:avLst>
          </a:prstGeom>
          <a:solidFill>
            <a:srgbClr val="E3F7EC"/>
          </a:solidFill>
          <a:ln/>
        </p:spPr>
        <p:txBody>
          <a:bodyPr/>
          <a:p/>
        </p:txBody>
      </p:sp>
      <p:sp>
        <p:nvSpPr>
          <p:cNvPr id="29" name="Text 27"/>
          <p:cNvSpPr/>
          <p:nvPr/>
        </p:nvSpPr>
        <p:spPr>
          <a:xfrm>
            <a:off x="841248" y="4828032"/>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Características dinámicas</a:t>
            </a:r>
            <a:endParaRPr lang="en-US" sz="1500" dirty="0"/>
          </a:p>
        </p:txBody>
      </p:sp>
      <p:sp>
        <p:nvSpPr>
          <p:cNvPr id="30" name="Text 28"/>
          <p:cNvSpPr/>
          <p:nvPr/>
        </p:nvSpPr>
        <p:spPr>
          <a:xfrm>
            <a:off x="841248" y="5321808"/>
            <a:ext cx="10479024" cy="2834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Orden cero (instantáneo) · primer orden con constante de tiempo τ y corte a −3 dB (sensor de temperatura) · segundo orden con masa móvil (acelerómetro, S9). Regla de Fraden: posición hasta ~10 Hz, velocidad hasta ~1 kHz, aceleración por encima (p. 327).</a:t>
            </a:r>
            <a:endParaRPr lang="en-US" sz="1150" dirty="0"/>
          </a:p>
        </p:txBody>
      </p:sp>
      <p:sp>
        <p:nvSpPr>
          <p:cNvPr id="31" name="Shape 29"/>
          <p:cNvSpPr/>
          <p:nvPr/>
        </p:nvSpPr>
        <p:spPr>
          <a:xfrm>
            <a:off x="640080" y="5870448"/>
            <a:ext cx="10881360" cy="475488"/>
          </a:xfrm>
          <a:prstGeom prst="roundRect">
            <a:avLst>
              <a:gd name="adj" fmla="val 15385"/>
            </a:avLst>
          </a:prstGeom>
          <a:solidFill>
            <a:srgbClr val="F2F4FB"/>
          </a:solidFill>
          <a:ln/>
        </p:spPr>
        <p:txBody>
          <a:bodyPr/>
          <a:p/>
        </p:txBody>
      </p:sp>
      <p:sp>
        <p:nvSpPr>
          <p:cNvPr id="32" name="Text 30"/>
          <p:cNvSpPr/>
          <p:nvPr/>
        </p:nvSpPr>
        <p:spPr>
          <a:xfrm>
            <a:off x="841248" y="5980176"/>
            <a:ext cx="10479024" cy="23774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Aviso de ingeniero: repetibilidad ≠ exactitud, un sesgo estable se calibra; una dispersión, no. Calibración solo si las tolerancias superan la exactitud requerida (p. 20).</a:t>
            </a:r>
            <a:endParaRPr lang="en-US" sz="1100" dirty="0"/>
          </a:p>
        </p:txBody>
      </p:sp>
      <p:sp>
        <p:nvSpPr>
          <p:cNvPr id="34" name="Text 3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Fraden, 2016, pp. 13-42</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S9</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Posición, velocidad e inercia</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Encoders · LVDT · efecto Hall · acelerómetros · giróscopos · IMU</a:t>
            </a:r>
            <a:endParaRPr lang="en-US" sz="1600" dirty="0"/>
          </a:p>
        </p:txBody>
      </p:sp>
      <p:sp>
        <p:nvSpPr>
          <p:cNvPr id="8" name="TextBox 7">
            <a:hlinkClick r:id="rId3"/>
          </p:cNvPr>
          <p:cNvSpPr txBox="1"/>
          <p:nvPr/>
        </p:nvSpPr>
        <p:spPr>
          <a:xfrm>
            <a:off x="2057400" y="3310128"/>
            <a:ext cx="5486400" cy="347472"/>
          </a:xfrm>
          <a:prstGeom prst="rect">
            <a:avLst/>
          </a:prstGeom>
          <a:noFill/>
        </p:spPr>
        <p:txBody>
          <a:bodyPr wrap="square" lIns="0" tIns="0" bIns="0" rIns="0">
            <a:noAutofit/>
          </a:bodyPr>
          <a:lstStyle/>
          <a:p>
            <a:pPr algn="l"/>
            <a:r>
              <a:rPr sz="1400" b="1">
                <a:solidFill>
                  <a:srgbClr val="2FD26E"/>
                </a:solidFill>
                <a:latin typeface="Calibri"/>
              </a:rPr>
              <a:t>▸  Abrir en Colab · cuaderno S09</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S9–S10 · SENSORES REALES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El hardware, de cerca</a:t>
            </a:r>
            <a:endParaRPr lang="en-US" sz="3000" dirty="0"/>
          </a:p>
        </p:txBody>
      </p:sp>
      <p:pic>
        <p:nvPicPr>
          <p:cNvPr id="4" name="Image 0" descr="/home/claude/work/curso_82514/media/fotos/b3_encoder.jpg">    </p:cNvPr>
          <p:cNvPicPr>
            <a:picLocks noChangeAspect="1"/>
          </p:cNvPicPr>
          <p:nvPr/>
        </p:nvPicPr>
        <p:blipFill>
          <a:blip r:embed="rId1"/>
          <a:stretch>
            <a:fillRect/>
          </a:stretch>
        </p:blipFill>
        <p:spPr>
          <a:xfrm>
            <a:off x="1747157" y="1371600"/>
            <a:ext cx="3135086" cy="2286000"/>
          </a:xfrm>
          <a:prstGeom prst="rect">
            <a:avLst/>
          </a:prstGeom>
        </p:spPr>
      </p:pic>
      <p:sp>
        <p:nvSpPr>
          <p:cNvPr id="5" name="Text 2"/>
          <p:cNvSpPr/>
          <p:nvPr/>
        </p:nvSpPr>
        <p:spPr>
          <a:xfrm>
            <a:off x="640080" y="369417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Encoder incremental (corte): disco y detector</a:t>
            </a:r>
            <a:endParaRPr lang="en-US" sz="1050" dirty="0"/>
          </a:p>
        </p:txBody>
      </p:sp>
      <p:pic>
        <p:nvPicPr>
          <p:cNvPr id="6" name="Image 1" descr="/home/claude/work/curso_82514/media/fotos/b3_imu.jpg">    </p:cNvPr>
          <p:cNvPicPr>
            <a:picLocks noChangeAspect="1"/>
          </p:cNvPicPr>
          <p:nvPr/>
        </p:nvPicPr>
        <p:blipFill>
          <a:blip r:embed="rId2"/>
          <a:stretch>
            <a:fillRect/>
          </a:stretch>
        </p:blipFill>
        <p:spPr>
          <a:xfrm>
            <a:off x="7497152" y="1371600"/>
            <a:ext cx="2699336" cy="2286000"/>
          </a:xfrm>
          <a:prstGeom prst="rect">
            <a:avLst/>
          </a:prstGeom>
        </p:spPr>
      </p:pic>
      <p:sp>
        <p:nvSpPr>
          <p:cNvPr id="7" name="Text 3"/>
          <p:cNvSpPr/>
          <p:nvPr/>
        </p:nvSpPr>
        <p:spPr>
          <a:xfrm>
            <a:off x="6172200" y="369417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IMU MEMS sobre un centavo (DARPA TIMU)</a:t>
            </a:r>
            <a:endParaRPr lang="en-US" sz="1050" dirty="0"/>
          </a:p>
        </p:txBody>
      </p:sp>
      <p:pic>
        <p:nvPicPr>
          <p:cNvPr id="8" name="Image 2" descr="/home/claude/work/curso_82514/media/fotos/b3_galga.jpg">    </p:cNvPr>
          <p:cNvPicPr>
            <a:picLocks noChangeAspect="1"/>
          </p:cNvPicPr>
          <p:nvPr/>
        </p:nvPicPr>
        <p:blipFill>
          <a:blip r:embed="rId3"/>
          <a:stretch>
            <a:fillRect/>
          </a:stretch>
        </p:blipFill>
        <p:spPr>
          <a:xfrm>
            <a:off x="1555783" y="3977640"/>
            <a:ext cx="3517834" cy="2286000"/>
          </a:xfrm>
          <a:prstGeom prst="rect">
            <a:avLst/>
          </a:prstGeom>
        </p:spPr>
      </p:pic>
      <p:sp>
        <p:nvSpPr>
          <p:cNvPr id="9" name="Text 4"/>
          <p:cNvSpPr/>
          <p:nvPr/>
        </p:nvSpPr>
        <p:spPr>
          <a:xfrm>
            <a:off x="640080" y="630021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Galga extensométrica sin montar</a:t>
            </a:r>
            <a:endParaRPr lang="en-US" sz="1050" dirty="0"/>
          </a:p>
        </p:txBody>
      </p:sp>
      <p:pic>
        <p:nvPicPr>
          <p:cNvPr id="10" name="Image 3" descr="/home/claude/work/curso_82514/media/fotos/b3_lidar.jpg">    </p:cNvPr>
          <p:cNvPicPr>
            <a:picLocks noChangeAspect="1"/>
          </p:cNvPicPr>
          <p:nvPr/>
        </p:nvPicPr>
        <p:blipFill>
          <a:blip r:embed="rId4"/>
          <a:stretch>
            <a:fillRect/>
          </a:stretch>
        </p:blipFill>
        <p:spPr>
          <a:xfrm>
            <a:off x="7268000" y="3977640"/>
            <a:ext cx="3157640" cy="2286000"/>
          </a:xfrm>
          <a:prstGeom prst="rect">
            <a:avLst/>
          </a:prstGeom>
        </p:spPr>
      </p:pic>
      <p:sp>
        <p:nvSpPr>
          <p:cNvPr id="11" name="Text 5"/>
          <p:cNvSpPr/>
          <p:nvPr/>
        </p:nvSpPr>
        <p:spPr>
          <a:xfrm>
            <a:off x="6172200" y="630021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LiDAR Velodyne sobre vehículo autónomo</a:t>
            </a:r>
            <a:endParaRPr lang="en-US" sz="1050" dirty="0"/>
          </a:p>
        </p:txBody>
      </p:sp>
      <p:sp>
        <p:nvSpPr>
          <p:cNvPr id="12"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Fotos: Lambtron CC BY-SA 4.0 · Univ. Michigan dominio público · Pleriche CC BY-SA 4.0 · S. Jurvetson CC BY 2.0 · Wikimedia Commons</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S9 · PROPIOCEPTIVOS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Posición y desplazamiento</a:t>
            </a:r>
            <a:endParaRPr lang="en-US" sz="3000" dirty="0"/>
          </a:p>
        </p:txBody>
      </p:sp>
      <p:sp>
        <p:nvSpPr>
          <p:cNvPr id="4" name="Shape 2"/>
          <p:cNvSpPr/>
          <p:nvPr/>
        </p:nvSpPr>
        <p:spPr>
          <a:xfrm>
            <a:off x="640080" y="1554480"/>
            <a:ext cx="3474720" cy="3063240"/>
          </a:xfrm>
          <a:prstGeom prst="roundRect">
            <a:avLst>
              <a:gd name="adj" fmla="val 2388"/>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251460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Encoder óptico</a:t>
            </a:r>
            <a:endParaRPr lang="en-US" sz="1400" dirty="0"/>
          </a:p>
        </p:txBody>
      </p:sp>
      <p:sp>
        <p:nvSpPr>
          <p:cNvPr id="8" name="Text 6"/>
          <p:cNvSpPr/>
          <p:nvPr/>
        </p:nvSpPr>
        <p:spPr>
          <a:xfrm>
            <a:off x="841248" y="2331720"/>
            <a:ext cx="3072384" cy="2157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Disco con sectores opacos y transparentes que interrumpe un haz. Incremental (un pulso por paso) o absoluto (código Gray/binario en el radio). Dos canales A y B en cuadratura (90°) dan cuenta y sentido de giro; decodificación x4 multiplica la resolución.</a:t>
            </a:r>
            <a:endParaRPr lang="en-US" sz="1150" dirty="0"/>
          </a:p>
        </p:txBody>
      </p:sp>
      <p:sp>
        <p:nvSpPr>
          <p:cNvPr id="9" name="Shape 7"/>
          <p:cNvSpPr/>
          <p:nvPr/>
        </p:nvSpPr>
        <p:spPr>
          <a:xfrm>
            <a:off x="4343400" y="1554480"/>
            <a:ext cx="3474720" cy="3063240"/>
          </a:xfrm>
          <a:prstGeom prst="roundRect">
            <a:avLst>
              <a:gd name="adj" fmla="val 2388"/>
            </a:avLst>
          </a:prstGeom>
          <a:solidFill>
            <a:srgbClr val="F2F4FB"/>
          </a:solidFill>
          <a:ln/>
        </p:spPr>
        <p:txBody>
          <a:bodyPr/>
          <a:p/>
        </p:txBody>
      </p:sp>
      <p:sp>
        <p:nvSpPr>
          <p:cNvPr id="10" name="Shape 8"/>
          <p:cNvSpPr/>
          <p:nvPr/>
        </p:nvSpPr>
        <p:spPr>
          <a:xfrm>
            <a:off x="4526280" y="1737360"/>
            <a:ext cx="457200" cy="457200"/>
          </a:xfrm>
          <a:prstGeom prst="ellipse">
            <a:avLst/>
          </a:prstGeom>
          <a:solidFill>
            <a:srgbClr val="2FD26E"/>
          </a:solidFill>
          <a:ln/>
        </p:spPr>
        <p:txBody>
          <a:bodyPr/>
          <a:p/>
        </p:txBody>
      </p:sp>
      <p:sp>
        <p:nvSpPr>
          <p:cNvPr id="11" name="Text 9"/>
          <p:cNvSpPr/>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120640" y="1700784"/>
            <a:ext cx="251460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LVDT</a:t>
            </a:r>
            <a:endParaRPr lang="en-US" sz="1400" dirty="0"/>
          </a:p>
        </p:txBody>
      </p:sp>
      <p:sp>
        <p:nvSpPr>
          <p:cNvPr id="13" name="Text 11"/>
          <p:cNvSpPr/>
          <p:nvPr/>
        </p:nvSpPr>
        <p:spPr>
          <a:xfrm>
            <a:off x="4544568" y="2331720"/>
            <a:ext cx="3072384" cy="2157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Transformador con núcleo móvil: primario senoidal, secundarios en oposición de fase; salida nula en el centro, amplitud proporcional al desplazamiento y sentido dado por la fase. Sin contacto ni desgaste; resolución nanométrica. Versión rotativa: RVDT; pariente industrial: el resolver.</a:t>
            </a:r>
            <a:endParaRPr lang="en-US" sz="1150" dirty="0"/>
          </a:p>
        </p:txBody>
      </p:sp>
      <p:sp>
        <p:nvSpPr>
          <p:cNvPr id="14" name="Shape 12"/>
          <p:cNvSpPr/>
          <p:nvPr/>
        </p:nvSpPr>
        <p:spPr>
          <a:xfrm>
            <a:off x="8046720" y="1554480"/>
            <a:ext cx="3474720" cy="3063240"/>
          </a:xfrm>
          <a:prstGeom prst="roundRect">
            <a:avLst>
              <a:gd name="adj" fmla="val 2388"/>
            </a:avLst>
          </a:prstGeom>
          <a:solidFill>
            <a:srgbClr val="F2F4FB"/>
          </a:solidFill>
          <a:ln/>
        </p:spPr>
        <p:txBody>
          <a:bodyPr/>
          <a:p/>
        </p:txBody>
      </p:sp>
      <p:sp>
        <p:nvSpPr>
          <p:cNvPr id="15" name="Shape 13"/>
          <p:cNvSpPr/>
          <p:nvPr/>
        </p:nvSpPr>
        <p:spPr>
          <a:xfrm>
            <a:off x="8229600" y="1737360"/>
            <a:ext cx="457200" cy="457200"/>
          </a:xfrm>
          <a:prstGeom prst="ellipse">
            <a:avLst/>
          </a:prstGeom>
          <a:solidFill>
            <a:srgbClr val="2FD26E"/>
          </a:solidFill>
          <a:ln/>
        </p:spPr>
        <p:txBody>
          <a:bodyPr/>
          <a:p/>
        </p:txBody>
      </p:sp>
      <p:sp>
        <p:nvSpPr>
          <p:cNvPr id="16" name="Text 14"/>
          <p:cNvSpPr/>
          <p:nvPr/>
        </p:nvSpPr>
        <p:spPr>
          <a:xfrm>
            <a:off x="822960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823960" y="1700784"/>
            <a:ext cx="251460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Efecto Hall</a:t>
            </a:r>
            <a:endParaRPr lang="en-US" sz="1400" dirty="0"/>
          </a:p>
        </p:txBody>
      </p:sp>
      <p:sp>
        <p:nvSpPr>
          <p:cNvPr id="18" name="Text 16"/>
          <p:cNvSpPr/>
          <p:nvPr/>
        </p:nvSpPr>
        <p:spPr>
          <a:xfrm>
            <a:off x="8247888" y="2331720"/>
            <a:ext cx="3072384" cy="2157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Tensión transversal proporcional al campo magnético. Sensores analógicos y biestables para posición y proximidad, y la base de la conmutación electrónica de los BLDC de S11.</a:t>
            </a:r>
            <a:endParaRPr lang="en-US" sz="1150" dirty="0"/>
          </a:p>
        </p:txBody>
      </p:sp>
      <p:sp>
        <p:nvSpPr>
          <p:cNvPr id="19" name="Shape 17"/>
          <p:cNvSpPr/>
          <p:nvPr/>
        </p:nvSpPr>
        <p:spPr>
          <a:xfrm>
            <a:off x="640080" y="4846320"/>
            <a:ext cx="5394960" cy="1234440"/>
          </a:xfrm>
          <a:prstGeom prst="roundRect">
            <a:avLst>
              <a:gd name="adj" fmla="val 5926"/>
            </a:avLst>
          </a:prstGeom>
          <a:solidFill>
            <a:srgbClr val="F2F4FB"/>
          </a:solidFill>
          <a:ln/>
        </p:spPr>
        <p:txBody>
          <a:bodyPr/>
          <a:p/>
        </p:txBody>
      </p:sp>
      <p:sp>
        <p:nvSpPr>
          <p:cNvPr id="20" name="Text 18"/>
          <p:cNvSpPr/>
          <p:nvPr/>
        </p:nvSpPr>
        <p:spPr>
          <a:xfrm>
            <a:off x="841248" y="499262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Truco de diseño</a:t>
            </a:r>
            <a:endParaRPr lang="en-US" sz="1500" dirty="0"/>
          </a:p>
        </p:txBody>
      </p:sp>
      <p:sp>
        <p:nvSpPr>
          <p:cNvPr id="21" name="Text 19"/>
          <p:cNvSpPr/>
          <p:nvPr/>
        </p:nvSpPr>
        <p:spPr>
          <a:xfrm>
            <a:off x="841248" y="5486400"/>
            <a:ext cx="4992624" cy="4663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Encoder incremental en el lado del motor: la reductora multiplica su resolución efectiva sobre la articulación por G.</a:t>
            </a:r>
            <a:endParaRPr lang="en-US" sz="1150" dirty="0"/>
          </a:p>
        </p:txBody>
      </p:sp>
      <p:sp>
        <p:nvSpPr>
          <p:cNvPr id="22" name="Shape 20"/>
          <p:cNvSpPr/>
          <p:nvPr/>
        </p:nvSpPr>
        <p:spPr>
          <a:xfrm>
            <a:off x="6263640" y="4846320"/>
            <a:ext cx="5257800" cy="1234440"/>
          </a:xfrm>
          <a:prstGeom prst="roundRect">
            <a:avLst>
              <a:gd name="adj" fmla="val 5926"/>
            </a:avLst>
          </a:prstGeom>
          <a:solidFill>
            <a:srgbClr val="F2F4FB"/>
          </a:solidFill>
          <a:ln/>
        </p:spPr>
        <p:txBody>
          <a:bodyPr/>
          <a:p/>
        </p:txBody>
      </p:sp>
      <p:sp>
        <p:nvSpPr>
          <p:cNvPr id="23" name="Text 21"/>
          <p:cNvSpPr/>
          <p:nvPr/>
        </p:nvSpPr>
        <p:spPr>
          <a:xfrm>
            <a:off x="6464808" y="499262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Clasificación robótica (Corke)</a:t>
            </a:r>
            <a:endParaRPr lang="en-US" sz="1500" dirty="0"/>
          </a:p>
        </p:txBody>
      </p:sp>
      <p:sp>
        <p:nvSpPr>
          <p:cNvPr id="24" name="Text 22"/>
          <p:cNvSpPr/>
          <p:nvPr/>
        </p:nvSpPr>
        <p:spPr>
          <a:xfrm>
            <a:off x="6464808" y="5486400"/>
            <a:ext cx="4855464" cy="4663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Propioceptivos: «el estado del propio robot» (hoy). Exteroceptivos: «el mundo respecto al robot» (S10: rango).</a:t>
            </a:r>
            <a:endParaRPr lang="en-US" sz="1150" dirty="0"/>
          </a:p>
        </p:txBody>
      </p:sp>
      <p:sp>
        <p:nvSpPr>
          <p:cNvPr id="26" name="Text 23"/>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Fraden, 2016, pp. 103, 288-293 y 309-310 · Corke, 2023, pp. 8-9</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S9 · NAVEGACIÓN INERCIAL</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Inercia: acelerómetros, giróscopos e IMU</a:t>
            </a:r>
            <a:endParaRPr lang="en-US" sz="3000" dirty="0"/>
          </a:p>
        </p:txBody>
      </p:sp>
      <p:sp>
        <p:nvSpPr>
          <p:cNvPr id="4" name="Text 2"/>
          <p:cNvSpPr/>
          <p:nvPr/>
        </p:nvSpPr>
        <p:spPr>
          <a:xfrm>
            <a:off x="640080" y="1463040"/>
            <a:ext cx="6126480" cy="4846320"/>
          </a:xfrm>
          <a:prstGeom prst="rect">
            <a:avLst/>
          </a:prstGeom>
          <a:noFill/>
          <a:ln/>
        </p:spPr>
        <p:txBody>
          <a:bodyPr wrap="square" lIns="0" tIns="0" rIns="0" bIns="0" rtlCol="0" anchor="t"/>
          <a:lstStyle/>
          <a:p>
            <a:pPr indent="0" marL="0">
              <a:spcAft>
                <a:spcPts val="400"/>
              </a:spcAft>
              <a:buNone/>
            </a:pPr>
            <a:r>
              <a:rPr lang="en-US" sz="1400" b="1" dirty="0">
                <a:solidFill>
                  <a:srgbClr val="1B2A80"/>
                </a:solidFill>
                <a:latin typeface="Calibri" pitchFamily="34" charset="0"/>
                <a:ea typeface="Calibri" pitchFamily="34" charset="-122"/>
                <a:cs typeface="Calibri" pitchFamily="34" charset="-120"/>
              </a:rPr>
              <a:t>Acelerómetro = masa sísmica + suspensión + amortiguamiento</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Sistema de segundo orden con frecuencia natural ω0 y amortiguamiento ζ; detección capacitiva diferencial, piezorresistiva o piezoeléctrica.</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Corke: «los acelerómetros miden la gravedad y el movimiento del cuerpo» a la vez, en reposo miden g: base de la estimación de inclinación.</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Giróscopo de rotor (precesión, T = I·ω·Ω), hoy eclipsado por los ópticos RLG/FOG (efecto Sagnac) y los MEMS vibratorios (aceleración de Coriolis).</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INS: estima velocidad, orientación y posición integrando, sin entradas externas; IMU de 6/9 ejes y AHRS.</a:t>
            </a:r>
            <a:endParaRPr lang="en-US" sz="1400" dirty="0"/>
          </a:p>
        </p:txBody>
      </p:sp>
      <p:sp>
        <p:nvSpPr>
          <p:cNvPr id="5" name="Shape 3"/>
          <p:cNvSpPr/>
          <p:nvPr/>
        </p:nvSpPr>
        <p:spPr>
          <a:xfrm>
            <a:off x="6949440" y="1463040"/>
            <a:ext cx="4572000" cy="2834640"/>
          </a:xfrm>
          <a:prstGeom prst="roundRect">
            <a:avLst>
              <a:gd name="adj" fmla="val 2581"/>
            </a:avLst>
          </a:prstGeom>
          <a:solidFill>
            <a:srgbClr val="F2F4FB"/>
          </a:solidFill>
          <a:ln/>
        </p:spPr>
        <p:txBody>
          <a:bodyPr/>
          <a:p/>
        </p:txBody>
      </p:sp>
      <p:sp>
        <p:nvSpPr>
          <p:cNvPr id="6" name="Text 4"/>
          <p:cNvSpPr/>
          <p:nvPr/>
        </p:nvSpPr>
        <p:spPr>
          <a:xfrm>
            <a:off x="7150608" y="1609344"/>
            <a:ext cx="41696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 enemigo: el bias</a:t>
            </a:r>
            <a:endParaRPr lang="en-US" sz="1500" dirty="0"/>
          </a:p>
        </p:txBody>
      </p:sp>
      <p:sp>
        <p:nvSpPr>
          <p:cNvPr id="7" name="Text 5"/>
          <p:cNvSpPr/>
          <p:nvPr/>
        </p:nvSpPr>
        <p:spPr>
          <a:xfrm>
            <a:off x="7150608" y="2103120"/>
            <a:ext cx="4169664" cy="20665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Modelo de error de cada canal: la lectura vale s·x + b + ε. El bias b deriva con el tiempo y la temperatura; al integrar dos veces, el error de posición crece cuadráticamente.</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Pregunta: ¿por qué el dron del laboratorio no navega solo con su IMU de 10 €?</a:t>
            </a:r>
            <a:endParaRPr lang="en-US" sz="1200" dirty="0"/>
          </a:p>
        </p:txBody>
      </p:sp>
      <p:sp>
        <p:nvSpPr>
          <p:cNvPr id="8" name="Shape 6"/>
          <p:cNvSpPr/>
          <p:nvPr/>
        </p:nvSpPr>
        <p:spPr>
          <a:xfrm>
            <a:off x="6949440" y="4480560"/>
            <a:ext cx="4572000" cy="1600200"/>
          </a:xfrm>
          <a:prstGeom prst="roundRect">
            <a:avLst>
              <a:gd name="adj" fmla="val 4571"/>
            </a:avLst>
          </a:prstGeom>
          <a:solidFill>
            <a:srgbClr val="E3F7EC"/>
          </a:solidFill>
          <a:ln/>
        </p:spPr>
        <p:txBody>
          <a:bodyPr/>
          <a:p/>
        </p:txBody>
      </p:sp>
      <p:sp>
        <p:nvSpPr>
          <p:cNvPr id="9" name="Text 7"/>
          <p:cNvSpPr/>
          <p:nvPr/>
        </p:nvSpPr>
        <p:spPr>
          <a:xfrm>
            <a:off x="7150608" y="4626864"/>
            <a:ext cx="41696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Fusión de sensores</a:t>
            </a:r>
            <a:endParaRPr lang="en-US" sz="1500" dirty="0"/>
          </a:p>
        </p:txBody>
      </p:sp>
      <p:sp>
        <p:nvSpPr>
          <p:cNvPr id="10" name="Text 8"/>
          <p:cNvSpPr/>
          <p:nvPr/>
        </p:nvSpPr>
        <p:spPr>
          <a:xfrm>
            <a:off x="7150608" y="5120640"/>
            <a:ext cx="4169664" cy="8321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Giróscopo (deriva con t) + acelerómetro (referencia de g) + magnetómetro (rumbo, sensible a campos espurios): características complementarias → filtro de Kalman en B6.</a:t>
            </a:r>
            <a:endParaRPr lang="en-US" sz="1200" dirty="0"/>
          </a:p>
        </p:txBody>
      </p:sp>
      <p:sp>
        <p:nvSpPr>
          <p:cNvPr id="12" name="Text 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Fraden, 2016, pp. 327-344 · Corke, 2023, pp. 107-119</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S10</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Fuerza, tacto y rango</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Galgas y puente de Wheatstone · táctiles · ultrasonidos, LiDAR y profundidad · selección</a:t>
            </a:r>
            <a:endParaRPr lang="en-US" sz="1600" dirty="0"/>
          </a:p>
        </p:txBody>
      </p:sp>
      <p:pic>
        <p:nvPicPr>
          <p:cNvPr id="8" name="Image 0" descr="/home/claude/work/curso_82514/media/fotos/b6_estereo3.jpg">    </p:cNvPr>
          <p:cNvPicPr>
            <a:picLocks noChangeAspect="1"/>
          </p:cNvPicPr>
          <p:nvPr/>
        </p:nvPicPr>
        <p:blipFill>
          <a:blip r:embed="rId1"/>
          <a:stretch>
            <a:fillRect/>
          </a:stretch>
        </p:blipFill>
        <p:spPr>
          <a:xfrm>
            <a:off x="7818120" y="3249168"/>
            <a:ext cx="3749040" cy="2499360"/>
          </a:xfrm>
          <a:prstGeom prst="rect">
            <a:avLst/>
          </a:prstGeom>
        </p:spPr>
      </p:pic>
      <p:sp>
        <p:nvSpPr>
          <p:cNvPr id="9" name="Shape 6"/>
          <p:cNvSpPr/>
          <p:nvPr/>
        </p:nvSpPr>
        <p:spPr>
          <a:xfrm>
            <a:off x="7818120" y="5748528"/>
            <a:ext cx="3749040" cy="54864"/>
          </a:xfrm>
          <a:prstGeom prst="rect">
            <a:avLst/>
          </a:prstGeom>
          <a:solidFill>
            <a:srgbClr val="2FD26E"/>
          </a:solidFill>
          <a:ln/>
        </p:spPr>
        <p:txBody>
          <a:bodyPr/>
          <a:p/>
        </p:txBody>
      </p:sp>
      <p:sp>
        <p:nvSpPr>
          <p:cNvPr id="10" name="Text 7"/>
          <p:cNvSpPr/>
          <p:nvPr/>
        </p:nvSpPr>
        <p:spPr>
          <a:xfrm>
            <a:off x="7589520" y="587654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Par estéreo: profundidad por triangulación</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T. Cognard CC BY-SA 3.0 · Wikimedia Commons</a:t>
            </a:r>
            <a:endParaRPr lang="en-US" sz="800" dirty="0"/>
          </a:p>
        </p:txBody>
      </p:sp>
      <p:sp>
        <p:nvSpPr>
          <p:cNvPr id="12" name="TextBox 11">
            <a:hlinkClick r:id="rId4"/>
          </p:cNvPr>
          <p:cNvSpPr txBox="1"/>
          <p:nvPr/>
        </p:nvSpPr>
        <p:spPr>
          <a:xfrm>
            <a:off x="2057400" y="3310128"/>
            <a:ext cx="5486400" cy="347472"/>
          </a:xfrm>
          <a:prstGeom prst="rect">
            <a:avLst/>
          </a:prstGeom>
          <a:noFill/>
        </p:spPr>
        <p:txBody>
          <a:bodyPr wrap="square" lIns="0" tIns="0" bIns="0" rIns="0">
            <a:noAutofit/>
          </a:bodyPr>
          <a:lstStyle/>
          <a:p>
            <a:pPr algn="l"/>
            <a:r>
              <a:rPr sz="1400" b="1">
                <a:solidFill>
                  <a:srgbClr val="2FD26E"/>
                </a:solidFill>
                <a:latin typeface="Calibri"/>
              </a:rPr>
              <a:t>▸  Abrir en Colab · cuaderno S10</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S10 · EL SENTIDO DEL CONTACTO</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Fuerza y tacto</a:t>
            </a:r>
            <a:endParaRPr lang="en-US" sz="3000" dirty="0"/>
          </a:p>
        </p:txBody>
      </p:sp>
      <p:sp>
        <p:nvSpPr>
          <p:cNvPr id="4" name="Shape 2"/>
          <p:cNvSpPr/>
          <p:nvPr/>
        </p:nvSpPr>
        <p:spPr>
          <a:xfrm>
            <a:off x="640080" y="1554480"/>
            <a:ext cx="5394960" cy="3108960"/>
          </a:xfrm>
          <a:prstGeom prst="roundRect">
            <a:avLst>
              <a:gd name="adj" fmla="val 2353"/>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4434840"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Galgas extensométricas</a:t>
            </a:r>
            <a:endParaRPr lang="en-US" sz="1500" dirty="0"/>
          </a:p>
        </p:txBody>
      </p:sp>
      <p:sp>
        <p:nvSpPr>
          <p:cNvPr id="8" name="Text 6"/>
          <p:cNvSpPr/>
          <p:nvPr/>
        </p:nvSpPr>
        <p:spPr>
          <a:xfrm>
            <a:off x="841248" y="2331720"/>
            <a:ext cx="4992624" cy="22037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Sensor elástico resistivo: la resistencia es función de la deformación (efecto piezorresistivo). Factor de galga dR/R = Se·ε, con Se ≈ 2 en metales (constantán) y hasta ±150 en silicio (con fuerte sensibilidad térmica).</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Puente de Wheatstone: la configuración de 4 galgas activas compensa la temperatura y cuadruplica la sensibilidad.</a:t>
            </a:r>
            <a:endParaRPr lang="en-US" sz="1200" dirty="0"/>
          </a:p>
        </p:txBody>
      </p:sp>
      <p:sp>
        <p:nvSpPr>
          <p:cNvPr id="9" name="Shape 7"/>
          <p:cNvSpPr/>
          <p:nvPr/>
        </p:nvSpPr>
        <p:spPr>
          <a:xfrm>
            <a:off x="6263640" y="1554480"/>
            <a:ext cx="5257800" cy="3108960"/>
          </a:xfrm>
          <a:prstGeom prst="roundRect">
            <a:avLst>
              <a:gd name="adj" fmla="val 2353"/>
            </a:avLst>
          </a:prstGeom>
          <a:solidFill>
            <a:srgbClr val="F2F4FB"/>
          </a:solidFill>
          <a:ln/>
        </p:spPr>
        <p:txBody>
          <a:bodyPr/>
          <a:p/>
        </p:txBody>
      </p:sp>
      <p:sp>
        <p:nvSpPr>
          <p:cNvPr id="10" name="Shape 8"/>
          <p:cNvSpPr/>
          <p:nvPr/>
        </p:nvSpPr>
        <p:spPr>
          <a:xfrm>
            <a:off x="6446520" y="1737360"/>
            <a:ext cx="457200" cy="457200"/>
          </a:xfrm>
          <a:prstGeom prst="ellipse">
            <a:avLst/>
          </a:prstGeom>
          <a:solidFill>
            <a:srgbClr val="2FD26E"/>
          </a:solidFill>
          <a:ln/>
        </p:spPr>
        <p:txBody>
          <a:bodyPr/>
          <a:p/>
        </p:txBody>
      </p:sp>
      <p:sp>
        <p:nvSpPr>
          <p:cNvPr id="11" name="Text 9"/>
          <p:cNvSpPr/>
          <p:nvPr/>
        </p:nvSpPr>
        <p:spPr>
          <a:xfrm>
            <a:off x="644652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040880" y="1700784"/>
            <a:ext cx="4297680"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Sensores táctiles</a:t>
            </a:r>
            <a:endParaRPr lang="en-US" sz="1500" dirty="0"/>
          </a:p>
        </p:txBody>
      </p:sp>
      <p:sp>
        <p:nvSpPr>
          <p:cNvPr id="13" name="Text 11"/>
          <p:cNvSpPr/>
          <p:nvPr/>
        </p:nvSpPr>
        <p:spPr>
          <a:xfrm>
            <a:off x="6464808" y="2331720"/>
            <a:ext cx="4855464" cy="220370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Tres subgrupos: de contacto (binarios), espaciales (distribución de presión en un área) y de deslizamiento.</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Requisitos industriales orientativos: punto de contacto de 1-2 mm², sensibilidad 0,4-10 N, ancho de banda ≥ 100 Hz, histéresis baja; matrices de 10-20 puntos por lado. Construcciones: membrana con espaciador y películas PVDF en modo activo.</a:t>
            </a:r>
            <a:endParaRPr lang="en-US" sz="1200" dirty="0"/>
          </a:p>
        </p:txBody>
      </p:sp>
      <p:sp>
        <p:nvSpPr>
          <p:cNvPr id="14" name="Shape 12"/>
          <p:cNvSpPr/>
          <p:nvPr/>
        </p:nvSpPr>
        <p:spPr>
          <a:xfrm>
            <a:off x="640080" y="4892040"/>
            <a:ext cx="10881360" cy="1188720"/>
          </a:xfrm>
          <a:prstGeom prst="roundRect">
            <a:avLst>
              <a:gd name="adj" fmla="val 6154"/>
            </a:avLst>
          </a:prstGeom>
          <a:solidFill>
            <a:srgbClr val="E3F7EC"/>
          </a:solidFill>
          <a:ln/>
        </p:spPr>
        <p:txBody>
          <a:bodyPr/>
          <a:p/>
        </p:txBody>
      </p:sp>
      <p:sp>
        <p:nvSpPr>
          <p:cNvPr id="15" name="Text 13"/>
          <p:cNvSpPr/>
          <p:nvPr/>
        </p:nvSpPr>
        <p:spPr>
          <a:xfrm>
            <a:off x="841248" y="5038344"/>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En robots</a:t>
            </a:r>
            <a:endParaRPr lang="en-US" sz="1500" dirty="0"/>
          </a:p>
        </p:txBody>
      </p:sp>
      <p:sp>
        <p:nvSpPr>
          <p:cNvPr id="16" name="Text 14"/>
          <p:cNvSpPr/>
          <p:nvPr/>
        </p:nvSpPr>
        <p:spPr>
          <a:xfrm>
            <a:off x="841248" y="5532120"/>
            <a:ext cx="10479024" cy="4206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Célula de carga = elemento elástico + galgas. Los robots con control de par montan sensores de par en las articulaciones o una muñeca de fuerza-par en el efector (Corke, p. 364). Discusión: ¿por qué la manipulación diestra sigue limitada por el tacto?</a:t>
            </a:r>
            <a:endParaRPr lang="en-US" sz="1200" dirty="0"/>
          </a:p>
        </p:txBody>
      </p:sp>
      <p:sp>
        <p:nvSpPr>
          <p:cNvPr id="18" name="Text 15"/>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Fraden, 2016, pp. 215-216 y 355-359 · Corke, 2023, p. 364</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S10 · EXTEROCEPTIVOS + EJERCICIO</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Rango y selección de sensores</a:t>
            </a:r>
            <a:endParaRPr lang="en-US" sz="3000" dirty="0"/>
          </a:p>
        </p:txBody>
      </p:sp>
      <p:sp>
        <p:nvSpPr>
          <p:cNvPr id="4" name="Shape 2"/>
          <p:cNvSpPr/>
          <p:nvPr/>
        </p:nvSpPr>
        <p:spPr>
          <a:xfrm>
            <a:off x="640080" y="1554480"/>
            <a:ext cx="3474720" cy="2377440"/>
          </a:xfrm>
          <a:prstGeom prst="roundRect">
            <a:avLst>
              <a:gd name="adj" fmla="val 3077"/>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Ultrasonidos</a:t>
            </a:r>
            <a:endParaRPr lang="en-US" sz="1350" dirty="0"/>
          </a:p>
        </p:txBody>
      </p:sp>
      <p:sp>
        <p:nvSpPr>
          <p:cNvPr id="8" name="Text 6"/>
          <p:cNvSpPr/>
          <p:nvPr/>
        </p:nvSpPr>
        <p:spPr>
          <a:xfrm>
            <a:off x="841248" y="2331720"/>
            <a:ext cx="3072384" cy="14721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Tiempo de vuelo acústico: L = v·t·cosΘ/2; Doppler para velocidad. Baratos; limitados por la velocidad del sonido y el ancho del haz.</a:t>
            </a:r>
            <a:endParaRPr lang="en-US" sz="1100" dirty="0"/>
          </a:p>
        </p:txBody>
      </p:sp>
      <p:sp>
        <p:nvSpPr>
          <p:cNvPr id="9" name="Shape 7"/>
          <p:cNvSpPr/>
          <p:nvPr/>
        </p:nvSpPr>
        <p:spPr>
          <a:xfrm>
            <a:off x="4343400" y="1554480"/>
            <a:ext cx="3474720" cy="2377440"/>
          </a:xfrm>
          <a:prstGeom prst="roundRect">
            <a:avLst>
              <a:gd name="adj" fmla="val 3077"/>
            </a:avLst>
          </a:prstGeom>
          <a:solidFill>
            <a:srgbClr val="F2F4FB"/>
          </a:solidFill>
          <a:ln/>
        </p:spPr>
        <p:txBody>
          <a:bodyPr/>
          <a:p/>
        </p:txBody>
      </p:sp>
      <p:sp>
        <p:nvSpPr>
          <p:cNvPr id="10" name="Shape 8"/>
          <p:cNvSpPr/>
          <p:nvPr/>
        </p:nvSpPr>
        <p:spPr>
          <a:xfrm>
            <a:off x="4526280" y="1737360"/>
            <a:ext cx="457200" cy="457200"/>
          </a:xfrm>
          <a:prstGeom prst="ellipse">
            <a:avLst/>
          </a:prstGeom>
          <a:solidFill>
            <a:srgbClr val="2FD26E"/>
          </a:solidFill>
          <a:ln/>
        </p:spPr>
        <p:txBody>
          <a:bodyPr/>
          <a:p/>
        </p:txBody>
      </p:sp>
      <p:sp>
        <p:nvSpPr>
          <p:cNvPr id="11" name="Text 9"/>
          <p:cNvSpPr/>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120640" y="170078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LiDAR</a:t>
            </a:r>
            <a:endParaRPr lang="en-US" sz="1350" dirty="0"/>
          </a:p>
        </p:txBody>
      </p:sp>
      <p:sp>
        <p:nvSpPr>
          <p:cNvPr id="13" name="Text 11"/>
          <p:cNvSpPr/>
          <p:nvPr/>
        </p:nvSpPr>
        <p:spPr>
          <a:xfrm>
            <a:off x="4544568" y="2331720"/>
            <a:ext cx="3072384" cy="14721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Pulsos láser IR y tiempo de vuelo: hasta 100 m con exactitud centimétrica; 1D, 2D (sección polar) y 3D (abanico rotatorio, 0,25° y 40 barridos/s). Métrico y funciona a oscuras; peor a pleno sol, sin color, con piezas móviles.</a:t>
            </a:r>
            <a:endParaRPr lang="en-US" sz="1100" dirty="0"/>
          </a:p>
        </p:txBody>
      </p:sp>
      <p:sp>
        <p:nvSpPr>
          <p:cNvPr id="14" name="Shape 12"/>
          <p:cNvSpPr/>
          <p:nvPr/>
        </p:nvSpPr>
        <p:spPr>
          <a:xfrm>
            <a:off x="8046720" y="1554480"/>
            <a:ext cx="3474720" cy="2377440"/>
          </a:xfrm>
          <a:prstGeom prst="roundRect">
            <a:avLst>
              <a:gd name="adj" fmla="val 3077"/>
            </a:avLst>
          </a:prstGeom>
          <a:solidFill>
            <a:srgbClr val="F2F4FB"/>
          </a:solidFill>
          <a:ln/>
        </p:spPr>
        <p:txBody>
          <a:bodyPr/>
          <a:p/>
        </p:txBody>
      </p:sp>
      <p:sp>
        <p:nvSpPr>
          <p:cNvPr id="15" name="Shape 13"/>
          <p:cNvSpPr/>
          <p:nvPr/>
        </p:nvSpPr>
        <p:spPr>
          <a:xfrm>
            <a:off x="8229600" y="1737360"/>
            <a:ext cx="457200" cy="457200"/>
          </a:xfrm>
          <a:prstGeom prst="ellipse">
            <a:avLst/>
          </a:prstGeom>
          <a:solidFill>
            <a:srgbClr val="2FD26E"/>
          </a:solidFill>
          <a:ln/>
        </p:spPr>
        <p:txBody>
          <a:bodyPr/>
          <a:p/>
        </p:txBody>
      </p:sp>
      <p:sp>
        <p:nvSpPr>
          <p:cNvPr id="16" name="Text 14"/>
          <p:cNvSpPr/>
          <p:nvPr/>
        </p:nvSpPr>
        <p:spPr>
          <a:xfrm>
            <a:off x="822960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823960" y="170078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Cámaras de profundidad</a:t>
            </a:r>
            <a:endParaRPr lang="en-US" sz="1350" dirty="0"/>
          </a:p>
        </p:txBody>
      </p:sp>
      <p:sp>
        <p:nvSpPr>
          <p:cNvPr id="18" name="Text 16"/>
          <p:cNvSpPr/>
          <p:nvPr/>
        </p:nvSpPr>
        <p:spPr>
          <a:xfrm>
            <a:off x="8247888" y="2331720"/>
            <a:ext cx="3072384" cy="14721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Luz estructurada y tiempo de vuelo (RealSense/Kinect): imagen + distancia por píxel; baratas y ricas en textura, menos precisas en exteriores.</a:t>
            </a:r>
            <a:endParaRPr lang="en-US" sz="1100" dirty="0"/>
          </a:p>
        </p:txBody>
      </p:sp>
      <p:sp>
        <p:nvSpPr>
          <p:cNvPr id="19" name="Shape 17"/>
          <p:cNvSpPr/>
          <p:nvPr/>
        </p:nvSpPr>
        <p:spPr>
          <a:xfrm>
            <a:off x="640080" y="4206240"/>
            <a:ext cx="2057400" cy="1051560"/>
          </a:xfrm>
          <a:prstGeom prst="roundRect">
            <a:avLst>
              <a:gd name="adj" fmla="val 6957"/>
            </a:avLst>
          </a:prstGeom>
          <a:solidFill>
            <a:srgbClr val="E3F7EC"/>
          </a:solidFill>
          <a:ln/>
        </p:spPr>
        <p:txBody>
          <a:bodyPr/>
          <a:p/>
        </p:txBody>
      </p:sp>
      <p:sp>
        <p:nvSpPr>
          <p:cNvPr id="20" name="Text 18"/>
          <p:cNvSpPr/>
          <p:nvPr/>
        </p:nvSpPr>
        <p:spPr>
          <a:xfrm>
            <a:off x="841248" y="4315968"/>
            <a:ext cx="1655064" cy="8138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Magnitud y span</a:t>
            </a:r>
            <a:endParaRPr lang="en-US" sz="1150" dirty="0"/>
          </a:p>
        </p:txBody>
      </p:sp>
      <p:sp>
        <p:nvSpPr>
          <p:cNvPr id="21" name="Text 19"/>
          <p:cNvSpPr/>
          <p:nvPr/>
        </p:nvSpPr>
        <p:spPr>
          <a:xfrm>
            <a:off x="2670048" y="45262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2" name="Shape 20"/>
          <p:cNvSpPr/>
          <p:nvPr/>
        </p:nvSpPr>
        <p:spPr>
          <a:xfrm>
            <a:off x="2926080" y="4206240"/>
            <a:ext cx="2057400" cy="1051560"/>
          </a:xfrm>
          <a:prstGeom prst="roundRect">
            <a:avLst>
              <a:gd name="adj" fmla="val 6957"/>
            </a:avLst>
          </a:prstGeom>
          <a:solidFill>
            <a:srgbClr val="F2F4FB"/>
          </a:solidFill>
          <a:ln/>
        </p:spPr>
        <p:txBody>
          <a:bodyPr/>
          <a:p/>
        </p:txBody>
      </p:sp>
      <p:sp>
        <p:nvSpPr>
          <p:cNvPr id="23" name="Text 21"/>
          <p:cNvSpPr/>
          <p:nvPr/>
        </p:nvSpPr>
        <p:spPr>
          <a:xfrm>
            <a:off x="3127248" y="4315968"/>
            <a:ext cx="1655064" cy="8138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Resolución y ancho de banda</a:t>
            </a:r>
            <a:endParaRPr lang="en-US" sz="1150" dirty="0"/>
          </a:p>
        </p:txBody>
      </p:sp>
      <p:sp>
        <p:nvSpPr>
          <p:cNvPr id="24" name="Text 22"/>
          <p:cNvSpPr/>
          <p:nvPr/>
        </p:nvSpPr>
        <p:spPr>
          <a:xfrm>
            <a:off x="4956048" y="45262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5" name="Shape 23"/>
          <p:cNvSpPr/>
          <p:nvPr/>
        </p:nvSpPr>
        <p:spPr>
          <a:xfrm>
            <a:off x="5212080" y="4206240"/>
            <a:ext cx="2057400" cy="1051560"/>
          </a:xfrm>
          <a:prstGeom prst="roundRect">
            <a:avLst>
              <a:gd name="adj" fmla="val 6957"/>
            </a:avLst>
          </a:prstGeom>
          <a:solidFill>
            <a:srgbClr val="E3F7EC"/>
          </a:solidFill>
          <a:ln/>
        </p:spPr>
        <p:txBody>
          <a:bodyPr/>
          <a:p/>
        </p:txBody>
      </p:sp>
      <p:sp>
        <p:nvSpPr>
          <p:cNvPr id="26" name="Text 24"/>
          <p:cNvSpPr/>
          <p:nvPr/>
        </p:nvSpPr>
        <p:spPr>
          <a:xfrm>
            <a:off x="5413248" y="4315968"/>
            <a:ext cx="1655064" cy="8138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Muestreo por Nyquist</a:t>
            </a:r>
            <a:endParaRPr lang="en-US" sz="1150" dirty="0"/>
          </a:p>
        </p:txBody>
      </p:sp>
      <p:sp>
        <p:nvSpPr>
          <p:cNvPr id="27" name="Text 25"/>
          <p:cNvSpPr/>
          <p:nvPr/>
        </p:nvSpPr>
        <p:spPr>
          <a:xfrm>
            <a:off x="7242048" y="45262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8" name="Shape 26"/>
          <p:cNvSpPr/>
          <p:nvPr/>
        </p:nvSpPr>
        <p:spPr>
          <a:xfrm>
            <a:off x="7498080" y="4206240"/>
            <a:ext cx="2057400" cy="1051560"/>
          </a:xfrm>
          <a:prstGeom prst="roundRect">
            <a:avLst>
              <a:gd name="adj" fmla="val 6957"/>
            </a:avLst>
          </a:prstGeom>
          <a:solidFill>
            <a:srgbClr val="F2F4FB"/>
          </a:solidFill>
          <a:ln/>
        </p:spPr>
        <p:txBody>
          <a:bodyPr/>
          <a:p/>
        </p:txBody>
      </p:sp>
      <p:sp>
        <p:nvSpPr>
          <p:cNvPr id="29" name="Text 27"/>
          <p:cNvSpPr/>
          <p:nvPr/>
        </p:nvSpPr>
        <p:spPr>
          <a:xfrm>
            <a:off x="7699248" y="4315968"/>
            <a:ext cx="1655064" cy="8138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Entorno y coste</a:t>
            </a:r>
            <a:endParaRPr lang="en-US" sz="1150" dirty="0"/>
          </a:p>
        </p:txBody>
      </p:sp>
      <p:sp>
        <p:nvSpPr>
          <p:cNvPr id="30" name="Text 28"/>
          <p:cNvSpPr/>
          <p:nvPr/>
        </p:nvSpPr>
        <p:spPr>
          <a:xfrm>
            <a:off x="9528048" y="45262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31" name="Shape 29"/>
          <p:cNvSpPr/>
          <p:nvPr/>
        </p:nvSpPr>
        <p:spPr>
          <a:xfrm>
            <a:off x="9784080" y="4206240"/>
            <a:ext cx="2057400" cy="1051560"/>
          </a:xfrm>
          <a:prstGeom prst="roundRect">
            <a:avLst>
              <a:gd name="adj" fmla="val 6957"/>
            </a:avLst>
          </a:prstGeom>
          <a:solidFill>
            <a:srgbClr val="E3F7EC"/>
          </a:solidFill>
          <a:ln/>
        </p:spPr>
        <p:txBody>
          <a:bodyPr/>
          <a:p/>
        </p:txBody>
      </p:sp>
      <p:sp>
        <p:nvSpPr>
          <p:cNvPr id="32" name="Text 30"/>
          <p:cNvSpPr/>
          <p:nvPr/>
        </p:nvSpPr>
        <p:spPr>
          <a:xfrm>
            <a:off x="9985248" y="4315968"/>
            <a:ext cx="1655064" cy="8138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Decisión tipo MDQ</a:t>
            </a:r>
            <a:endParaRPr lang="en-US" sz="1150" dirty="0"/>
          </a:p>
        </p:txBody>
      </p:sp>
      <p:sp>
        <p:nvSpPr>
          <p:cNvPr id="33" name="Shape 31"/>
          <p:cNvSpPr/>
          <p:nvPr/>
        </p:nvSpPr>
        <p:spPr>
          <a:xfrm>
            <a:off x="640080" y="5486400"/>
            <a:ext cx="10881360" cy="777240"/>
          </a:xfrm>
          <a:prstGeom prst="roundRect">
            <a:avLst>
              <a:gd name="adj" fmla="val 9412"/>
            </a:avLst>
          </a:prstGeom>
          <a:solidFill>
            <a:srgbClr val="F2F4FB"/>
          </a:solidFill>
          <a:ln/>
        </p:spPr>
        <p:txBody>
          <a:bodyPr/>
          <a:p/>
        </p:txBody>
      </p:sp>
      <p:sp>
        <p:nvSpPr>
          <p:cNvPr id="34" name="Text 32"/>
          <p:cNvSpPr/>
          <p:nvPr/>
        </p:nvSpPr>
        <p:spPr>
          <a:xfrm>
            <a:off x="841248" y="5596128"/>
            <a:ext cx="10479024" cy="539496"/>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Ejercicio puntuable en parejas, (a) fuerza de agarre de una pinza (0-50 N, 100 Hz); (b) navegación de un AMR de interior; (c) vibración de un husillo a 8 kHz. Trampas del caso (c): derivar posición (Fraden, p. 327) o muestrear a 10 kHz (aliasing).</a:t>
            </a:r>
            <a:endParaRPr lang="en-US" sz="1100" dirty="0"/>
          </a:p>
        </p:txBody>
      </p:sp>
      <p:sp>
        <p:nvSpPr>
          <p:cNvPr id="36" name="Text 33"/>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Fraden, 2016, pp. 8, 314 y 332 · Corke, 2023, pp. 241-242 · De Silva et al., 2016, p. 152</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S11</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Actuadores eléctricos</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Motor DC y back-EMF · BLDC · paso a paso · servoaccionamientos y SEA</a:t>
            </a:r>
            <a:endParaRPr lang="en-US" sz="1600" dirty="0"/>
          </a:p>
        </p:txBody>
      </p:sp>
      <p:pic>
        <p:nvPicPr>
          <p:cNvPr id="8" name="Image 0" descr="/home/claude/work/curso_82514/media/fotos/b3_stepper.jpg">    </p:cNvPr>
          <p:cNvPicPr>
            <a:picLocks noChangeAspect="1"/>
          </p:cNvPicPr>
          <p:nvPr/>
        </p:nvPicPr>
        <p:blipFill>
          <a:blip r:embed="rId1"/>
          <a:stretch>
            <a:fillRect/>
          </a:stretch>
        </p:blipFill>
        <p:spPr>
          <a:xfrm>
            <a:off x="7818120" y="3249168"/>
            <a:ext cx="3749040" cy="2499360"/>
          </a:xfrm>
          <a:prstGeom prst="rect">
            <a:avLst/>
          </a:prstGeom>
        </p:spPr>
      </p:pic>
      <p:sp>
        <p:nvSpPr>
          <p:cNvPr id="9" name="Shape 6"/>
          <p:cNvSpPr/>
          <p:nvPr/>
        </p:nvSpPr>
        <p:spPr>
          <a:xfrm>
            <a:off x="7818120" y="5748528"/>
            <a:ext cx="3749040" cy="54864"/>
          </a:xfrm>
          <a:prstGeom prst="rect">
            <a:avLst/>
          </a:prstGeom>
          <a:solidFill>
            <a:srgbClr val="2FD26E"/>
          </a:solidFill>
          <a:ln/>
        </p:spPr>
        <p:txBody>
          <a:bodyPr/>
          <a:p/>
        </p:txBody>
      </p:sp>
      <p:sp>
        <p:nvSpPr>
          <p:cNvPr id="10" name="Text 7"/>
          <p:cNvSpPr/>
          <p:nvPr/>
        </p:nvSpPr>
        <p:spPr>
          <a:xfrm>
            <a:off x="7589520" y="587654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NEMA 17: el paso a paso de referencia</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oomlout CC BY-SA 2.0 · Wikimedia Commons</a:t>
            </a:r>
            <a:endParaRPr lang="en-US" sz="800" dirty="0"/>
          </a:p>
        </p:txBody>
      </p:sp>
      <p:sp>
        <p:nvSpPr>
          <p:cNvPr id="12" name="TextBox 11">
            <a:hlinkClick r:id="rId4"/>
          </p:cNvPr>
          <p:cNvSpPr txBox="1"/>
          <p:nvPr/>
        </p:nvSpPr>
        <p:spPr>
          <a:xfrm>
            <a:off x="2057400" y="3310128"/>
            <a:ext cx="5486400" cy="347472"/>
          </a:xfrm>
          <a:prstGeom prst="rect">
            <a:avLst/>
          </a:prstGeom>
          <a:noFill/>
        </p:spPr>
        <p:txBody>
          <a:bodyPr wrap="square" lIns="0" tIns="0" bIns="0" rIns="0">
            <a:noAutofit/>
          </a:bodyPr>
          <a:lstStyle/>
          <a:p>
            <a:pPr algn="l"/>
            <a:r>
              <a:rPr sz="1400" b="1">
                <a:solidFill>
                  <a:srgbClr val="2FD26E"/>
                </a:solidFill>
                <a:latin typeface="Calibri"/>
              </a:rPr>
              <a:t>▸  Abrir en Colab · cuaderno S11</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S8–S11 · FIGURAS DEL BLOQUE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Tres curvas que hay que saber leer</a:t>
            </a:r>
            <a:endParaRPr lang="en-US" sz="3000" dirty="0"/>
          </a:p>
        </p:txBody>
      </p:sp>
      <p:pic>
        <p:nvPicPr>
          <p:cNvPr id="4" name="Image 0" descr="/home/claude/work/curso_82514/media/figs/b3_histeresis.png">    </p:cNvPr>
          <p:cNvPicPr>
            <a:picLocks noChangeAspect="1"/>
          </p:cNvPicPr>
          <p:nvPr/>
        </p:nvPicPr>
        <p:blipFill>
          <a:blip r:embed="rId1"/>
          <a:stretch>
            <a:fillRect/>
          </a:stretch>
        </p:blipFill>
        <p:spPr>
          <a:xfrm>
            <a:off x="1380278" y="1371600"/>
            <a:ext cx="3868843" cy="2377440"/>
          </a:xfrm>
          <a:prstGeom prst="rect">
            <a:avLst/>
          </a:prstGeom>
        </p:spPr>
      </p:pic>
      <p:sp>
        <p:nvSpPr>
          <p:cNvPr id="5" name="Text 2"/>
          <p:cNvSpPr/>
          <p:nvPr/>
        </p:nvSpPr>
        <p:spPr>
          <a:xfrm>
            <a:off x="640080" y="378561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Histéresis: la salida depende del camino (S8)</a:t>
            </a:r>
            <a:endParaRPr lang="en-US" sz="1050" dirty="0"/>
          </a:p>
        </p:txBody>
      </p:sp>
      <p:pic>
        <p:nvPicPr>
          <p:cNvPr id="6" name="Image 1" descr="/home/claude/work/curso_82514/media/figs/b3_cuadratura.png">    </p:cNvPr>
          <p:cNvPicPr>
            <a:picLocks noChangeAspect="1"/>
          </p:cNvPicPr>
          <p:nvPr/>
        </p:nvPicPr>
        <p:blipFill>
          <a:blip r:embed="rId2"/>
          <a:stretch>
            <a:fillRect/>
          </a:stretch>
        </p:blipFill>
        <p:spPr>
          <a:xfrm>
            <a:off x="6722100" y="1371600"/>
            <a:ext cx="4249440" cy="2377440"/>
          </a:xfrm>
          <a:prstGeom prst="rect">
            <a:avLst/>
          </a:prstGeom>
        </p:spPr>
      </p:pic>
      <p:sp>
        <p:nvSpPr>
          <p:cNvPr id="7" name="Text 3"/>
          <p:cNvSpPr/>
          <p:nvPr/>
        </p:nvSpPr>
        <p:spPr>
          <a:xfrm>
            <a:off x="6172200" y="378561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Cuadratura A/B: cuenta y sentido de giro (S9)</a:t>
            </a:r>
            <a:endParaRPr lang="en-US" sz="1050" dirty="0"/>
          </a:p>
        </p:txBody>
      </p:sp>
      <p:pic>
        <p:nvPicPr>
          <p:cNvPr id="8" name="Image 2" descr="/home/claude/work/curso_82514/media/figs/b3_par_velocidad.png">    </p:cNvPr>
          <p:cNvPicPr>
            <a:picLocks noChangeAspect="1"/>
          </p:cNvPicPr>
          <p:nvPr/>
        </p:nvPicPr>
        <p:blipFill>
          <a:blip r:embed="rId3"/>
          <a:stretch>
            <a:fillRect/>
          </a:stretch>
        </p:blipFill>
        <p:spPr>
          <a:xfrm>
            <a:off x="4221639" y="4041648"/>
            <a:ext cx="3718243" cy="2240280"/>
          </a:xfrm>
          <a:prstGeom prst="rect">
            <a:avLst/>
          </a:prstGeom>
        </p:spPr>
      </p:pic>
      <p:sp>
        <p:nvSpPr>
          <p:cNvPr id="9" name="Text 4"/>
          <p:cNvSpPr/>
          <p:nvPr/>
        </p:nvSpPr>
        <p:spPr>
          <a:xfrm>
            <a:off x="3291840" y="6318504"/>
            <a:ext cx="55778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Curva par-velocidad y punto de operación (S11)</a:t>
            </a:r>
            <a:endParaRPr lang="en-US" sz="1050" dirty="0"/>
          </a:p>
        </p:txBody>
      </p:sp>
      <p:sp>
        <p:nvSpPr>
          <p:cNvPr id="10" name="Text 5"/>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Figuras propias del curso (generadas con los cuadernos de Colab)</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S11 · EL ACTUADOR DE REFERENCIA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El motor DC y la fuerza contraelectromotriz</a:t>
            </a:r>
            <a:endParaRPr lang="en-US" sz="3000" dirty="0"/>
          </a:p>
        </p:txBody>
      </p:sp>
      <p:sp>
        <p:nvSpPr>
          <p:cNvPr id="4" name="Text 2"/>
          <p:cNvSpPr/>
          <p:nvPr/>
        </p:nvSpPr>
        <p:spPr>
          <a:xfrm>
            <a:off x="640080" y="1463040"/>
            <a:ext cx="6675120" cy="2651760"/>
          </a:xfrm>
          <a:prstGeom prst="rect">
            <a:avLst/>
          </a:prstGeom>
          <a:noFill/>
          <a:ln/>
        </p:spPr>
        <p:txBody>
          <a:bodyPr wrap="square" lIns="0" tIns="0" rIns="0" bIns="0" rtlCol="0" anchor="t"/>
          <a:lstStyle/>
          <a:p>
            <a:pPr indent="0" marL="0">
              <a:spcAft>
                <a:spcPts val="400"/>
              </a:spcAft>
              <a:buNone/>
            </a:pPr>
            <a:r>
              <a:rPr lang="en-US" sz="1350" b="1" dirty="0">
                <a:solidFill>
                  <a:srgbClr val="1B2A80"/>
                </a:solidFill>
                <a:latin typeface="Calibri" pitchFamily="34" charset="0"/>
                <a:ea typeface="Calibri" pitchFamily="34" charset="-122"/>
                <a:cs typeface="Calibri" pitchFamily="34" charset="-120"/>
              </a:rPr>
              <a:t>Modelo completo (De Silva, p. 91): mecánica, malla eléctrica y acoplo par-corriente</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Back-EMF: un motor que gira actúa como generador, Vb = Km·ω se opone a la corriente; cuando iguala la tensión del amplificador el par cae a cero, cota de velocidad y amortiguamiento aparente (Corke, p. 346).</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De ahí sale la curva par-velocidad lineal a tensión constante: par máximo a rotor parado, velocidad máxima sin carga. Fricción real: viscosa B·ω + Coulomb, perturbación del control (B5).</a:t>
            </a:r>
            <a:endParaRPr lang="en-US" sz="1350" dirty="0"/>
          </a:p>
        </p:txBody>
      </p:sp>
      <p:pic>
        <p:nvPicPr>
          <p:cNvPr id="5" name="Image 0" descr="/home/claude/work/curso_82514/media/eq/motor3.png">    </p:cNvPr>
          <p:cNvPicPr>
            <a:picLocks noChangeAspect="1"/>
          </p:cNvPicPr>
          <p:nvPr/>
        </p:nvPicPr>
        <p:blipFill>
          <a:blip r:embed="rId1"/>
          <a:stretch>
            <a:fillRect/>
          </a:stretch>
        </p:blipFill>
        <p:spPr>
          <a:xfrm>
            <a:off x="1849297" y="4160520"/>
            <a:ext cx="2976526" cy="1481328"/>
          </a:xfrm>
          <a:prstGeom prst="rect">
            <a:avLst/>
          </a:prstGeom>
        </p:spPr>
      </p:pic>
      <p:sp>
        <p:nvSpPr>
          <p:cNvPr id="6" name="Text 3"/>
          <p:cNvSpPr/>
          <p:nvPr/>
        </p:nvSpPr>
        <p:spPr>
          <a:xfrm>
            <a:off x="868680" y="5852160"/>
            <a:ext cx="6400800" cy="365760"/>
          </a:xfrm>
          <a:prstGeom prst="rect">
            <a:avLst/>
          </a:prstGeom>
          <a:noFill/>
          <a:ln/>
        </p:spPr>
        <p:txBody>
          <a:bodyPr wrap="square" lIns="0" tIns="0" rIns="0" bIns="0" rtlCol="0" anchor="ctr"/>
          <a:lstStyle/>
          <a:p>
            <a:pPr indent="0" marL="0">
              <a:buNone/>
            </a:pPr>
            <a:r>
              <a:rPr lang="en-US" sz="1150" dirty="0">
                <a:solidFill>
                  <a:srgbClr val="595959"/>
                </a:solidFill>
                <a:latin typeface="Calibri" pitchFamily="34" charset="0"/>
                <a:ea typeface="Calibri" pitchFamily="34" charset="-122"/>
                <a:cs typeface="Calibri" pitchFamily="34" charset="-120"/>
              </a:rPr>
              <a:t>Simplificación útil: la constante de tiempo eléctrica « la mecánica → se desprecia el transitorio eléctrico.</a:t>
            </a:r>
            <a:endParaRPr lang="en-US" sz="1150" dirty="0"/>
          </a:p>
        </p:txBody>
      </p:sp>
      <p:sp>
        <p:nvSpPr>
          <p:cNvPr id="7" name="Shape 4"/>
          <p:cNvSpPr/>
          <p:nvPr/>
        </p:nvSpPr>
        <p:spPr>
          <a:xfrm>
            <a:off x="7589520" y="1463040"/>
            <a:ext cx="3931920" cy="914400"/>
          </a:xfrm>
          <a:prstGeom prst="roundRect">
            <a:avLst>
              <a:gd name="adj" fmla="val 8000"/>
            </a:avLst>
          </a:prstGeom>
          <a:solidFill>
            <a:srgbClr val="E3F7EC"/>
          </a:solidFill>
          <a:ln/>
        </p:spPr>
        <p:txBody>
          <a:bodyPr/>
          <a:p/>
        </p:txBody>
      </p:sp>
      <p:sp>
        <p:nvSpPr>
          <p:cNvPr id="8" name="Text 5"/>
          <p:cNvSpPr/>
          <p:nvPr/>
        </p:nvSpPr>
        <p:spPr>
          <a:xfrm>
            <a:off x="7790688" y="1572768"/>
            <a:ext cx="3529584" cy="67665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Amplificador de potencia · tensión / corriente</a:t>
            </a:r>
            <a:endParaRPr lang="en-US" sz="1150" dirty="0"/>
          </a:p>
        </p:txBody>
      </p:sp>
      <p:sp>
        <p:nvSpPr>
          <p:cNvPr id="9" name="Text 6"/>
          <p:cNvSpPr/>
          <p:nvPr/>
        </p:nvSpPr>
        <p:spPr>
          <a:xfrm>
            <a:off x="9372600" y="2313432"/>
            <a:ext cx="365760" cy="36576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10" name="Shape 7"/>
          <p:cNvSpPr/>
          <p:nvPr/>
        </p:nvSpPr>
        <p:spPr>
          <a:xfrm>
            <a:off x="7589520" y="2670048"/>
            <a:ext cx="3931920" cy="914400"/>
          </a:xfrm>
          <a:prstGeom prst="roundRect">
            <a:avLst>
              <a:gd name="adj" fmla="val 8000"/>
            </a:avLst>
          </a:prstGeom>
          <a:solidFill>
            <a:srgbClr val="F2F4FB"/>
          </a:solidFill>
          <a:ln/>
        </p:spPr>
        <p:txBody>
          <a:bodyPr/>
          <a:p/>
        </p:txBody>
      </p:sp>
      <p:sp>
        <p:nvSpPr>
          <p:cNvPr id="11" name="Text 8"/>
          <p:cNvSpPr/>
          <p:nvPr/>
        </p:nvSpPr>
        <p:spPr>
          <a:xfrm>
            <a:off x="7790688" y="2779776"/>
            <a:ext cx="3529584" cy="67665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Motor DC · τ = Kt·i</a:t>
            </a:r>
            <a:endParaRPr lang="en-US" sz="1150" dirty="0"/>
          </a:p>
        </p:txBody>
      </p:sp>
      <p:sp>
        <p:nvSpPr>
          <p:cNvPr id="12" name="Text 9"/>
          <p:cNvSpPr/>
          <p:nvPr/>
        </p:nvSpPr>
        <p:spPr>
          <a:xfrm>
            <a:off x="9372600" y="3520440"/>
            <a:ext cx="365760" cy="36576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13" name="Shape 10"/>
          <p:cNvSpPr/>
          <p:nvPr/>
        </p:nvSpPr>
        <p:spPr>
          <a:xfrm>
            <a:off x="7589520" y="3877056"/>
            <a:ext cx="3931920" cy="914400"/>
          </a:xfrm>
          <a:prstGeom prst="roundRect">
            <a:avLst>
              <a:gd name="adj" fmla="val 8000"/>
            </a:avLst>
          </a:prstGeom>
          <a:solidFill>
            <a:srgbClr val="E3F7EC"/>
          </a:solidFill>
          <a:ln/>
        </p:spPr>
        <p:txBody>
          <a:bodyPr/>
          <a:p/>
        </p:txBody>
      </p:sp>
      <p:sp>
        <p:nvSpPr>
          <p:cNvPr id="14" name="Text 11"/>
          <p:cNvSpPr/>
          <p:nvPr/>
        </p:nvSpPr>
        <p:spPr>
          <a:xfrm>
            <a:off x="7790688" y="3986784"/>
            <a:ext cx="3529584" cy="67665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Encoder · posición y velocidad</a:t>
            </a:r>
            <a:endParaRPr lang="en-US" sz="1150" dirty="0"/>
          </a:p>
        </p:txBody>
      </p:sp>
      <p:sp>
        <p:nvSpPr>
          <p:cNvPr id="15" name="Text 12"/>
          <p:cNvSpPr/>
          <p:nvPr/>
        </p:nvSpPr>
        <p:spPr>
          <a:xfrm>
            <a:off x="9372600" y="4727448"/>
            <a:ext cx="365760" cy="36576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16" name="Shape 13"/>
          <p:cNvSpPr/>
          <p:nvPr/>
        </p:nvSpPr>
        <p:spPr>
          <a:xfrm>
            <a:off x="7589520" y="5084064"/>
            <a:ext cx="3931920" cy="914400"/>
          </a:xfrm>
          <a:prstGeom prst="roundRect">
            <a:avLst>
              <a:gd name="adj" fmla="val 8000"/>
            </a:avLst>
          </a:prstGeom>
          <a:solidFill>
            <a:srgbClr val="F2F4FB"/>
          </a:solidFill>
          <a:ln/>
        </p:spPr>
        <p:txBody>
          <a:bodyPr/>
          <a:p/>
        </p:txBody>
      </p:sp>
      <p:sp>
        <p:nvSpPr>
          <p:cNvPr id="17" name="Text 14"/>
          <p:cNvSpPr/>
          <p:nvPr/>
        </p:nvSpPr>
        <p:spPr>
          <a:xfrm>
            <a:off x="7790688" y="5193792"/>
            <a:ext cx="3529584" cy="67665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Inercia + fricción · la carga mecánica</a:t>
            </a:r>
            <a:endParaRPr lang="en-US" sz="1150" dirty="0"/>
          </a:p>
        </p:txBody>
      </p:sp>
      <p:sp>
        <p:nvSpPr>
          <p:cNvPr id="19" name="Text 15"/>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 Silva et al., 2016, p. 91 · Corke, 2023, pp. 335-346</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S11 · MAPA DE ACCIONAMIENTOS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BLDC, paso a paso y servoaccionamientos</a:t>
            </a:r>
            <a:endParaRPr lang="en-US" sz="3000" dirty="0"/>
          </a:p>
        </p:txBody>
      </p:sp>
      <p:sp>
        <p:nvSpPr>
          <p:cNvPr id="4" name="Shape 2"/>
          <p:cNvSpPr/>
          <p:nvPr/>
        </p:nvSpPr>
        <p:spPr>
          <a:xfrm>
            <a:off x="640080" y="1554480"/>
            <a:ext cx="5349240" cy="1920240"/>
          </a:xfrm>
          <a:prstGeom prst="roundRect">
            <a:avLst>
              <a:gd name="adj" fmla="val 3810"/>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438912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DC de escobillas</a:t>
            </a:r>
            <a:endParaRPr lang="en-US" sz="1350" dirty="0"/>
          </a:p>
        </p:txBody>
      </p:sp>
      <p:sp>
        <p:nvSpPr>
          <p:cNvPr id="8" name="Text 6"/>
          <p:cNvSpPr/>
          <p:nvPr/>
        </p:nvSpPr>
        <p:spPr>
          <a:xfrm>
            <a:off x="841248" y="2331720"/>
            <a:ext cx="4946904" cy="1014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Barato y simple; escobillas con desgaste y chispas. Robots pequeños y de hobby.</a:t>
            </a:r>
            <a:endParaRPr lang="en-US" sz="1150" dirty="0"/>
          </a:p>
        </p:txBody>
      </p:sp>
      <p:sp>
        <p:nvSpPr>
          <p:cNvPr id="9" name="Shape 7"/>
          <p:cNvSpPr/>
          <p:nvPr/>
        </p:nvSpPr>
        <p:spPr>
          <a:xfrm>
            <a:off x="6217920" y="1554480"/>
            <a:ext cx="5349240" cy="1920240"/>
          </a:xfrm>
          <a:prstGeom prst="roundRect">
            <a:avLst>
              <a:gd name="adj" fmla="val 3810"/>
            </a:avLst>
          </a:prstGeom>
          <a:solidFill>
            <a:srgbClr val="F2F4FB"/>
          </a:solidFill>
          <a:ln/>
        </p:spPr>
        <p:txBody>
          <a:bodyPr/>
          <a:p/>
        </p:txBody>
      </p:sp>
      <p:sp>
        <p:nvSpPr>
          <p:cNvPr id="10" name="Shape 8"/>
          <p:cNvSpPr/>
          <p:nvPr/>
        </p:nvSpPr>
        <p:spPr>
          <a:xfrm>
            <a:off x="6400800" y="1737360"/>
            <a:ext cx="457200" cy="457200"/>
          </a:xfrm>
          <a:prstGeom prst="ellipse">
            <a:avLst/>
          </a:prstGeom>
          <a:solidFill>
            <a:srgbClr val="2FD26E"/>
          </a:solidFill>
          <a:ln/>
        </p:spPr>
        <p:txBody>
          <a:bodyPr/>
          <a:p/>
        </p:txBody>
      </p:sp>
      <p:sp>
        <p:nvSpPr>
          <p:cNvPr id="11" name="Text 9"/>
          <p:cNvSpPr/>
          <p:nvPr/>
        </p:nvSpPr>
        <p:spPr>
          <a:xfrm>
            <a:off x="640080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6995160" y="1700784"/>
            <a:ext cx="438912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BLDC</a:t>
            </a:r>
            <a:endParaRPr lang="en-US" sz="1350" dirty="0"/>
          </a:p>
        </p:txBody>
      </p:sp>
      <p:sp>
        <p:nvSpPr>
          <p:cNvPr id="13" name="Text 11"/>
          <p:cNvSpPr/>
          <p:nvPr/>
        </p:nvSpPr>
        <p:spPr>
          <a:xfrm>
            <a:off x="6419088" y="2331720"/>
            <a:ext cx="4946904" cy="1014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Imanes al rotor, bobinados al estátor; conmutación electrónica con sensores Hall o sensorless. Sin desgaste, mejor disipación, más par por volumen: el estándar de los industriales.</a:t>
            </a:r>
            <a:endParaRPr lang="en-US" sz="1150" dirty="0"/>
          </a:p>
        </p:txBody>
      </p:sp>
      <p:sp>
        <p:nvSpPr>
          <p:cNvPr id="14" name="Shape 12"/>
          <p:cNvSpPr/>
          <p:nvPr/>
        </p:nvSpPr>
        <p:spPr>
          <a:xfrm>
            <a:off x="640080" y="3657600"/>
            <a:ext cx="5349240" cy="1920240"/>
          </a:xfrm>
          <a:prstGeom prst="roundRect">
            <a:avLst>
              <a:gd name="adj" fmla="val 3810"/>
            </a:avLst>
          </a:prstGeom>
          <a:solidFill>
            <a:srgbClr val="F2F4FB"/>
          </a:solidFill>
          <a:ln/>
        </p:spPr>
        <p:txBody>
          <a:bodyPr/>
          <a:p/>
        </p:txBody>
      </p:sp>
      <p:sp>
        <p:nvSpPr>
          <p:cNvPr id="15" name="Shape 13"/>
          <p:cNvSpPr/>
          <p:nvPr/>
        </p:nvSpPr>
        <p:spPr>
          <a:xfrm>
            <a:off x="822960" y="3840480"/>
            <a:ext cx="457200" cy="457200"/>
          </a:xfrm>
          <a:prstGeom prst="ellipse">
            <a:avLst/>
          </a:prstGeom>
          <a:solidFill>
            <a:srgbClr val="2FD26E"/>
          </a:solidFill>
          <a:ln/>
        </p:spPr>
        <p:txBody>
          <a:bodyPr/>
          <a:p/>
        </p:txBody>
      </p:sp>
      <p:sp>
        <p:nvSpPr>
          <p:cNvPr id="16" name="Text 14"/>
          <p:cNvSpPr/>
          <p:nvPr/>
        </p:nvSpPr>
        <p:spPr>
          <a:xfrm>
            <a:off x="822960" y="38404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3803904"/>
            <a:ext cx="438912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Paso a paso</a:t>
            </a:r>
            <a:endParaRPr lang="en-US" sz="1350" dirty="0"/>
          </a:p>
        </p:txBody>
      </p:sp>
      <p:sp>
        <p:nvSpPr>
          <p:cNvPr id="18" name="Text 16"/>
          <p:cNvSpPr/>
          <p:nvPr/>
        </p:nvSpPr>
        <p:spPr>
          <a:xfrm>
            <a:off x="841248" y="4434840"/>
            <a:ext cx="4946904" cy="1014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Avance en pasos discretos: posiciona en lazo abierto contando pasos; pierde pasos bajo sobrecarga; microstepping para suavizar.</a:t>
            </a:r>
            <a:endParaRPr lang="en-US" sz="1150" dirty="0"/>
          </a:p>
        </p:txBody>
      </p:sp>
      <p:sp>
        <p:nvSpPr>
          <p:cNvPr id="19" name="Shape 17"/>
          <p:cNvSpPr/>
          <p:nvPr/>
        </p:nvSpPr>
        <p:spPr>
          <a:xfrm>
            <a:off x="6217920" y="3657600"/>
            <a:ext cx="5349240" cy="1920240"/>
          </a:xfrm>
          <a:prstGeom prst="roundRect">
            <a:avLst>
              <a:gd name="adj" fmla="val 3810"/>
            </a:avLst>
          </a:prstGeom>
          <a:solidFill>
            <a:srgbClr val="F2F4FB"/>
          </a:solidFill>
          <a:ln/>
        </p:spPr>
        <p:txBody>
          <a:bodyPr/>
          <a:p/>
        </p:txBody>
      </p:sp>
      <p:sp>
        <p:nvSpPr>
          <p:cNvPr id="20" name="Shape 18"/>
          <p:cNvSpPr/>
          <p:nvPr/>
        </p:nvSpPr>
        <p:spPr>
          <a:xfrm>
            <a:off x="6400800" y="3840480"/>
            <a:ext cx="457200" cy="457200"/>
          </a:xfrm>
          <a:prstGeom prst="ellipse">
            <a:avLst/>
          </a:prstGeom>
          <a:solidFill>
            <a:srgbClr val="2FD26E"/>
          </a:solidFill>
          <a:ln/>
        </p:spPr>
        <p:txBody>
          <a:bodyPr/>
          <a:p/>
        </p:txBody>
      </p:sp>
      <p:sp>
        <p:nvSpPr>
          <p:cNvPr id="21" name="Text 19"/>
          <p:cNvSpPr/>
          <p:nvPr/>
        </p:nvSpPr>
        <p:spPr>
          <a:xfrm>
            <a:off x="6400800" y="38404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995160" y="3803904"/>
            <a:ext cx="438912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Servoaccionamiento</a:t>
            </a:r>
            <a:endParaRPr lang="en-US" sz="1350" dirty="0"/>
          </a:p>
        </p:txBody>
      </p:sp>
      <p:sp>
        <p:nvSpPr>
          <p:cNvPr id="23" name="Text 21"/>
          <p:cNvSpPr/>
          <p:nvPr/>
        </p:nvSpPr>
        <p:spPr>
          <a:xfrm>
            <a:off x="6419088" y="4434840"/>
            <a:ext cx="4946904" cy="10149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Lazo anidado: velocidad dentro, posición fuera; prealimentación de velocidad para reducir el error de seguimiento. El control de par exige medición de par integrada.</a:t>
            </a:r>
            <a:endParaRPr lang="en-US" sz="1150" dirty="0"/>
          </a:p>
        </p:txBody>
      </p:sp>
      <p:sp>
        <p:nvSpPr>
          <p:cNvPr id="24" name="Shape 22"/>
          <p:cNvSpPr/>
          <p:nvPr/>
        </p:nvSpPr>
        <p:spPr>
          <a:xfrm>
            <a:off x="640080" y="5669280"/>
            <a:ext cx="10881360" cy="685800"/>
          </a:xfrm>
          <a:prstGeom prst="roundRect">
            <a:avLst>
              <a:gd name="adj" fmla="val 10667"/>
            </a:avLst>
          </a:prstGeom>
          <a:solidFill>
            <a:srgbClr val="E3F7EC"/>
          </a:solidFill>
          <a:ln/>
        </p:spPr>
        <p:txBody>
          <a:bodyPr/>
          <a:p/>
        </p:txBody>
      </p:sp>
      <p:sp>
        <p:nvSpPr>
          <p:cNvPr id="25" name="Text 23"/>
          <p:cNvSpPr/>
          <p:nvPr/>
        </p:nvSpPr>
        <p:spPr>
          <a:xfrm>
            <a:off x="841248" y="5779008"/>
            <a:ext cx="10479024" cy="44805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Actuador serie-elástico (SEA): motor y carga unidos por un muelle → control de fuerza y operación segura junto a personas (Corke, pp. 367-370), el hardware coherente con los cobots de S7.</a:t>
            </a:r>
            <a:endParaRPr lang="en-US" sz="1150" dirty="0"/>
          </a:p>
        </p:txBody>
      </p:sp>
      <p:sp>
        <p:nvSpPr>
          <p:cNvPr id="27" name="Text 2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334-346 y 364-370 · Fraden, 2016, p. 293</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S12</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Hidráulica, neumática y reductoras</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Mapa de actuación · inercia reflejada · selección motor-reductora · cuestionario B3</a:t>
            </a:r>
            <a:endParaRPr lang="en-US" sz="1600" dirty="0"/>
          </a:p>
        </p:txBody>
      </p:sp>
      <p:pic>
        <p:nvPicPr>
          <p:cNvPr id="8" name="Image 0" descr="/home/claude/work/curso_82514/media/fotos/b3_harmonic.jpg">    </p:cNvPr>
          <p:cNvPicPr>
            <a:picLocks noChangeAspect="1"/>
          </p:cNvPicPr>
          <p:nvPr/>
        </p:nvPicPr>
        <p:blipFill>
          <a:blip r:embed="rId1"/>
          <a:stretch>
            <a:fillRect/>
          </a:stretch>
        </p:blipFill>
        <p:spPr>
          <a:xfrm>
            <a:off x="8249282" y="3035808"/>
            <a:ext cx="2886716" cy="2926080"/>
          </a:xfrm>
          <a:prstGeom prst="rect">
            <a:avLst/>
          </a:prstGeom>
        </p:spPr>
      </p:pic>
      <p:sp>
        <p:nvSpPr>
          <p:cNvPr id="9" name="Shape 6"/>
          <p:cNvSpPr/>
          <p:nvPr/>
        </p:nvSpPr>
        <p:spPr>
          <a:xfrm>
            <a:off x="8249282" y="5961888"/>
            <a:ext cx="2886716" cy="54864"/>
          </a:xfrm>
          <a:prstGeom prst="rect">
            <a:avLst/>
          </a:prstGeom>
          <a:solidFill>
            <a:srgbClr val="2FD26E"/>
          </a:solidFill>
          <a:ln/>
        </p:spPr>
        <p:txBody>
          <a:bodyPr/>
          <a:p/>
        </p:txBody>
      </p:sp>
      <p:sp>
        <p:nvSpPr>
          <p:cNvPr id="10" name="Text 7"/>
          <p:cNvSpPr/>
          <p:nvPr/>
        </p:nvSpPr>
        <p:spPr>
          <a:xfrm>
            <a:off x="7589520" y="608990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Harmonic drive: reducción alta sin holgura</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wdwd CC BY-SA 4.0 · Wikimedia Commons</a:t>
            </a:r>
            <a:endParaRPr lang="en-US" sz="800" dirty="0"/>
          </a:p>
        </p:txBody>
      </p:sp>
      <p:sp>
        <p:nvSpPr>
          <p:cNvPr id="12" name="TextBox 11">
            <a:hlinkClick r:id="rId4"/>
          </p:cNvPr>
          <p:cNvSpPr txBox="1"/>
          <p:nvPr/>
        </p:nvSpPr>
        <p:spPr>
          <a:xfrm>
            <a:off x="2057400" y="3310128"/>
            <a:ext cx="5486400" cy="347472"/>
          </a:xfrm>
          <a:prstGeom prst="rect">
            <a:avLst/>
          </a:prstGeom>
          <a:noFill/>
        </p:spPr>
        <p:txBody>
          <a:bodyPr wrap="square" lIns="0" tIns="0" bIns="0" rIns="0">
            <a:noAutofit/>
          </a:bodyPr>
          <a:lstStyle/>
          <a:p>
            <a:pPr algn="l"/>
            <a:r>
              <a:rPr sz="1400" b="1">
                <a:solidFill>
                  <a:srgbClr val="2FD26E"/>
                </a:solidFill>
                <a:latin typeface="Calibri"/>
              </a:rPr>
              <a:t>▸  Abrir en Colab · cuaderno S12</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S11–S12 · HARDWARE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Actuadores y transmisiones, de cerca</a:t>
            </a:r>
            <a:endParaRPr lang="en-US" sz="3000" dirty="0"/>
          </a:p>
        </p:txBody>
      </p:sp>
      <p:pic>
        <p:nvPicPr>
          <p:cNvPr id="4" name="Image 0" descr="/home/claude/work/curso_82514/media/fotos/b3_stepper.jpg">    </p:cNvPr>
          <p:cNvPicPr>
            <a:picLocks noChangeAspect="1"/>
          </p:cNvPicPr>
          <p:nvPr/>
        </p:nvPicPr>
        <p:blipFill>
          <a:blip r:embed="rId1"/>
          <a:stretch>
            <a:fillRect/>
          </a:stretch>
        </p:blipFill>
        <p:spPr>
          <a:xfrm>
            <a:off x="640080" y="2438400"/>
            <a:ext cx="3520440" cy="2346960"/>
          </a:xfrm>
          <a:prstGeom prst="rect">
            <a:avLst/>
          </a:prstGeom>
        </p:spPr>
      </p:pic>
      <p:sp>
        <p:nvSpPr>
          <p:cNvPr id="5" name="Text 2"/>
          <p:cNvSpPr/>
          <p:nvPr/>
        </p:nvSpPr>
        <p:spPr>
          <a:xfrm>
            <a:off x="640080" y="4821936"/>
            <a:ext cx="35204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Paso a paso NEMA 17: posicionar en lazo abierto contando pasos</a:t>
            </a:r>
            <a:endParaRPr lang="en-US" sz="1050" dirty="0"/>
          </a:p>
        </p:txBody>
      </p:sp>
      <p:pic>
        <p:nvPicPr>
          <p:cNvPr id="6" name="Image 1" descr="/home/claude/work/curso_82514/media/fotos/b3_harmonic.jpg">    </p:cNvPr>
          <p:cNvPicPr>
            <a:picLocks noChangeAspect="1"/>
          </p:cNvPicPr>
          <p:nvPr/>
        </p:nvPicPr>
        <p:blipFill>
          <a:blip r:embed="rId2"/>
          <a:stretch>
            <a:fillRect/>
          </a:stretch>
        </p:blipFill>
        <p:spPr>
          <a:xfrm>
            <a:off x="4315968" y="1827657"/>
            <a:ext cx="3520440" cy="3568446"/>
          </a:xfrm>
          <a:prstGeom prst="rect">
            <a:avLst/>
          </a:prstGeom>
        </p:spPr>
      </p:pic>
      <p:sp>
        <p:nvSpPr>
          <p:cNvPr id="7" name="Text 3"/>
          <p:cNvSpPr/>
          <p:nvPr/>
        </p:nvSpPr>
        <p:spPr>
          <a:xfrm>
            <a:off x="4315968" y="5432679"/>
            <a:ext cx="35204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Harmonic drive: la reductora de las articulaciones robóticas</a:t>
            </a:r>
            <a:endParaRPr lang="en-US" sz="1050" dirty="0"/>
          </a:p>
        </p:txBody>
      </p:sp>
      <p:pic>
        <p:nvPicPr>
          <p:cNvPr id="8" name="Image 2" descr="/home/claude/work/curso_82514/media/fotos/b2_cobot3.png">    </p:cNvPr>
          <p:cNvPicPr>
            <a:picLocks noChangeAspect="1"/>
          </p:cNvPicPr>
          <p:nvPr/>
        </p:nvPicPr>
        <p:blipFill>
          <a:blip r:embed="rId3"/>
          <a:stretch>
            <a:fillRect/>
          </a:stretch>
        </p:blipFill>
        <p:spPr>
          <a:xfrm>
            <a:off x="7991856" y="2168700"/>
            <a:ext cx="3566160" cy="2886361"/>
          </a:xfrm>
          <a:prstGeom prst="rect">
            <a:avLst/>
          </a:prstGeom>
        </p:spPr>
      </p:pic>
      <p:sp>
        <p:nvSpPr>
          <p:cNvPr id="9" name="Text 4"/>
          <p:cNvSpPr/>
          <p:nvPr/>
        </p:nvSpPr>
        <p:spPr>
          <a:xfrm>
            <a:off x="7991856" y="5091636"/>
            <a:ext cx="356616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UR16e: seis servoaccionamientos y un sensor fuerza-par en la brida</a:t>
            </a:r>
            <a:endParaRPr lang="en-US" sz="1050" dirty="0"/>
          </a:p>
        </p:txBody>
      </p:sp>
      <p:sp>
        <p:nvSpPr>
          <p:cNvPr id="10" name="Text 5"/>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Fotos: oomlout CC BY-SA 2.0 · wdwd CC BY-SA 4.0 · Auledas CC BY-SA 4.0 · Wikimedia Commons</a:t>
            </a:r>
            <a:endParaRPr lang="en-US" sz="10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S12 · MÁS ALLÁ DEL MOTOR ELÉCTRICO</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Hidráulica y neumática</a:t>
            </a:r>
            <a:endParaRPr lang="en-US" sz="3000" dirty="0"/>
          </a:p>
        </p:txBody>
      </p:sp>
      <p:sp>
        <p:nvSpPr>
          <p:cNvPr id="4" name="Shape 2"/>
          <p:cNvSpPr/>
          <p:nvPr/>
        </p:nvSpPr>
        <p:spPr>
          <a:xfrm>
            <a:off x="640080" y="1554480"/>
            <a:ext cx="5394960" cy="3017520"/>
          </a:xfrm>
          <a:prstGeom prst="roundRect">
            <a:avLst>
              <a:gd name="adj" fmla="val 2424"/>
            </a:avLst>
          </a:prstGeom>
          <a:solidFill>
            <a:srgbClr val="F2F4FB"/>
          </a:solidFill>
          <a:ln/>
        </p:spPr>
        <p:txBody>
          <a:bodyPr/>
          <a:p/>
        </p:txBody>
      </p:sp>
      <p:sp>
        <p:nvSpPr>
          <p:cNvPr id="5" name="Text 3"/>
          <p:cNvSpPr/>
          <p:nvPr/>
        </p:nvSpPr>
        <p:spPr>
          <a:xfrm>
            <a:off x="841248" y="170078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Hidráulica</a:t>
            </a:r>
            <a:endParaRPr lang="en-US" sz="1500" dirty="0"/>
          </a:p>
        </p:txBody>
      </p:sp>
      <p:sp>
        <p:nvSpPr>
          <p:cNvPr id="6" name="Text 4"/>
          <p:cNvSpPr/>
          <p:nvPr/>
        </p:nvSpPr>
        <p:spPr>
          <a:xfrm>
            <a:off x="841248" y="2194560"/>
            <a:ext cx="4992624" cy="22494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«Para fuerzas muy altas es común la actuación electrohidráulica: hidráulica con válvulas operadas eléctricamente» (Corke).</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Circuito: grupo de presión (bomba + depósito + acumulador) → servoválvulas → cilindro o motor.</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A favor: densidad de fuerza altísima, mantiene carga. En contra: coste, fugas, ruido, rendimiento.</a:t>
            </a:r>
            <a:endParaRPr lang="en-US" sz="1200" dirty="0"/>
          </a:p>
        </p:txBody>
      </p:sp>
      <p:sp>
        <p:nvSpPr>
          <p:cNvPr id="7" name="Shape 5"/>
          <p:cNvSpPr/>
          <p:nvPr/>
        </p:nvSpPr>
        <p:spPr>
          <a:xfrm>
            <a:off x="6263640" y="1554480"/>
            <a:ext cx="5257800" cy="3017520"/>
          </a:xfrm>
          <a:prstGeom prst="roundRect">
            <a:avLst>
              <a:gd name="adj" fmla="val 2424"/>
            </a:avLst>
          </a:prstGeom>
          <a:solidFill>
            <a:srgbClr val="F2F4FB"/>
          </a:solidFill>
          <a:ln/>
        </p:spPr>
        <p:txBody>
          <a:bodyPr/>
          <a:p/>
        </p:txBody>
      </p:sp>
      <p:sp>
        <p:nvSpPr>
          <p:cNvPr id="8" name="Text 6"/>
          <p:cNvSpPr/>
          <p:nvPr/>
        </p:nvSpPr>
        <p:spPr>
          <a:xfrm>
            <a:off x="6464808" y="170078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Neumática</a:t>
            </a:r>
            <a:endParaRPr lang="en-US" sz="1500" dirty="0"/>
          </a:p>
        </p:txBody>
      </p:sp>
      <p:sp>
        <p:nvSpPr>
          <p:cNvPr id="9" name="Text 7"/>
          <p:cNvSpPr/>
          <p:nvPr/>
        </p:nvSpPr>
        <p:spPr>
          <a:xfrm>
            <a:off x="6464808" y="2194560"/>
            <a:ext cx="4855464" cy="22494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«Posible aunque poco común; con la ventaja de generar movimiento siendo naturalmente flexible (compliant)» (Corke).</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Limpia, barata y rápida, pero de baja rigidez por la compresibilidad del aire.</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Dominio típico: pinzas y clasificadores de alta cadencia.</a:t>
            </a:r>
            <a:endParaRPr lang="en-US" sz="1200" dirty="0"/>
          </a:p>
        </p:txBody>
      </p:sp>
      <p:sp>
        <p:nvSpPr>
          <p:cNvPr id="10" name="Shape 8"/>
          <p:cNvSpPr/>
          <p:nvPr/>
        </p:nvSpPr>
        <p:spPr>
          <a:xfrm>
            <a:off x="640080" y="4800600"/>
            <a:ext cx="10881360" cy="1280160"/>
          </a:xfrm>
          <a:prstGeom prst="roundRect">
            <a:avLst>
              <a:gd name="adj" fmla="val 5714"/>
            </a:avLst>
          </a:prstGeom>
          <a:solidFill>
            <a:srgbClr val="E3F7EC"/>
          </a:solidFill>
          <a:ln/>
        </p:spPr>
        <p:txBody>
          <a:bodyPr/>
          <a:p/>
        </p:txBody>
      </p:sp>
      <p:sp>
        <p:nvSpPr>
          <p:cNvPr id="11" name="Text 9"/>
          <p:cNvSpPr/>
          <p:nvPr/>
        </p:nvSpPr>
        <p:spPr>
          <a:xfrm>
            <a:off x="841248" y="4946904"/>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Dónde encaja cada tecnología</a:t>
            </a:r>
            <a:endParaRPr lang="en-US" sz="1500" dirty="0"/>
          </a:p>
        </p:txBody>
      </p:sp>
      <p:sp>
        <p:nvSpPr>
          <p:cNvPr id="12" name="Text 10"/>
          <p:cNvSpPr/>
          <p:nvPr/>
        </p:nvSpPr>
        <p:spPr>
          <a:xfrm>
            <a:off x="841248" y="5440680"/>
            <a:ext cx="10479024" cy="5120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Prensas y maquinaria pesada → hidráulica · pinzas y alta cadencia → neumática · casi todo lo demás → eléctrico. La selección del tipo de actuador es la capa superior de la jerarquía MDQ (De Silva, p. 8).</a:t>
            </a:r>
            <a:endParaRPr lang="en-US" sz="1200" dirty="0"/>
          </a:p>
        </p:txBody>
      </p:sp>
      <p:sp>
        <p:nvSpPr>
          <p:cNvPr id="14" name="Text 1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 334 · De Silva et al., 2016, p. 8</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S12 · CAMBIAR VELOCIDAD POR PAR</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Reductora, inercia reflejada y selección</a:t>
            </a:r>
            <a:endParaRPr lang="en-US" sz="3000" dirty="0"/>
          </a:p>
        </p:txBody>
      </p:sp>
      <p:sp>
        <p:nvSpPr>
          <p:cNvPr id="4" name="Shape 2"/>
          <p:cNvSpPr/>
          <p:nvPr/>
        </p:nvSpPr>
        <p:spPr>
          <a:xfrm>
            <a:off x="640080" y="1554480"/>
            <a:ext cx="5394960" cy="2651760"/>
          </a:xfrm>
          <a:prstGeom prst="roundRect">
            <a:avLst>
              <a:gd name="adj" fmla="val 2759"/>
            </a:avLst>
          </a:prstGeom>
          <a:solidFill>
            <a:srgbClr val="F2F4FB"/>
          </a:solidFill>
          <a:ln/>
        </p:spPr>
        <p:txBody>
          <a:bodyPr/>
          <a:p/>
        </p:txBody>
      </p:sp>
      <p:sp>
        <p:nvSpPr>
          <p:cNvPr id="5" name="Text 3"/>
          <p:cNvSpPr/>
          <p:nvPr/>
        </p:nvSpPr>
        <p:spPr>
          <a:xfrm>
            <a:off x="841248" y="170078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Reducción G:1 (Corke, tabla 9.1)</a:t>
            </a:r>
            <a:endParaRPr lang="en-US" sz="1500" dirty="0"/>
          </a:p>
        </p:txBody>
      </p:sp>
      <p:sp>
        <p:nvSpPr>
          <p:cNvPr id="6" name="Text 4"/>
          <p:cNvSpPr/>
          <p:nvPr/>
        </p:nvSpPr>
        <p:spPr>
          <a:xfrm>
            <a:off x="841248" y="2194560"/>
            <a:ext cx="4992624" cy="18836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Par ×G · velocidad ÷G · inercia de carga vista desde el motor ÷G² · par de perturbación ÷G.</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Inercia total en el eje del motor: J' = Jm + Jl/G². Con G grande el motor «no siente» la carga, G = 107,8 en el hombro del PUMA 560.</a:t>
            </a:r>
            <a:endParaRPr lang="en-US" sz="1200" dirty="0"/>
          </a:p>
        </p:txBody>
      </p:sp>
      <p:sp>
        <p:nvSpPr>
          <p:cNvPr id="7" name="Shape 5"/>
          <p:cNvSpPr/>
          <p:nvPr/>
        </p:nvSpPr>
        <p:spPr>
          <a:xfrm>
            <a:off x="640080" y="4389120"/>
            <a:ext cx="5394960" cy="1691640"/>
          </a:xfrm>
          <a:prstGeom prst="roundRect">
            <a:avLst>
              <a:gd name="adj" fmla="val 4324"/>
            </a:avLst>
          </a:prstGeom>
          <a:solidFill>
            <a:srgbClr val="F2F4FB"/>
          </a:solidFill>
          <a:ln/>
        </p:spPr>
        <p:txBody>
          <a:bodyPr/>
          <a:p/>
        </p:txBody>
      </p:sp>
      <p:sp>
        <p:nvSpPr>
          <p:cNvPr id="8" name="Text 6"/>
          <p:cNvSpPr/>
          <p:nvPr/>
        </p:nvSpPr>
        <p:spPr>
          <a:xfrm>
            <a:off x="841248" y="453542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 precio de la reductora</a:t>
            </a:r>
            <a:endParaRPr lang="en-US" sz="1500" dirty="0"/>
          </a:p>
        </p:txBody>
      </p:sp>
      <p:sp>
        <p:nvSpPr>
          <p:cNvPr id="9" name="Text 7"/>
          <p:cNvSpPr/>
          <p:nvPr/>
        </p:nvSpPr>
        <p:spPr>
          <a:xfrm>
            <a:off x="841248" y="5029200"/>
            <a:ext cx="4992624" cy="9235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Coste, peso, fricción, holgura (backlash), ruido y rizado de par; elasticidad de la transmisión (harmonic drive, correas). Alternativa: direct-drive.</a:t>
            </a:r>
            <a:endParaRPr lang="en-US" sz="1200" dirty="0"/>
          </a:p>
        </p:txBody>
      </p:sp>
      <p:sp>
        <p:nvSpPr>
          <p:cNvPr id="10" name="Shape 8"/>
          <p:cNvSpPr/>
          <p:nvPr/>
        </p:nvSpPr>
        <p:spPr>
          <a:xfrm>
            <a:off x="6263640" y="1554480"/>
            <a:ext cx="5257800" cy="822960"/>
          </a:xfrm>
          <a:prstGeom prst="roundRect">
            <a:avLst>
              <a:gd name="adj" fmla="val 8889"/>
            </a:avLst>
          </a:prstGeom>
          <a:solidFill>
            <a:srgbClr val="E3F7EC"/>
          </a:solidFill>
          <a:ln/>
        </p:spPr>
        <p:txBody>
          <a:bodyPr/>
          <a:p/>
        </p:txBody>
      </p:sp>
      <p:sp>
        <p:nvSpPr>
          <p:cNvPr id="11" name="Text 9"/>
          <p:cNvSpPr/>
          <p:nvPr/>
        </p:nvSpPr>
        <p:spPr>
          <a:xfrm>
            <a:off x="6464808" y="1664208"/>
            <a:ext cx="4855464" cy="585216"/>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Paso 1, Par de carga pico y RMS en el ciclo (perfil trapezoidal)</a:t>
            </a:r>
            <a:endParaRPr lang="en-US" sz="1100" dirty="0"/>
          </a:p>
        </p:txBody>
      </p:sp>
      <p:sp>
        <p:nvSpPr>
          <p:cNvPr id="12" name="Shape 10"/>
          <p:cNvSpPr/>
          <p:nvPr/>
        </p:nvSpPr>
        <p:spPr>
          <a:xfrm>
            <a:off x="6263640" y="2514600"/>
            <a:ext cx="5257800" cy="822960"/>
          </a:xfrm>
          <a:prstGeom prst="roundRect">
            <a:avLst>
              <a:gd name="adj" fmla="val 8889"/>
            </a:avLst>
          </a:prstGeom>
          <a:solidFill>
            <a:srgbClr val="F2F4FB"/>
          </a:solidFill>
          <a:ln/>
        </p:spPr>
        <p:txBody>
          <a:bodyPr/>
          <a:p/>
        </p:txBody>
      </p:sp>
      <p:sp>
        <p:nvSpPr>
          <p:cNvPr id="13" name="Text 11"/>
          <p:cNvSpPr/>
          <p:nvPr/>
        </p:nvSpPr>
        <p:spPr>
          <a:xfrm>
            <a:off x="6464808" y="2624328"/>
            <a:ext cx="4855464" cy="585216"/>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Paso 2, Referir al motor con un G de tanteo (tabla 9.1)</a:t>
            </a:r>
            <a:endParaRPr lang="en-US" sz="1100" dirty="0"/>
          </a:p>
        </p:txBody>
      </p:sp>
      <p:sp>
        <p:nvSpPr>
          <p:cNvPr id="14" name="Shape 12"/>
          <p:cNvSpPr/>
          <p:nvPr/>
        </p:nvSpPr>
        <p:spPr>
          <a:xfrm>
            <a:off x="6263640" y="3474720"/>
            <a:ext cx="5257800" cy="822960"/>
          </a:xfrm>
          <a:prstGeom prst="roundRect">
            <a:avLst>
              <a:gd name="adj" fmla="val 8889"/>
            </a:avLst>
          </a:prstGeom>
          <a:solidFill>
            <a:srgbClr val="E3F7EC"/>
          </a:solidFill>
          <a:ln/>
        </p:spPr>
        <p:txBody>
          <a:bodyPr/>
          <a:p/>
        </p:txBody>
      </p:sp>
      <p:sp>
        <p:nvSpPr>
          <p:cNvPr id="15" name="Text 13"/>
          <p:cNvSpPr/>
          <p:nvPr/>
        </p:nvSpPr>
        <p:spPr>
          <a:xfrm>
            <a:off x="6464808" y="3584448"/>
            <a:ext cx="4855464" cy="585216"/>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Paso 3, Comprobar velocidad del motor frente a ω·G y la cota de la back-EMF</a:t>
            </a:r>
            <a:endParaRPr lang="en-US" sz="1100" dirty="0"/>
          </a:p>
        </p:txBody>
      </p:sp>
      <p:sp>
        <p:nvSpPr>
          <p:cNvPr id="16" name="Shape 14"/>
          <p:cNvSpPr/>
          <p:nvPr/>
        </p:nvSpPr>
        <p:spPr>
          <a:xfrm>
            <a:off x="6263640" y="4434840"/>
            <a:ext cx="5257800" cy="822960"/>
          </a:xfrm>
          <a:prstGeom prst="roundRect">
            <a:avLst>
              <a:gd name="adj" fmla="val 8889"/>
            </a:avLst>
          </a:prstGeom>
          <a:solidFill>
            <a:srgbClr val="F2F4FB"/>
          </a:solidFill>
          <a:ln/>
        </p:spPr>
        <p:txBody>
          <a:bodyPr/>
          <a:p/>
        </p:txBody>
      </p:sp>
      <p:sp>
        <p:nvSpPr>
          <p:cNvPr id="17" name="Text 15"/>
          <p:cNvSpPr/>
          <p:nvPr/>
        </p:nvSpPr>
        <p:spPr>
          <a:xfrm>
            <a:off x="6464808" y="4544568"/>
            <a:ext cx="4855464" cy="585216"/>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Paso 4, Relación de inercias Jl/(G²·Jm) ≈ 1: el G óptimo iguala inercias</a:t>
            </a:r>
            <a:endParaRPr lang="en-US" sz="1100" dirty="0"/>
          </a:p>
        </p:txBody>
      </p:sp>
      <p:sp>
        <p:nvSpPr>
          <p:cNvPr id="18" name="Shape 16"/>
          <p:cNvSpPr/>
          <p:nvPr/>
        </p:nvSpPr>
        <p:spPr>
          <a:xfrm>
            <a:off x="6263640" y="5440680"/>
            <a:ext cx="5257800" cy="640080"/>
          </a:xfrm>
          <a:prstGeom prst="roundRect">
            <a:avLst>
              <a:gd name="adj" fmla="val 11429"/>
            </a:avLst>
          </a:prstGeom>
          <a:solidFill>
            <a:srgbClr val="E3F7EC"/>
          </a:solidFill>
          <a:ln/>
        </p:spPr>
        <p:txBody>
          <a:bodyPr/>
          <a:p/>
        </p:txBody>
      </p:sp>
      <p:sp>
        <p:nvSpPr>
          <p:cNvPr id="19" name="Text 17"/>
          <p:cNvSpPr/>
          <p:nvPr/>
        </p:nvSpPr>
        <p:spPr>
          <a:xfrm>
            <a:off x="6464808" y="5550408"/>
            <a:ext cx="4855464" cy="402336"/>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Cuestionario B3 (15 min, Moodle): características, cuadratura, bias de IMU, factor de galga, LiDAR, back-EMF, inercia reflejada.</a:t>
            </a:r>
            <a:endParaRPr lang="en-US" sz="1050" dirty="0"/>
          </a:p>
        </p:txBody>
      </p:sp>
      <p:sp>
        <p:nvSpPr>
          <p:cNvPr id="21" name="Text 18"/>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339-346</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2026-08-11T10:31:57Z</dcterms:created>
  <dcterms:modified xsi:type="dcterms:W3CDTF">2026-08-11T10:31:57Z</dcterms:modified>
</cp:coreProperties>
</file>