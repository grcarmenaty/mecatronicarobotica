
<file path=[Content_Types].xml><?xml version="1.0" encoding="utf-8"?>
<Types xmlns="http://schemas.openxmlformats.org/package/2006/content-types">
  <Default Extension="jpg" ContentType="image/jpe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5-1.jpg" ContentType="image/jpg"/>
  <Override PartName="/ppt/media/image-6-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Encuadre del bloque: la parte de percibir de la tríada. Avisar del calendario: el viernes 6 es el parcial 1, así que la docencia empieza el miércoles 11 y el bloque va compactado en ocho horas (visión, estimación probabilística y SLAM).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calendario: parcial el viernes 6; el miércoles 11, imagen y modelo de cámara con la calibración como cuaderno en casa (entrega antes de S28); el jueves, procesado clásico y aprendido en una sesión; desde el viernes 13, la parte probabilística completa. Cuestionario B6 en Moodle al cierre de S31.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Día de examen, dos horas, bloques 1 a 4. Logística: imprimir las seis versiones con margen, repartir en damero, lista de asistencia, DNI sobre la mesa, calculadora no programable y hoja A4 de formulario manuscrito. Recontar al recoger. Publicar soluciones y rúbrica en el campus en una semana; comentar los dos fallos más frecuentes al abrir S26.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Proyectar esta diapositiva también la semana anterior, al cerrar B5, y dejarla publicada en el campus. Recordar las reglas del test (el error resta un tercio, en blanco no puntúa) y de los problemas (el planteamiento vale el 40 por ciento; un resultado sin desarrollo no puntúa). Decir que las seis versiones comparten estructura y dificultad; solo cambian los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con la devolución exprés del parcial (dos fallos frecuentes, dos minutos). Objetivo de la hora: formación de imagen, modelo matricial y calibración explicada; la práctica de calibración se hace en casa con el cuaderno guiado. Plan: 0-5 devolución y apertura; 5-20 estenopeica y proyección; 20-40 modelo matricial y distorsión; 40-50 calibración y encargo del cuaderno; 50-60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Apunte histórico para abrir: Mozi describe la cámara oscura en el siglo quinto antes de Cristo y los dibujantes del dieciocho la usaban como herramienta de precisión (el dibujo de Verbruggen de la derecha). La figura de la izquierda es la que se deriva en pizarra: cada punto 3D cae por su rayo a través del centro óptico y la profundidad se pierde.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Derivar los triángulos semejantes en pizarra antes de escribir la fórmula. Consecuencias que hay que enunciar: un punto de la imagen es un rayo, no un punto; la escala es indeterminable desde una vista; recuperar el 3D exige estéreo, movimiento, un sensor de profundidad o un modelo del objeto. Esa carencia justifica los bloques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Subrayar la separación conceptual: los intrínsecos describen la cámara y se calibran una vez; los extrínsecos describen dónde está y son el estado que estimarán los filtros desde S28. La distorsión corrige las rectas curvadas de los bordes. Encargar el cuaderno de calibración con entrega antes de S28: tablero de ajedrez, quince a veinte vistas variadas, y como criterio de calidad el error de reproyección por debajo de un píxel. Los resultados se comentan al abrir S28.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Sesión fusionada con un objetivo claro: no dominar las dos familias en una hora, sino salir con el criterio para elegir entre ellas. Plan: 0-5 recuperación de S26 y demo del umbral que se rompe al cambiar la luz; 5-25 galería clásica (convolución, Canny, blobs, puntos); 25-40 rasgos aprendidos (YOLO, segmentación, SAM); 40-52 discusión con la tabla de criterio; 52-60 síntesis y anuncio del giro probabilístico.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cuatro tarjetas con una idea por tarjeta: la convolución es la misma operación que ejecuta cada capa de una red convolucional; los bordes de la imagen no son necesariamente los de los objetos (aviso de Corke); los blobs son la base de la inspección industrial; los puntos con descriptor alimentan el SLAM visual. Hacer la demo del gancho: umbral y blobs sobre una pieza, cambiar la iluminación y dejar que se rompa; da pie a los rasgos aprendidos.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cambio de paradigma en una frase: antes el ingeniero diseñaba el descriptor, ahora la red lo aprende de datos. Citar a Corke: las técnicas clásicas de reconocimiento han sido eclipsadas. Recorrer el menú (YOLO en tiempo real, segmentación semántica y de instancias, SAM como fundacional). Dedicar tiempo a la tarjeta del coste oculto: los datos son el cuello de botella y el problema de dominio (la red entrenada de día falla de noche) se llama sim-to-real y reaparece en B8.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Conducir la discusión con los tres casos preparados: verificar un tornillo en una pieza fija (clásico), localizar piezas revueltas en un contenedor (aprendido), detectar personas en una célula colaborativa (aprendido, pero la función de seguridad certificada va aparte y es de B2). Cerrar con la regla: la geometría calibrada no se aprende; hasta el sistema más neuronal necesita su matriz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comentando los cuadernos de calibración entregados. Idea que cambia el marco: el robot no puede saber dónde está; lo que puede es mantener una creencia y refinarla. Plan: 0-10 apertura y calibraciones; 10-40 estado, creencia y filtro de Bayes; 40-65 Kalman; 65-75 descanso; 75-100 EKF y linealización; 100-120 taller de filtro 1D sobre datos ruidosos.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las dos imágenes mentales del bloque. La izquierda es el resultado del taller de hoy: la estimación con su banda de dos sigmas pegada a la verdad mientras la medida cruda baila; el filtro gana al sensor. La derecha es la localización de Montecarlo de S30: la nube uniforme se vuelve multimodal tras la primera puerta y colapsa con el movimiento.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Escribir el algoritmo en pizarra línea a línea (Thrun, p. 27): es el esqueleto del que Kalman, EKF y partículas son casos particulares. Fijar las dos hipótesis de Markov y el ritmo predicción-corrección: la predicción hace crecer la incertidumbre y la corrección la reduce. Ese ritmo se repite durante todo el bloque.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Enunciar el caso especial: con sistema lineal y ruido gaussiano, la creencia se mantiene gaussiana y basta propagar media y covarianza; la ganancia arbitra entre predicción y medida. Problema: casi ningún robot es lineal, y el EKF lineariza con jacobianas alrededor de la estimación. Precio: puede divergir sin avisar. En el taller, variar las covarianzas y pedir que cada uno rompa el filtro subiendo la no linealidad; la divergencia se ve mejor de lo que se explica. Avisar: un paso completo del filtro 1D cae en el parcial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Aplicación del EKF al problema concreto de localizarse en un mapa, con su taxonomía de tres problemas. Plan: 0-5 recuperación; 5-20 taxonomía; 20-40 modelos de movimiento y observación; 40-55 el ciclo completo sobre balizas y sus límites; 55-60 anuncio de S30.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Distinguir los tres problemas (seguimiento, global, secuestro) y los dos modelos que alimentan el filtro. La clave conceptual del día, con el ejemplo del pasillo simétrico en pizarra: el EKF sigue bien pero no localiza globalmente porque una gaussiana no puede representar estar en uno de cuatro pasillos idénticos. Esa limitación motiva la sesión siguiente.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 solución al problema de ayer: representar la creencia con miles de muestras. Decir que es el algoritmo de localización de Nav2, así que correrá en el proyecto. Plan: 0-5 recuperación; 5-25 el filtro (muestras, pesos, remuestreo); 25-42 MCL sobre rejilla; 42-55 robustez, AMCL y comparación con el EKF; 55-60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ciclo de tres pasos y el balance de las dos tarjetas: gana multimodalidad y localización global; cuesta número de partículas, y con pocas el filtro se empobrece y puede matar la hipótesis correcta. AMCL adapta el número en marcha y es el nodo de Nav2. Es obligatoria la demostración visual de la nube convergiendo. Cierre en una frase: gaussiana barata frente a muestras robustas.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Culminación del bloque: mapa y localización a la vez. La foto de la nube de puntos es la materia prima del mapa. Plan: 0-10 recuperación; 10-35 formulación y circularidad; 35-60 EKF-SLAM y su límite; 60-70 descanso; 70-95 GraphSLAM y cierre de bucle; 95-105 FastSLAM, ocupación y panorama; 105-120 cuestionario B6 en Moodle (15 min).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Enunciar la circularidad despacio: para el mapa hace falta la pose y para la pose hace falta el mapa. Fijar la distinción online frente a completo y los dos puntos críticos: la correspondencia como fuente de fallo catastrófico y el cierre de bucle como corrección global de la deriva. Dibujar en pizarra la matriz de covarianza de EKF-SLAM creciendo con cada punto: la explicación gráfica del coste cuadrático funciona mejor que la algebraica.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las salidas al límite cuadrático: grafos de factores (el estándar actual), FastSLAM (partículas más filtros por punto) y mapas de ocupación (el formato que consume Nav2). Del panorama neuronal, aclarar el estatus: frontera de investigación y material de seminario, no materia de examen. Últimos 15 minutos: cuestionario B6 en Moodle.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7223760" y="2377440"/>
            <a:ext cx="4983480" cy="44988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9509760" y="4480560"/>
            <a:ext cx="2697480" cy="239572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pic>
        <p:nvPicPr>
          <p:cNvPr id="4" name="Image 0" descr="/home/claude/work/curso_82514/media/logo_iqs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048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D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· MECATRÓNICA Y ROBÓTICA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robótica: visión,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de estado y SLAM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S25–S31 · 10 horas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5486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11, 12, 13, 18, 19 y 20 de noviembre de 2026 · IQS Universitat Ramon Llull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del bloque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563624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481328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· vie 6 nov · 2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EXAMEN PARCIAL 1 (bloques 1-4): test y problemas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20370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" y="228600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2203704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· mié 11 nov · 1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Formación de imagen y modelo de cámara · calibración en cuaderno guiado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41248" y="3008376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2926080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 · jue 12 nov · 1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Procesado clásico y aprendido: el criterio del ingeniero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4845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41248" y="3730752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3648456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 · vie 13 nov · 2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Filtro de Bayes, filtro de Kalman y EKF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41248" y="445312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81328" y="4370832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 · mié 18 nov · 1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Localización con EKF sobre mapa de balizas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09320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41248" y="5175504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1248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81328" y="5093208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S30 · jue 19 nov · 1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Filtro de partículas y localización de Montecarlo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81558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41248" y="58978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41248" y="5897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81328" y="5815584"/>
            <a:ext cx="9829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S31 · vie 20 nov · 2 h 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SLAM: EKF-SLAM, GraphSLAM, FastSLAM y SLAM visual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82514 Mecatrónica y Robótica · B6 · IQS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parcial 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1-4 · test y tres problemas · 2 horas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· EXAMEN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1: estructura y reglas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(2,0 pt)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047902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preguntas ABCD sobre B1-B4; cada error resta un tercio; en blanco no puntúa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1518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22960" y="2798064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mecatrónico e instrumentación (2,0 pt)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3392424"/>
            <a:ext cx="1047902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 y aliasing con cálculo · MDQ: cálculo e interpretación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67588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385876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Cinemática directa (3,0 pt)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" y="4453128"/>
            <a:ext cx="1047902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del 2R con números · tabla DH · espacio de trabajo alcanzable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73659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2960" y="4919472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882896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IK, jacobiano y estática (3,0 pt)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513832"/>
            <a:ext cx="10479024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ramas de la IK · det J y singularidades · pares con τ = Jᵀ·F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704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3F7E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" y="5980176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calculadora no programable y una hoja A4 de formulario manuscrito por las dos caras. Seis versiones (A-F) en damero. Los errores de arrastre no se penalizan dos veces.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 1 · viernes 6 de noviembre · 2 h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imagen y calibración exprés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estenopeica · proyección · intrínsecos y extrínsecos · calibración como cuaderno guiado</a:t>
            </a:r>
            <a:endParaRPr lang="en-US" sz="1600" dirty="0"/>
          </a:p>
        </p:txBody>
      </p:sp>
      <p:pic>
        <p:nvPicPr>
          <p:cNvPr id="8" name="Image 0" descr="/home/claude/work/curso_82514/media/fotos/b6_estereo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249168"/>
            <a:ext cx="3749040" cy="2499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5748528"/>
            <a:ext cx="3749040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5876544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estéreo: recuperar la profundidad perdida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T. Cognard CC BY-SA 3.0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· IMAGEN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cámara, de Mozi al modelo matricial</a:t>
            </a:r>
            <a:endParaRPr lang="en-US" sz="3000" dirty="0"/>
          </a:p>
        </p:txBody>
      </p:sp>
      <p:pic>
        <p:nvPicPr>
          <p:cNvPr id="4" name="Image 0" descr="/home/claude/work/curso_82514/media/figs/b6_pinh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1138"/>
            <a:ext cx="6035040" cy="29671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99487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estenopeico: la profundidad se pierde en la proyección</a:t>
            </a:r>
            <a:endParaRPr lang="en-US" sz="1050" dirty="0"/>
          </a:p>
        </p:txBody>
      </p:sp>
      <p:pic>
        <p:nvPicPr>
          <p:cNvPr id="6" name="Image 1" descr="/home/claude/work/curso_82514/media/fotos/b6_camara_obscur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79365"/>
            <a:ext cx="4663440" cy="33907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5206651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Dibujo técnico hecho con cámara oscura (Verbruggen, s. XVIII)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propia del curso · Dibujo: dominio público / CC BY-SA 3.0 · Wikimedia Commons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· PROYECCIÓN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escena 3D a la imagen 2D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1264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estenopeica: el modelo mínimo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del mundo, el centro óptico y su proyección en el plano imagen están alineados: la geometría se reduce a triángulos semejantes.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coordenadas de imagen resultan de dividir por la profundidad, esa división es la fuente de todo lo demás: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central: la proyección pierde la profundidad. Un punto de la imagen corresponde a un rayo completo del espacio, no a un punto.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3D exige información añadida: estéreo, movimiento, un sensor de profundidad o un modelo del objeto.</a:t>
            </a:r>
            <a:endParaRPr lang="en-US" sz="1500" dirty="0"/>
          </a:p>
        </p:txBody>
      </p:sp>
      <p:pic>
        <p:nvPicPr>
          <p:cNvPr id="5" name="Image 0" descr="/home/claude/work/curso_82514/media/eq/pinh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5303520"/>
            <a:ext cx="2834640" cy="60912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40880" y="155448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242048" y="1700784"/>
            <a:ext cx="4078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 de la perspectiva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42048" y="2194560"/>
            <a:ext cx="407822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de tamaño y distancia distintos producen la misma imagen: la escala es indeterminable a partir de una vista.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problema que la visión biológica resuelve con dos ojos y que la robótica resuelve con estéreo, estructura desde el movimiento o LiDAR.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bloque 7 esa profundidad reaparece convertida en mapa de ocupación.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2023, cap. 13 · Formación de imagen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· PARÁMETROS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matricial y calibración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19072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intrínsecos (K)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12848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Distancias focales en píxeles, punto principal y factor de sesgo. Describen la cámara: no cambian al moverla.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72768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64808" y="1719072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extrínsecos (R, 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212848"/>
            <a:ext cx="485546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y traslación del marco de la cámara respecto al mundo. Describen dónde está: cambian en cada instante y los estima la localización.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04488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4050792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Distorsión de lente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4544568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estenopeico ideal no captura la lente real: coeficientes radiales y tangenciales corrigen la curvatura de las rectas hacia los bordes.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04488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64808" y="4050792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Calibración: cuaderno guiado en casa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4544568"/>
            <a:ext cx="485546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ajedrez, 15-20 vistas variadas, findChessboardCorners y calibrateCamera en OpenCV.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en el campus antes de S28; criterio de calidad: error de reproyección por debajo de un píxel. Los resultados se comentan al abrir S28.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2023, cap. 13 · Calibración con OpenCV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 clásico y aprendido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 y bordes · regiones y puntos · rasgos aprendidos · el criterio del ingeniero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 · PROCESADO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herramientas clásicas que siguen vigentes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0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ventana recorre la imagen combinando vecindarios: suavizado gaussiano, realce, derivadas. Es la operación base, y la misma que ejecuta cada capa convolucional de la sesión siguiente.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2350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gradiente marca discontinuidades de intensidad. Canny añade supresión no máxima e histéresis. Aviso: «los bordes de la imagen no son necesariamente los mismos que los bordes de los objetos» (Corke, 2023, p. 454).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636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Umbralizado y etiquetado de componentes conexas producen blobs con área, centroide y momentos: base de la inspección industrial por visión.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4041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05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4636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Esquinas y descriptores invariantes permiten emparejar la misma escena entre vistas: es la materia prima del SLAM visual de S31.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2023, caps. 11-12 · pp. 454, 505, 517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 · APRENDIZAJE PROFUNDO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rasgos diseñados a rasgos aprendidos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paradigma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décadas el ingeniero diseñaba el descriptor; hoy la red lo aprende de los datos. Corke lo dice sin rodeos: estas técnicas «han sido eclipsadas por las basadas en aprendizaje profundo» (Corke, 2023, p. 510).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Detección: una sola pasada de red produce cajas, clases y confianzas, la familia YOLO como estándar práctico en tiempo real.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semántica: una etiqueta por píxel. De instancias: además separa objetos individuales del mismo tipo.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fundacionales de segmentación (SAM y sucesores): segmentan objetos no vistos en entrenamiento a partir de una indicación.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16368" y="1700784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oculto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6368" y="2194560"/>
            <a:ext cx="380390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datos, no el modelo, son el cuello de botella: etiquetar es caro y el dominio de entrenamiento condiciona el resultado.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entrenada con imágenes de día falla de noche; una entrenada en simulación falla en la planta.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problema sim-to-real que veremos en el bloque 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Corke, 2023, cap. 12 · p. 510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S27 · CRITERIO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clásico y cuándo aprendido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465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clásico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240280"/>
            <a:ext cx="499262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Escena controlada: iluminación fija, fondo conocido, pieza siempre igual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exige determinismo y explicabilidad (auditoría, certificación)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Latencia mínima en hardware modesto, sin GPU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hay datos etiquetados ni presupuesto para generarlos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Medición metrológica: dimensiones, posición subpíxel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64808" y="17465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aprendido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4808" y="2240280"/>
            <a:ext cx="4855464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Variabilidad alta: objetos deformables, iluminación cambiante, desorden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tarea es de reconocimiento semántico, no de medida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Existen datos, o un modelo preentrenado que se ajusta con pocos ejemplos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acepta un comportamiento estadístico con tasa de error medida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Hay cómputo suficiente en el robot o en el borde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profesor a partir de Corke, 2023, caps. 11-12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Bayes, Kalman y EKF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Creencia · predicción y corrección · linealización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S28–S30 · FIGURA Y ANIMACIÓN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Estimar: la curva y la nube</a:t>
            </a:r>
            <a:endParaRPr lang="en-US" sz="3000" dirty="0"/>
          </a:p>
        </p:txBody>
      </p:sp>
      <p:pic>
        <p:nvPicPr>
          <p:cNvPr id="4" name="Image 0" descr="/home/claude/work/curso_82514/media/figs/b6_kal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6673"/>
            <a:ext cx="5394960" cy="33875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50783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Kalman 1D: estimación ±2σ frente a la medida cruda (S28)</a:t>
            </a:r>
            <a:endParaRPr lang="en-US" sz="1050" dirty="0"/>
          </a:p>
        </p:txBody>
      </p:sp>
      <p:pic>
        <p:nvPicPr>
          <p:cNvPr id="6" name="Image 1" descr="/home/claude/work/curso_82514/media/gifs/b6_particulas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480310"/>
            <a:ext cx="5212080" cy="1988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450570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MCL: la nube de partículas converge (cuaderno S30)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y animación propias del curso (cuadernos S28 y S30)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 · ESTIMACIÓN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Bayes: creencia recursiva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175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creencia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517550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no conoce su estado: mantiene una distribución de probabilidad sobre él (la creencia), condicionada a todas las medidas y controles pasados (Thrun et al., 2005, pp. 26-28).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47688" y="1700784"/>
            <a:ext cx="4672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hipótesis de Markov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47688" y="2194560"/>
            <a:ext cx="467258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siguiente depende solo del actual y del control; la medida depende solo del estado actual. Sin ellas no hay recursión (Thrun et al., 2005, pp. 28-33).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9410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4572000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Propagar la creencia con el modelo de movimiento y el control: la incertidumbre crece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24528" y="4572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9410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4568" y="4572000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Ponderar por la verosimilitud de la medida observada: la incertidumbre se reduce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27848" y="4572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046720" y="37947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0" y="397764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23960" y="394106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47888" y="4572000"/>
            <a:ext cx="30723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que la creencia vuelva a ser una distribución de probabilidad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pp. 26-33 · Algoritmo del filtro de Bayes, p. 27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S28 · KF Y EKF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y su extensión no lineal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Kalman: el caso gaussiano lineal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es lineal, el ruido gaussiano y la creencia inicial gaussiana, la creencia se mantiene gaussiana para siempre: basta propagar media y covarianza (Thrun et al., 2005, pp. 40-42).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de Kalman arbitra entre predicción y medida: mucha confianza en el sensor la acerca a la medida; poca, a la predicción.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casi ningún robot es lineal. Un vehículo que gira no lo es.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EKF: linealizar en torno a la estimación actual mediante jacobianas, y aplicar las mismas ecuaciones (Thrun et al., 2005, pp. 54-56).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16368" y="1700784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linealizar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6368" y="2194560"/>
            <a:ext cx="380390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linealización es una aproximación: si la no linealidad es fuerte o la incertidumbre grande, la gaussiana deja de describir la creencia real.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EKF puede divergir y no avisa.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ahí el filtro de partículas de S30: sin hipótesis gaussiana, a cambio de coste.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pp. 40-42, 54-56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 con EKF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del problema · modelo de movimiento · modelo de observación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S29 · LOCALIZACIÓN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Localizar: taxonomía y los dos modelos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0008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pose inicial se conoce; solo hay que corregir la deriva. El EKF basta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72768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2628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1719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350008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pose inicial se desconoce: la creencia puede ser multimodal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572768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17190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Secuestro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7888" y="2350008"/>
            <a:ext cx="307238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robot es desplazado sin avisar: el filtro debe recuperarse de una creencia errónea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1248" y="398678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movimiento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" y="4480560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la pose a partir del control u odometría, con su ruido. Thrun distingue el modelo de velocidad del basado en odometría, en general más preciso en robots con encoders (Thrun et al., 2005, cap. 5).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64808" y="398678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observación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64808" y="4480560"/>
            <a:ext cx="485546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qué mediría el sensor desde una pose dada. Para telémetros, el modelo de haz combina medida correcta, objetos inesperados, fallos y ruido aleatorio (Thrun et al., 2005, p. 153 y ss.).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cap. 5, cap. 6 (p. 153), cap. 7 (p. 192 y ss.)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partículas y MCL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· pesos · remuestreo · robustez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S30 · FILTRO DE PARTÍCULAS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la creencia con muestras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465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7744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partícula se propaga con el modelo de movimiento y su ruido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24528" y="26060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7465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37744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partícula recibe un peso proporcional a la verosimilitud de la medida desde su pose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27848" y="260604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A355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229600" y="1783080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2296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23960" y="17465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Remuestrear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47888" y="2377440"/>
            <a:ext cx="307238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sortean partículas con probabilidad proporcional al peso: sobreviven las coherentes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11480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41248" y="4261104"/>
            <a:ext cx="4992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gana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754880"/>
            <a:ext cx="49926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exige gaussianidad ni linealidad: representa creencias multimodales, resuelve la localización global y, con las variantes adecuadas, el secuestro.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1148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64808" y="4261104"/>
            <a:ext cx="485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cuesta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64808" y="4754880"/>
            <a:ext cx="48554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de partículas gobierna precisión y coste. Con pocas, el filtro puede empobrecerse y descartar la hipótesis correcta; AMCL adapta ese número en marcha, y es el localizador de Nav2 en el bloque 7.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cap. 4 y cap. 8 · MCL y AMCL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2834640"/>
            <a:ext cx="5852160" cy="4041648"/>
          </a:xfrm>
          <a:prstGeom prst="rtTriangle">
            <a:avLst/>
          </a:prstGeom>
          <a:solidFill>
            <a:srgbClr val="2E3FA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" y="4846320"/>
            <a:ext cx="2926080" cy="2029968"/>
          </a:xfrm>
          <a:prstGeom prst="rtTriangl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1051560"/>
            <a:ext cx="1051560" cy="105156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515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011680" y="91440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SLAM: del EKF a los grafos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057400" y="22860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y completo · EKF-SLAM · GraphSLAM · FastSLAM · SLAM visual</a:t>
            </a:r>
            <a:endParaRPr lang="en-US" sz="1600" dirty="0"/>
          </a:p>
        </p:txBody>
      </p:sp>
      <p:pic>
        <p:nvPicPr>
          <p:cNvPr id="8" name="Image 0" descr="/home/claude/work/curso_82514/media/fotos/b6_n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3444431"/>
            <a:ext cx="3749040" cy="21088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818120" y="5553265"/>
            <a:ext cx="3749040" cy="54864"/>
          </a:xfrm>
          <a:prstGeom prst="rect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589520" y="5681281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puntos LiDAR: la materia prima del mapa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652881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Foto: D. L. Lu CC BY 4.0 · Wikimedia Commons</a:t>
            </a:r>
            <a:endParaRPr lang="en-US" sz="8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S31 · FORMULACIÓN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circular del SLAM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y localizarse a la vez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construir el mapa hace falta saber dónde está el robot; para saber dónde está hace falta el mapa. SLAM resuelve ambos simultáneamente (Thrun et al., 2005, cap. 10).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online: estima la pose actual y el mapa. SLAM completo: estima toda la trayectoria y el mapa (Thrun et al., 2005, p. 309 y ss.).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correspondencia, ¿es este el punto de referencia que ya vi?, es la fuente principal de fallo catastrófico.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 bucle reconoce un lugar ya visitado y corrige de golpe la deriva acumulada de toda la trayectoria.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516368" y="1700784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EKF-SLAM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16368" y="2194560"/>
            <a:ext cx="3803904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de estado incluye la pose y todos los puntos de referencia; la covarianza los correlaciona.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correlación es lo que hace funcionar el cierre de bucle: corregir la pose corrige todo el mapa.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límite es el coste: la covarianza crece con el cuadrado del número de puntos.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cap. 10 · pp. 309-312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A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S31 · ENFOQUES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GraphSLAM, FastSLAM y el panorama actual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GraphSLAM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50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trayectoria y las medidas forman un grafo: nodos son poses y puntos, aristas son restricciones blandas. Resolver el SLAM es minimizar el error de todas las restricciones (Thrun et al., 2005, cap. 11). Es el enfoque dominante en sistemas reales.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72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1755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719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FastSLAM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9088" y="2350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 el problema con un filtro de partículas para la trayectoria y filtros independientes por punto de referencia: escala a mapas grandes (Thrun et al., 2005, cap. 13, pp. 437-439).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041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005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ocupación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636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pose ya conocida, el mapeo se reduce a acumular evidencia por celda en log-odds (Thrun et al., 2005, pp. 281-286). Es el mapa que consumirá Nav2 en el bloque 7.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2F4F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0" y="4041648"/>
            <a:ext cx="457200" cy="457200"/>
          </a:xfrm>
          <a:prstGeom prst="ellipse">
            <a:avLst/>
          </a:prstGeom>
          <a:solidFill>
            <a:srgbClr val="2FD26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4005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visual y neuronal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19088" y="4636008"/>
            <a:ext cx="4946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en lugar de LiDAR; y una frontera de investigación activa donde el mapa es una representación aprendida (NeRF, neuronal; 3D Gaussian Splatting, de primitivas explícitas) en vez de una nube de puntos.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Thrun et al., 2005, caps. 11 y 13 · pp. 337-339, 437-439, 281-286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2026-08-11T07:26:38Z</dcterms:created>
  <dcterms:modified xsi:type="dcterms:W3CDTF">2026-08-11T07:26:38Z</dcterms:modified>
</cp:coreProperties>
</file>