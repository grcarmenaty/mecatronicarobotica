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2-1.jpg" ContentType="image/jpg"/>
  <Override PartName="/ppt/media/image-12-2.jpg" ContentType="image/jpg"/>
  <Override PartName="/ppt/media/image-12-3.jpg" ContentType="image/jpg"/>
  <Override PartName="/ppt/media/image-17-1.jpg" ContentType="image/jpg"/>
  <Override PartName="/ppt/media/image-17-2.jpg" ContentType="image/jpg"/>
  <Override PartName="/ppt/media/image-17-3.jpg" ContentType="image/jpg"/>
  <Override PartName="/ppt/media/image-17-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Presentarse y resolver la logística en un par de minutos: campus virtual, horario (miércoles y jueves 1 h, viernes 2 h) y sistema de evaluación. Encuadrar el bloque: origen de la disciplina, método de diseño y panorama profesional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las cuatro sesiones en un minuto. Adelantar dos citas importantes: el seminario de artículos se lanza en S4 y se presenta en diciembre, y el cuestionario del bloque cae al final de S4. Idea que conviene decir ya: este bloque da el vocabulario que usa el resto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Pregunta de arranque antes de definir nada: qué objetos de casa creen que son mecatrónicos. Anotar la lista en la pizarra y recuperarla al final de la clase con la definición en la mano. Plan: 0-10 presentación de la asignatura; 10-15 pregunta de arranque; 15-35 definición y dominios; 35-50 componentes y ejemplos; 50-60 discusión y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Insistir en las dos palabras: sinérgica (los subsistemas se conciben juntos) e integrado (las interacciones dinámicas entran desde la primera fase). Aclarar que electromecánico no implica mecatrónico: es una metodología de diseño, no una lista de piezas. Origen del término: Yaskawa, 1969; conecta con la historia de S3. Cerrar con el ABS de la tarjeta: cuatro dominios físicos en un producto; optimizados por separado dan un freno peor.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Señalar que la lista de De Silva es literalmente el índice de la asignatura: mecánica y actuadores en B3 y B4, sensores en B3, control en B5, computación embebida en B7. Observación útil: la energía aparece como componente propio porque la potencia enlaza los dominios. Ejemplo anidado: el servomotor es un sistema mecatrónico completo dentro de otro mayor.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 el disco duro, hacer la pregunta de la tarjeta: por qué el servo del brazo no puede diseñarse sin conocer la mecánica del brazo (resonancias y masa móvil limitan el ancho de banda; se retoma en B5). Con el servomotor, dar la lectura de conjunto: un robot de seis ejes son seis servomotores coordinados más un esqueleto. Cerrar recuperando la lista de objetos del arranque.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Enlazar con la sesión anterior: definida la disciplina, hoy toca el método. Anticipar la idea central: el diseño por dominios separados falla por razones concretas que se pueden cuantificar. Plan: 0-5 recuperación; 5-20 bucle modelado-diseño; 20-40 diseño acoplado y MDQ; 40-52 caso práctico en parejas (cinta transportadora); 52-60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Dibujar el bucle en la pizarra aunque esté proyectado; el gesto de cerrar el ciclo ayuda a fijarlo. Sobre la energía: v·i = ω·τ significa que la potencia eléctrica de entrada iguala la mecánica de salida en el transformador ideal. Aviso de ingeniería: los factores de seguridad excesivos y el diseño por peor caso no dan diseños óptimos. Conectar con el proyecto integrador: es el mismo bucle (modelo en B4, control en B5, percepción en B6 y B7).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los tres problemas con un ejemplo cada uno: el motor de catálogo que ya no rinde su par-velocidad con la inercia real de la transmisión; el acoplamiento perfecto imposible (siempre hay un componente subutilizado o sobrecargado); y las variables que pasan de externas a internas y dejan de poder medirse. Estos tres problemas motivan el MDQ de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la fórmula con calma: el numerador es lo que consigue el conjunto interconectado y el denominador lo que cada subsistema lograría aislado. Aclarar el nivel de exigencia: las fórmulas se interpretan, no se manipulan en el examen. Sobre los algoritmos genéticos de la derecha: cromosoma igual a diseño completo, función de aptitud igual a MDQ. Cerrar con el caso del transporte guiado: restricciones heredadas de decisiones tempranas.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Sesión de narrativa: la palabra robot viene del teatro, la primera patente se firmó tras un cóctel y el primer robot industrial acabó sirviendo cerveza en televisión. Objetivo de la hora: una definición de trabajo con tres verbos. Plan: 0-5 recuperación; 5-25 historia; 25-40 definición y sensores; 40-55 telerobots y autonomía con discusión; 55-60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Dejar la diapositiva proyectada durante la narración histórica. Telar de Jacquard: el programa está en las tarjetas perforadas; influyó en Babbage y Ada Lovelace, así que robótica y computación comparten raíz. Unimate: la foto es el servicio de café en el Biltmore (1967), tras su paso por el programa de Carson. El disco duro cierra el círculo con S1: mecatrónica en miniatura.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Recorrido: Vaucanson (programa fijo en levas), Jacquard (reprogramable), Čapek pone el nombre en 1920 (roboti, servidumbre), Asimov aporta las Tres Leyes y la carga cultural. Después la ingeniería: patente de Devol en el 54, encuentro con Engelberger en un cóctel, Unimation, primer Unimate en la GM de Nueva Jersey en 1961, licencia a Kawasaki en 1968. Anécdota que funciona: el Unimate en el Tonight Show en 1966 sirvió cerveza, metió un putt y dirigió la banda.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la definición de Corke como definición literal de examen: máquina orientada a objetivos que percibe, planifica y actúa. Citar a Engelberger (no sé definir un robot, pero lo reconozco cuando lo veo). Decir explícitamente que la tríada organiza el curso: percibir en B3 y B6, planificar en B7, actuar en B3, B4 y B5. Abajo, fijar la pareja propioceptivo (estado propio, base de la odometría) y exteroceptivo (el mundo, corrige la deriva); reaparece en B6.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espectro con sus cuatro niveles y ejemplos: teleoperación (ROV, cirugía), control alternado (piloto automático), compartido (mantener carril), autonomía supervisada (rovers, por la latencia de minutos). Discusión de 10 minutos con los tres casos de la tarjeta; el del brazo industrial incomoda a propósito: ni percibe ni planifica. Cierre: la definición es una vara de medir, no una frontera. Encargar ejemplos de robots de prensa para S4.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Última sesión del bloque: panorama actual, debate de ética y lanzamiento del seminario. Al final, cuestionario B1. Plan: 0-5 recuperación; 5-25 panorama con vídeos cortos; 25-35 ética en formato debate; 35-45 lanzamiento del seminario; 45-60 cuestionario B1 en Moodle (15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las cuatro fotos como ejercicio rápido: situar cada una en la tríada percibir-planificar-actuar y en el espectro de autonomía de S3. Ingenuity y Perseverance: autonomía supervisada a cientos de millones de kilómetros. Robotaxi: robot de servicio en la calle. Multirrotor: percepción y control embarcados de serie. Atlas 2013: comparar aquel prototipo del DRC con los humanoides industriales actuales.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Contexto: desde 2023 los modelos fundacionales llegan al control físico. Nombrar los tres VLA de la diapositiva sin entrar en técnica (eso es B8). Dar el mensaje doble de la tarjeta: los fundamentos no caducan (el VLA emite consignas que ejecutan los lazos de B5 sobre la cinemática de B4) y el perfil que se contrata combina fundamentos, Python, ROS 2 y criterio. Apoyar con dos o tres vídeos cortos.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Formato debate, 10 minutos: proyectar cada afirmación, votación a mano alzada, pedir argumentos de ambos lados. Datos útiles para moderar: los conductores humanos causan más de un millón de muertes al año y aun así el coche autónomo genera más incomodidad; la automatización sostiene industrias enteras. Cerrar con la posición de Corke: estas cuestiones no deben decidirlas solo los roboticistas, pero tampoco pueden ignorarlas.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las cuatro tarjetas sin prisa: es evaluación continua. Subrayar tres cosas: la validación del artículo termina el 30 de septiembre y los buenos artículos vuelan; la conexión con el curso es obligatoria; la IA generativa está permitida con declaración y defensa oral individual. Últimos 15 minutos: cuestionario B1 en Moodle (10 preguntas del banco del bloque).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223760" y="2377440"/>
            <a:ext cx="4983480" cy="44988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9509760" y="4480560"/>
            <a:ext cx="2697480" cy="239572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pic>
        <p:nvPicPr>
          <p:cNvPr id="4" name="Image 0" descr="/home/claude/work/curso_82514/media/logo_iqs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D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82514 · MECATRÓNICA Y ROBÓTICA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mecatrónica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panorama 2026 de la robótica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S1–S4 · 4 horas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 10, 16 y 17 de septiembre de 2026 · IQS Universitat Ramon Llull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del bloque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mié 9 sep · 1 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047902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mecatrónica? Definición, dominios y componentes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4378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jue 10 sep · 1 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474720"/>
            <a:ext cx="1047902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diseño mecatrónico: diseño acoplado y MDQ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8678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mié 16 sep · 1 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4617720"/>
            <a:ext cx="1047902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la robótica y definición de robot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12978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jue 17 sep · 1 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5760720"/>
            <a:ext cx="1047902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2026, ética y lanzamiento del seminario de artículos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82514 Mecatrónica y Robótica · B1 · IQS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mecatrónica?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· sistemas multidominio · componentes · ejemplos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DEFINICIÓN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definición con dos palabras clave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0350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sinérgica de la mecánica, la electrónica, el control y la informática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…al desarrollo de productos electromecánicos mediante un enfoque de diseño integrado (De Silva, cap. 1).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Sinergia: los subsistemas se conciben y optimizan juntos, no se yuxtaponen.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Integrado: las interacciones dinámicas entran en el diseño desde la primera fase.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término lo acuñó Yasakawa Electric (Japón) en 1969; marca registrada en 1972, liberada en 1982.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55448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50608" y="1700784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multidominio: el ABS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50608" y="2194560"/>
            <a:ext cx="416966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Frenos antibloqueo de un automóvil: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Mecánica, dinámica del vehículo y de la rueda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Electrónica, sensores de giro y ECU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Hidráulica, circuito de frenado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Térmica, disipación en los discos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Diseñarlo de forma «óptima» exige tratarlo como un único producto mecatrónico.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Silva, Mechatronics: Fundamentals and Applications, cap. 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ANATOMÍA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un sistema mecatrónico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mecánico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377440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mecanismos, bloque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1860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3474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347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29100" y="17465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3028" y="2377440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Motores, hidráulica, neumática, bloque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17465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64808" y="2377440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Propioceptivos y exteroceptivos, bloque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75420" y="1600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25830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583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52660" y="17465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76588" y="2377440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Lazos de control, bloque 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0325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Acondicionamiento de señal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" y="4663440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Amplificación, filtrado, conversión A/D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51860" y="3886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34740" y="4069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347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29100" y="40325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y software digital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53028" y="4663440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embebida, bloque 7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3886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46520" y="4069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46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0880" y="40325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64808" y="4663440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entre dominios y con el usuario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075420" y="388620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258300" y="4069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2583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852660" y="40325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alimentación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276588" y="4663440"/>
            <a:ext cx="2203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Energía: el hilo unificador del diseño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Silva, cap. 1 · La lista es el índice del curso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EJEMPLOS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ejemplos canónicos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disco duro (HDD)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499262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Mecatrónica en miniatura: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Platos a 7200 rpm; cabezal «volando» a nanómetros de la superficie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Motor de husillo + actuador de bobina móvil para el brazo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Posición embebida en las pistas (sensado)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Lazo de seguimiento con precisión submicrométrica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¿por qué el servo del brazo no puede diseñarse sin conocer la mecánica del brazo? (resonancias, masa móvil → bloque 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64808" y="170078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servomotor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4808" y="2194560"/>
            <a:ext cx="485546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«átomo» de la robótica: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Mecánica, rotor, estátor, rodamientos, encoder óptico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Eléctrica, bobinados, etapa de potencia, conmutación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Control, lazo cerrado de posición / velocidad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robot industrial de 6 ejes = 6 servomotores coordinados + un esqueleto.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(De Silva): transporte, fabricación, medicina, hogar, espacio… «no hay límite».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Silva, cap. 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diseño mecatrónico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modelado-diseño · diseño acoplado · MDQ · evolución de diseño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diseño: un bucle iterativo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88366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especificaciones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51760" y="2103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355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26080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27248" y="188366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27248" y="2377440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del sistema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355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12080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13248" y="188366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3248" y="2377440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desempeño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0" y="2103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355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98080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699248" y="188366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99248" y="2377440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0" y="2103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355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84080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985248" y="1883664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85248" y="2377440"/>
            <a:ext cx="1655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del modelo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 modelo es una representación de un sistema real», y el bucle se recorre varias veces.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energía como hilo unificador: la potencia enlaza dominios (v·i = ω·τ) y la disipación mínima es objetivo de diseño (eficiencia, térmica, ruido, desgaste).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los factores de seguridad excesivos y el diseño por «peor caso»: no dan diseños óptimos ni más baratos.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bucle estructura el proyecto integrador: modelo cinemático (B4) → control (B5) → percepción y navegación (B6–B7).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Silva, cap. 1, fig. 1.3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DISEÑO NO ACOPLADO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falla el diseño secuencial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características cambian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423160"/>
            <a:ext cx="307238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interconectar dos componentes diseñados por separado, la carga y las interacciones dinámicas alteran sus condiciones de operación originales.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acoplamiento perfecto es imposible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423160"/>
            <a:ext cx="307238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componente quedará subutilizado o sobrecargado; ambas condiciones son ineficientes y no deseables.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variables ocultas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47888" y="2423160"/>
            <a:ext cx="307238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externas pasan a ser internas tras la interconexión: ya no pueden monitorizarse con sensores ni controlarse directamente.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" y="4901184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tradicional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5394960"/>
            <a:ext cx="10479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 primero → electrónica después → computador → controlador al final. Cada subsistema se diseña «congelando» sus interacciones con el resto: eso es el diseño no acoplado.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Silva, cap. 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DISEÑO ACOPLADO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Cociente de Diseño Mecatrónico (MDQ)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diseño I: grado en que un diseño satisface sus especificaciones.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Aislados, cada subsistema alcanza su óptimo (Iue eléctrico, Ium mecánico); interconectados, ninguno lo alcanza.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mecatrónico = optimización conjunta: minimizar el coste J o maximizar el MDQ (ecs. 1.2 y 1.4; De Silva et al., 2016, pp. 6-7):</a:t>
            </a:r>
            <a:endParaRPr lang="en-US" sz="1400" dirty="0"/>
          </a:p>
        </p:txBody>
      </p:sp>
      <p:pic>
        <p:nvPicPr>
          <p:cNvPr id="5" name="Image 0" descr="/home/claude/work/curso_82514/media/eq/mdq_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03320"/>
            <a:ext cx="5669280" cy="403133"/>
          </a:xfrm>
          <a:prstGeom prst="rect">
            <a:avLst/>
          </a:prstGeom>
        </p:spPr>
      </p:pic>
      <p:pic>
        <p:nvPicPr>
          <p:cNvPr id="6" name="Image 1" descr="/home/claude/work/curso_82514/media/eq/md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96" y="4434840"/>
            <a:ext cx="4475648" cy="1051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5715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Generalizable: fiabilidad, mantenibilidad, eficiencia, coste, tamaño, facilidad de control, inteligencia.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223760" y="155448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424928" y="170078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 algoritmos genéticos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24928" y="2194560"/>
            <a:ext cx="389534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Cromosoma = un diseño completo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 = un elemento de información (componente, conexión, parámetro)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Alelos = opciones disponibles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Función de aptitud = el MDQ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Jerárquico: una capa elige el tipo de actuador (hidráulico, DC, inducción, paso a paso); otra, el motor concreto del catálogo.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Silva, cap. 1, ecs. 1.1–1.5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definición de robot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autómatas a Unimation · percibir, planificar, actuar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S1–S3 · IMÁGENES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máquinas que cuentan la historia</a:t>
            </a:r>
            <a:endParaRPr lang="en-US" sz="3000" dirty="0"/>
          </a:p>
        </p:txBody>
      </p:sp>
      <p:pic>
        <p:nvPicPr>
          <p:cNvPr id="4" name="Image 0" descr="/home/claude/work/curso_82514/media/fotos/b1_unim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38" y="1371600"/>
            <a:ext cx="4667164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7058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sirviendo café, Biltmore Hotel, 1967</a:t>
            </a:r>
            <a:endParaRPr lang="en-US" sz="1050" dirty="0"/>
          </a:p>
        </p:txBody>
      </p:sp>
      <p:pic>
        <p:nvPicPr>
          <p:cNvPr id="6" name="Image 1" descr="/home/claude/work/curso_82514/media/fotos/b1_jacqu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882" y="1371600"/>
            <a:ext cx="1659636" cy="22128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362102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Telar de Jacquard: el programa en tarjetas perforadas</a:t>
            </a:r>
            <a:endParaRPr lang="en-US" sz="1050" dirty="0"/>
          </a:p>
        </p:txBody>
      </p:sp>
      <p:pic>
        <p:nvPicPr>
          <p:cNvPr id="8" name="Image 2" descr="/home/claude/work/curso_82514/media/fotos/b1_hd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0" y="3977640"/>
            <a:ext cx="2537460" cy="1691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37960" y="57058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Brazo actuador de un disco duro: mecatrónica en miniatura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Fotos: F. Q. Brown/Los Angeles Times CC BY 4.0 · A. Meskens CC BY-SA 3.0 · Mk2010 CC BY 4.0 · Wikimedia Commons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HISTORIA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autómatas a la fábrica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4650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3072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 de Vaucanson: un solo programa fijo (levas)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174650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4568" y="2240280"/>
            <a:ext cx="3072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Telar de Jacquard: reprogramable con tarjetas perforadas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47888" y="174650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7888" y="2240280"/>
            <a:ext cx="3072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R.U.R. de Karel Čapek: nace la palabra «robot» (roboti, servidumbre)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80390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1954–61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4297680"/>
            <a:ext cx="3072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 de Devol; Unimation Inc. (Devol + Engelberger)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44568" y="380390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44568" y="4297680"/>
            <a:ext cx="3072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Unimate en producción: GM, Nueva Jersey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47888" y="380390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47888" y="4297680"/>
            <a:ext cx="3072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 Kawasaki: primer robot industrial japonés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" y="5961888"/>
            <a:ext cx="10479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Asimov (1950–85) explora la moralidad con las Tres Leyes: nuestras expectativas sobre robots vienen de la ficción tanto como de la ingeniería.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RVC3, cap. 1, secciones 1.1 y excursus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DEFINICIÓN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robot?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PERCIBIR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423160"/>
            <a:ext cx="30723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Sensores: estado propio y del mundo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3 y 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355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44568" y="2423160"/>
            <a:ext cx="30723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información + objetivo a la acción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355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2396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47888" y="2423160"/>
            <a:ext cx="30723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movimiento con precisión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3, 4 y 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1248" y="416966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propioceptivos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663440"/>
            <a:ext cx="49926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Miden el estado del propio robot: ángulos articulares, revoluciones de rueda, corriente de motor. Base de la odometría.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64808" y="416966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exteroceptivos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64808" y="4663440"/>
            <a:ext cx="48554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Miden el mundo respecto al robot: choque, GPS, brújula, tiempo de vuelo (acústico, óptico, radio). Corrigen la deriva propioceptiva.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RVC3, cap. 1, sección 1.3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AUTONOMÍA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Telerobots y el espectro de autonomía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309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Telerobots: del «teleautomaton» de Tesla (1898) a los brazos maestro-esclavo de Goertz (Argonne, Proyecto Manhattan) con realimentación de fuerza.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herederos: los ROV del Titanic y la cirugía robótica actual, teleoperada, no autónoma.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alternado (traded): humano y computador se pasan el control (piloto automático).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compartido (shared): ambos a la vez (mantener carril + conductor gestiona velocidad).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Rovers marcianos: autonomía local con objetivos de alto nivel desde la Tierra (latencia de minutos).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4928" y="170078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(10 min)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24928" y="2194560"/>
            <a:ext cx="389534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cada uno en el espectro?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dron de carreras FPV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taxi autónomo comercial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brazo del laboratorio ejecutando un programa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incomoda: un robot industrial clásico ni percibe ni planifica, ¿es un robot o automatización programable?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RVC3, cap. 1, excursus 1.5–1.6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2026 y seminario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 · humanoides · ética · lanzamiento del seminario de artículos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 2026, en imágenes</a:t>
            </a:r>
            <a:endParaRPr lang="en-US" sz="3000" dirty="0"/>
          </a:p>
        </p:txBody>
      </p:sp>
      <p:pic>
        <p:nvPicPr>
          <p:cNvPr id="4" name="Image 0" descr="/home/claude/work/curso_82514/media/fotos/b1_rover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0043" y="1371600"/>
            <a:ext cx="3069315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69417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Ingenuity, fotografiado por Perseverance: autonomía a 300 millones de km</a:t>
            </a:r>
            <a:endParaRPr lang="en-US" sz="1050" dirty="0"/>
          </a:p>
        </p:txBody>
      </p:sp>
      <p:pic>
        <p:nvPicPr>
          <p:cNvPr id="6" name="Image 1" descr="/home/claude/work/curso_82514/media/fotos/b2_au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34290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369417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Robotaxi en flota comercial: el robot de servicio ya está en la calle</a:t>
            </a:r>
            <a:endParaRPr lang="en-US" sz="1050" dirty="0"/>
          </a:p>
        </p:txBody>
      </p:sp>
      <p:pic>
        <p:nvPicPr>
          <p:cNvPr id="8" name="Image 2" descr="/home/claude/work/curso_82514/media/fotos/b2_dro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950208"/>
            <a:ext cx="3429000" cy="2286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627278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Multirrotor: percepción y control embarcados de serie</a:t>
            </a:r>
            <a:endParaRPr lang="en-US" sz="1050" dirty="0"/>
          </a:p>
        </p:txBody>
      </p:sp>
      <p:pic>
        <p:nvPicPr>
          <p:cNvPr id="10" name="Image 3" descr="/home/claude/work/curso_82514/media/fotos/b7_atla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805" y="3950208"/>
            <a:ext cx="1660030" cy="2286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2200" y="627278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(2013): del DARPA Robotics Challenge a los humanoides industriales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Fotos: NASA/JPL-Caltech CC BY 2.0 · Dllu CC BY-SA 4.0 · J. Sorenson CC0 · DARPA dominio público · Wikimedia Commons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«Physical AI»: por qué 2026 no es 2016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309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2023: modelos fundacionales aplicados al control de robots físicos.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visión-lenguaje-acción (VLA): de cámara + instrucción en lenguaje natural a acciones motoras.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π0 (Physical Intelligence) · GR00T (NVIDIA, humanoides) · Gemini Robotics (Google DeepMind).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Humanoides: de curiosidad a pilotos industriales en logística y fabricación.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Cobots y AMR siguen siendo el mayor segmento de crecimiento en fábrica.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4928" y="170078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doble para el curso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24928" y="2194560"/>
            <a:ext cx="389534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Los fundamentos no caducan: los VLA generan consignas que ejecutan los lazos de control del bloque 5, sobre la cinemática del bloque 4.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 perfil que demanda el mercado: fundamentos + Python + ROS 2 + criterio para saber cuándo la IA aporta valor.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8 vuelve aquí con detalle técnico.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bloque 8 · Physical AI, VLA, humanoides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DEBATE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Ética: preguntas sin respuesta fácil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423160"/>
            <a:ext cx="307238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ya hace tareas de información; ¿invadirán los robots las físicas? Contrapunto: trabajos peligrosos o sin mano de obra, e industrias (automóvil) viables gracias a la automatización.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Coches autónomos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423160"/>
            <a:ext cx="307238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conductores humanos matan a &gt;1 millón de personas/año; aún así el coche autónomo genera más incomodidad. ¿A quién culpamos cuando el robot se equivoca?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de personas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47888" y="2423160"/>
            <a:ext cx="307238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en cirugía, mayores y educación: ¿eficiencia ganada o contacto humano perdido?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" y="5175504"/>
            <a:ext cx="1047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posición de Corke (y de esta asignatura)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5669280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cuestiones no deben decidirlas solo los roboticistas, pero tampoco pueden ignorarlas. Participar en el debate es parte de la profesión.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RVC3, cap. 1, sección 1.5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EVALUACIÓN CONTINUA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 de artículos científicos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77440"/>
            <a:ext cx="4946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Parejas. Un artículo de los últimos 12–18 meses: VLA y robot learning, SLAM, humanoides, manipulación, percepción, HRI, seguridad.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7465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19088" y="2377440"/>
            <a:ext cx="4946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(cs.RO), ICRA, IROS, RSS, CoRL, Science Robotics, IEEE T-RO / RA-L. Validación del profesor antes del 30 de septiembre.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782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709160"/>
            <a:ext cx="4946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10 min + 5 de preguntas en S41–S42 (16–17 dic): problema, método, resultados, limitaciones, conexión con el curso.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0782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4709160"/>
            <a:ext cx="4946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30% · comprensión técnica 40% · análisis crítico 20% · preguntas 10%. IA generativa permitida con declaración; defensa oral individual.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Presentaciones: S41–S42 · 16 y 17 de diciembre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2026-08-11T07:26:35Z</dcterms:created>
  <dcterms:modified xsi:type="dcterms:W3CDTF">2026-08-11T07:26:35Z</dcterms:modified>
</cp:coreProperties>
</file>