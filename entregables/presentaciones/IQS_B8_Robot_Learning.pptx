
<file path=[Content_Types].xml><?xml version="1.0" encoding="utf-8"?>
<Types xmlns="http://schemas.openxmlformats.org/package/2006/content-types">
  <Default Extension="jpg" ContentType="image/jpe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1.jpg" ContentType="image/jpg"/>
  <Override PartName="/ppt/media/image-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Encuadre: el bloque nuevo de la asignatura, compactado en dos sesiones de docencia porque el viernes 11 es el parcial 2. Enfoque conceptual: qué problema resuelve cada método, cuándo se usa y qué lo limita.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el calendario comprimido: el miércoles, refuerzo desde cero (MDP y Q-learning a mano); el jueves, la sesión panorámica (RL profundo, imitación, VLA) con los gemelos digitales como lectura guiada; el viernes, parcial 2 de B5 a B7. El bloque 8 no entra en el parcial: se evalúa en el cuestionario de Moodle (abierto en casa del 11 al 15) y en el final de enero. La semana siguiente, seminario: sus artículos renuevan este bloque cada curso.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Empezar por el esqueleto matemático: el proceso de decisión de Markov. La foto del brazo jugando al ajedrez ilustra la decisión secuencial: cada movimiento condiciona los siguientes y la recompensa llega al final. Plan: 0-5 apertura; 5-20 el MDP con sus cinco elementos; 20-38 política y funciones de valor; 38-55 Q-learning con la actualización en pizarra y el ejemplo de rejilla; 55-60 límites del tabular y anuncio de la panorámica.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las dos imágenes del bloque. El banco del NIST muestra el tipo de problema donde la programación explícita se agota y entra el aprendizaje. La política del gridworld es el resultado que reproducirán en el cuaderno de S38; merece señalar que las flechas rodean el peligro sin que nadie las haya programado: emergen del valor.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los cinco elementos deteniéndose en la recompensa: diseñarla es la parte difícil, y la mayoría de los fracasos prácticos son recompensas mal especificadas que el agente explota; pedir ejemplos, salen solos. Fijar los dos rasgos de Sutton y Barto (ensayo y error, recompensa retardada), el dilema exploración-explotación con epsilon-greedy, y el objetivo: maximizar el retorno acumulado, no la recompensa inmediata.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Proyectar después de escribir la actualización de Q-learning en pizarra. La animación muestra la iteración de valor barrido a barrido: al principio solo la meta vale algo y el valor fluye hacia atrás. Detener la animación en el tercer barrido y preguntar qué celdas saben ya algo, cuáles no, y por qué el valor rodea el obstáculo en vez de atravesarlo.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Definir Q como el retorno esperado de tomar la acción y actuar bien después; con Q conocida, la política óptima es elegir el máximo. Desglosar la actualización término a término antes del ejemplo: el corchete es el error de diferencia temporal y alfa decide cuánto corregir. Hacer el ejemplo de rejilla en pizarra (cinco iteraciones bastan). Avisar de que una actualización numérica exactamente así cae en el examen final. Cerrar con el muro de la tabla: los estados continuos no caben, y la salida (aproximar con una red) es la sesión siguiente.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Sesión panorámica comprimida por el parcial: cuatro paradas en una hora, construyendo mapa y criterio; el detalle queda en los apuntes como lectura guiada, gemelos digitales incluidos. Plan: 0-5 recuperación; 5-15 políticas parametrizadas y PPO; 15-25 simuladores y aleatorización; 25-40 imitación y diffusion policies; 40-52 VLA; 52-60 cierre y logística (parcial mañana, cuestionario en Moodle hasta el 15).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cuatro ideas encadenadas: la política parametrizada generaliza a cambio de perder garantías; PPO limita el cambio por paso y por eso se impuso; el entrenamiento vive en simulación porque hacen falta millones de interacciones; y la brecha de realidad se cruza con aleatorización de dominio. Si el tiempo lo permite, vídeo de entrenamiento masivo en paralelo: explica el método sin ecuaciones.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Explicar la clonación de comportamiento como aprendizaje supervisado sobre demostraciones teleoperadas y su fallo característico: al desviarse entra en estados no vistos y el error se acumula. Usar el ejemplo del obstáculo para la multimodalidad: dos rodeos correctos y la red que predice el promedio va por el centro y choca; las diffusion policies generan la distribución completa. Cerrar con la división del trabajo actual: refuerzo donde la recompensa es fácil de escribir (locomoción), imitación donde la tarea es fácil de demostrar (manipulación).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 genealogía de las cuatro tarjetas sin entrar en arquitecturas y fijar el patrón común de la franja inferior: preentrenar con la web, ajustar con demostraciones, lenguaje como interfaz, acciones como salida. Si hay tiempo, la pregunta de síntesis con un vídeo: qué parte es percepción, cuál planificación y cuál control; la respuesta (el VLA emite consignas que ejecutan los lazos de B5) resume el curso.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Tratar como lectura guiada y cierre exprés. Del gemelo digital, la distinción que se pide: un simulador modela; un gemelo modela y está sincronizado con un activo concreto mediante un vínculo de datos (marco ISO 23247). La tarjeta grande es el cierre conceptual de la asignatura: el aprendizaje no sustituye a la cinemática, el control ni la estimación; se apoya en ellos. Recordar: cuestionario B8 en Moodle hasta el 15 y parcial 2 mañana (el bloque 8 no entra).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Día de examen, dos horas, bloques 5 a 7, mismas reglas que el parcial 1: seis versiones en damero, DNI, calculadora no programable, hoja A4 de formulario. Recordar que el bloque 8 se evalúa en el cuestionario de Moodle (hasta el martes 15) y en el final de enero. Publicar soluciones y rúbrica tras la corrección.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Proyectar al cerrar S39 y dejar publicada en el campus. Recorrer las cuatro partes: test de B5 a B7; diseño de un PD con sobreoscilación, error de gravedad y windup; un paso completo de filtro de Kalman 1D (el mismo del taller de S28); y A* sobre rejilla más un diagnóstico de QoS. Recordar el criterio de corrección: planteamiento al 40 por ciento, sin desarrollo no hay puntos, los errores de arrastre no se penalizan dos veces. Recomendar preparar la hoja de formulario como método de repaso.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Encuadrar las dos sesiones: presentaciones de diez minutos por pareja (siete de exposición, tres de preguntas) cronometradas en pantalla, orden publicado la víspera. Por sesión: 0-5 encuadre; 5-55 presentaciones; 55-60 síntesis. En S42, los últimos quince minutos son el cierre global con el mapa de artículos por bloque.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Reglas que conviene decir antes de empezar: cronómetro en serio desde la primera pareja (si se alarga, la sesión se descuadra), toda entrega es defendible individualmente, y la conexión con un bloque del curso es obligatoria. Tener lista la batería de preguntas comodín de la tarjeta para los silencios, y avisar de que las preguntas del público puntúan en participación. Anotar la rúbrica entre presentaciones, no al final.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Proyectar al empezar S41; está publicada desde S4 y nadie debe llegar sin conocerla. Recorrer los cuatro criterios y explicar en voz alta por qué la comprensión técnica pesa un 40 por ciento: premia estudiar el artículo, no maquetar diapositivas; y se comprueba en las preguntas.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del semestre: defensas del proyecto (doce minutos más cinco de preguntas por equipo), repaso orientado al examen final y despedida. Plan: 0-10 encuadre y rúbrica en pantalla; 10-95 defensas cerrando la puntuación entre equipo y equipo; 95-105 repaso del examen; 105-120 cierre, mapa de artículos y encuesta.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Proyectar la rúbrica antes de la primera defensa y leer el criterio clave en voz alta: un proyecto que no funcionó del todo pero cuyo equipo sabe por qué, lo ha medido y propone un camino, puntúa por encima de uno que funciona sin explicación. Cerrar la puntuación de cada equipo en los treinta segundos siguientes a su turno. Preguntas comodín preparadas: qué falló primero y cómo se diagnosticó, qué harían con una semana más, qué medida de seguridad de B2 exigiría su célula.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 lista pidiendo a la clase que complete cada casilla antes de mostrarla. Recordar la mecánica del final de enero: integra todo el curso, quien tenga un parcial por debajo de 4 recupera ese bloque de materia, y el resto afronta un examen centrado en B8 e integración. El examen de muestra con solución queda publicado hoy. Cierre del semestre: el mapa de artículos de S42, el stack de S37, la encuesta anónima y el agradecimiento; el bloque 8 lo renuevan sus artículos.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0"/>
        </a:solidFill>
      </p:bgPr>
    </p:bg>
    <p:spTree>
      <p:nvGrpSpPr>
        <p:cNvPr id="1" name=""/>
        <p:cNvGrpSpPr/>
        <p:nvPr/>
      </p:nvGrpSpPr>
      <p:grpSpPr>
        <a:xfrm>
          <a:off x="0" y="0"/>
          <a:ext cx="0" cy="0"/>
          <a:chOff x="0" y="0"/>
          <a:chExt cx="0" cy="0"/>
        </a:xfrm>
      </p:grpSpPr>
      <p:sp>
        <p:nvSpPr>
          <p:cNvPr id="2" name="Shape 0"/>
          <p:cNvSpPr/>
          <p:nvPr/>
        </p:nvSpPr>
        <p:spPr>
          <a:xfrm flipH="1">
            <a:off x="7223760" y="2377440"/>
            <a:ext cx="4983480" cy="4498848"/>
          </a:xfrm>
          <a:prstGeom prst="rtTriangle">
            <a:avLst/>
          </a:prstGeom>
          <a:solidFill>
            <a:srgbClr val="2E3FA3"/>
          </a:solidFill>
          <a:ln/>
        </p:spPr>
        <p:txBody>
          <a:bodyPr/>
          <a:p/>
        </p:txBody>
      </p:sp>
      <p:sp>
        <p:nvSpPr>
          <p:cNvPr id="3" name="Shape 1"/>
          <p:cNvSpPr/>
          <p:nvPr/>
        </p:nvSpPr>
        <p:spPr>
          <a:xfrm flipH="1">
            <a:off x="9509760" y="4480560"/>
            <a:ext cx="2697480" cy="2395728"/>
          </a:xfrm>
          <a:prstGeom prst="rtTriangle">
            <a:avLst/>
          </a:prstGeom>
          <a:solidFill>
            <a:srgbClr val="2FD26E"/>
          </a:solidFill>
          <a:ln/>
        </p:spPr>
        <p:txBody>
          <a:bodyPr/>
          <a:p/>
        </p:txBody>
      </p:sp>
      <p:pic>
        <p:nvPicPr>
          <p:cNvPr id="4" name="Image 0" descr="/home/claude/work/curso_82514/media/logo_iqs_blanco.png">    </p:cNvPr>
          <p:cNvPicPr>
            <a:picLocks noChangeAspect="1"/>
          </p:cNvPicPr>
          <p:nvPr/>
        </p:nvPicPr>
        <p:blipFill>
          <a:blip r:embed="rId1"/>
          <a:stretch>
            <a:fillRect/>
          </a:stretch>
        </p:blipFill>
        <p:spPr>
          <a:xfrm>
            <a:off x="640080" y="384048"/>
            <a:ext cx="1188720" cy="1188720"/>
          </a:xfrm>
          <a:prstGeom prst="rect">
            <a:avLst/>
          </a:prstGeom>
        </p:spPr>
      </p:pic>
      <p:sp>
        <p:nvSpPr>
          <p:cNvPr id="5" name="Text 2"/>
          <p:cNvSpPr/>
          <p:nvPr/>
        </p:nvSpPr>
        <p:spPr>
          <a:xfrm>
            <a:off x="640080" y="2286000"/>
            <a:ext cx="8686800" cy="457200"/>
          </a:xfrm>
          <a:prstGeom prst="rect">
            <a:avLst/>
          </a:prstGeom>
          <a:noFill/>
          <a:ln/>
        </p:spPr>
        <p:txBody>
          <a:bodyPr wrap="square" lIns="0" tIns="0" rIns="0" bIns="0" rtlCol="0" anchor="ctr"/>
          <a:lstStyle/>
          <a:p>
            <a:pPr indent="0" marL="0">
              <a:buNone/>
            </a:pPr>
            <a:r>
              <a:rPr lang="en-US" sz="1800" b="1" dirty="0">
                <a:solidFill>
                  <a:srgbClr val="2FD26E"/>
                </a:solidFill>
                <a:latin typeface="Calibri" pitchFamily="34" charset="0"/>
                <a:ea typeface="Calibri" pitchFamily="34" charset="-122"/>
                <a:cs typeface="Calibri" pitchFamily="34" charset="-120"/>
              </a:rPr>
              <a:t>82514 · MECATRÓNICA Y ROBÓTICA</a:t>
            </a:r>
            <a:endParaRPr lang="en-US" sz="1800" dirty="0"/>
          </a:p>
        </p:txBody>
      </p:sp>
      <p:sp>
        <p:nvSpPr>
          <p:cNvPr id="6" name="Text 3"/>
          <p:cNvSpPr/>
          <p:nvPr/>
        </p:nvSpPr>
        <p:spPr>
          <a:xfrm>
            <a:off x="640080" y="2743200"/>
            <a:ext cx="822960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Bloque 8</a:t>
            </a:r>
            <a:endParaRPr lang="en-US" sz="2200" dirty="0"/>
          </a:p>
        </p:txBody>
      </p:sp>
      <p:sp>
        <p:nvSpPr>
          <p:cNvPr id="7" name="Text 4"/>
          <p:cNvSpPr/>
          <p:nvPr/>
        </p:nvSpPr>
        <p:spPr>
          <a:xfrm>
            <a:off x="640080" y="3246120"/>
            <a:ext cx="7863840" cy="15544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Robótica basada en aprendizaje</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y seminario de artículos</a:t>
            </a:r>
            <a:endParaRPr lang="en-US" sz="4000" dirty="0"/>
          </a:p>
        </p:txBody>
      </p:sp>
      <p:sp>
        <p:nvSpPr>
          <p:cNvPr id="8" name="Text 5"/>
          <p:cNvSpPr/>
          <p:nvPr/>
        </p:nvSpPr>
        <p:spPr>
          <a:xfrm>
            <a:off x="640080" y="5029200"/>
            <a:ext cx="7315200" cy="45720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Sesiones S38–S42 · 6 horas</a:t>
            </a:r>
            <a:endParaRPr lang="en-US" sz="1600" dirty="0"/>
          </a:p>
        </p:txBody>
      </p:sp>
      <p:sp>
        <p:nvSpPr>
          <p:cNvPr id="9" name="Text 6"/>
          <p:cNvSpPr/>
          <p:nvPr/>
        </p:nvSpPr>
        <p:spPr>
          <a:xfrm>
            <a:off x="640080" y="5486400"/>
            <a:ext cx="7315200" cy="457200"/>
          </a:xfrm>
          <a:prstGeom prst="rect">
            <a:avLst/>
          </a:prstGeom>
          <a:noFill/>
          <a:ln/>
        </p:spPr>
        <p:txBody>
          <a:bodyPr wrap="square" lIns="0" tIns="0" rIns="0" bIns="0" rtlCol="0" anchor="ctr"/>
          <a:lstStyle/>
          <a:p>
            <a:pPr indent="0" marL="0">
              <a:buNone/>
            </a:pPr>
            <a:r>
              <a:rPr lang="en-US" sz="1400" dirty="0">
                <a:solidFill>
                  <a:srgbClr val="9AA7E8"/>
                </a:solidFill>
                <a:latin typeface="Calibri" pitchFamily="34" charset="0"/>
                <a:ea typeface="Calibri" pitchFamily="34" charset="-122"/>
                <a:cs typeface="Calibri" pitchFamily="34" charset="-120"/>
              </a:rPr>
              <a:t>9, 10, 11, 16 y 17 de diciembre de 2026 · IQS Universitat Ramon Llull</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BLOQUE 8</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Hoja de ruta del bloque</a:t>
            </a:r>
            <a:endParaRPr lang="en-US" sz="3000" dirty="0"/>
          </a:p>
        </p:txBody>
      </p:sp>
      <p:sp>
        <p:nvSpPr>
          <p:cNvPr id="4" name="Shape 2"/>
          <p:cNvSpPr/>
          <p:nvPr/>
        </p:nvSpPr>
        <p:spPr>
          <a:xfrm>
            <a:off x="640080" y="1600200"/>
            <a:ext cx="10881360" cy="804672"/>
          </a:xfrm>
          <a:prstGeom prst="roundRect">
            <a:avLst>
              <a:gd name="adj" fmla="val 9091"/>
            </a:avLst>
          </a:prstGeom>
          <a:solidFill>
            <a:srgbClr val="F2F4FB"/>
          </a:solidFill>
          <a:ln/>
        </p:spPr>
        <p:txBody>
          <a:bodyPr/>
          <a:p/>
        </p:txBody>
      </p:sp>
      <p:sp>
        <p:nvSpPr>
          <p:cNvPr id="5" name="Shape 3"/>
          <p:cNvSpPr/>
          <p:nvPr/>
        </p:nvSpPr>
        <p:spPr>
          <a:xfrm>
            <a:off x="841248" y="1773936"/>
            <a:ext cx="457200" cy="457200"/>
          </a:xfrm>
          <a:prstGeom prst="ellipse">
            <a:avLst/>
          </a:prstGeom>
          <a:solidFill>
            <a:srgbClr val="2FD26E"/>
          </a:solidFill>
          <a:ln/>
        </p:spPr>
        <p:txBody>
          <a:bodyPr/>
          <a:p/>
        </p:txBody>
      </p:sp>
      <p:sp>
        <p:nvSpPr>
          <p:cNvPr id="6" name="Text 4"/>
          <p:cNvSpPr/>
          <p:nvPr/>
        </p:nvSpPr>
        <p:spPr>
          <a:xfrm>
            <a:off x="841248" y="177393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1600200"/>
            <a:ext cx="9829800" cy="80467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S38 · mié 9 dic · 1 h </a:t>
            </a:r>
            <a:pPr indent="0" marL="0">
              <a:buNone/>
            </a:pPr>
            <a:r>
              <a:rPr lang="en-US" sz="1200" dirty="0">
                <a:solidFill>
                  <a:srgbClr val="1A1A2E"/>
                </a:solidFill>
                <a:latin typeface="Calibri" pitchFamily="34" charset="0"/>
                <a:ea typeface="Calibri" pitchFamily="34" charset="-122"/>
                <a:cs typeface="Calibri" pitchFamily="34" charset="-120"/>
              </a:rPr>
              <a:t>, Aprendizaje por refuerzo: MDP y Q-learning</a:t>
            </a:r>
            <a:endParaRPr lang="en-US" sz="1300" dirty="0"/>
          </a:p>
        </p:txBody>
      </p:sp>
      <p:sp>
        <p:nvSpPr>
          <p:cNvPr id="8" name="Shape 6"/>
          <p:cNvSpPr/>
          <p:nvPr/>
        </p:nvSpPr>
        <p:spPr>
          <a:xfrm>
            <a:off x="640080" y="2560320"/>
            <a:ext cx="10881360" cy="804672"/>
          </a:xfrm>
          <a:prstGeom prst="roundRect">
            <a:avLst>
              <a:gd name="adj" fmla="val 9091"/>
            </a:avLst>
          </a:prstGeom>
          <a:solidFill>
            <a:srgbClr val="F2F4FB"/>
          </a:solidFill>
          <a:ln/>
        </p:spPr>
        <p:txBody>
          <a:bodyPr/>
          <a:p/>
        </p:txBody>
      </p:sp>
      <p:sp>
        <p:nvSpPr>
          <p:cNvPr id="9" name="Shape 7"/>
          <p:cNvSpPr/>
          <p:nvPr/>
        </p:nvSpPr>
        <p:spPr>
          <a:xfrm>
            <a:off x="841248" y="2734056"/>
            <a:ext cx="457200" cy="457200"/>
          </a:xfrm>
          <a:prstGeom prst="ellipse">
            <a:avLst/>
          </a:prstGeom>
          <a:solidFill>
            <a:srgbClr val="2FD26E"/>
          </a:solidFill>
          <a:ln/>
        </p:spPr>
        <p:txBody>
          <a:bodyPr/>
          <a:p/>
        </p:txBody>
      </p:sp>
      <p:sp>
        <p:nvSpPr>
          <p:cNvPr id="10" name="Text 8"/>
          <p:cNvSpPr/>
          <p:nvPr/>
        </p:nvSpPr>
        <p:spPr>
          <a:xfrm>
            <a:off x="841248" y="273405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81328" y="2560320"/>
            <a:ext cx="9829800" cy="80467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S39 · jue 10 dic · 1 h </a:t>
            </a:r>
            <a:pPr indent="0" marL="0">
              <a:buNone/>
            </a:pPr>
            <a:r>
              <a:rPr lang="en-US" sz="1200" dirty="0">
                <a:solidFill>
                  <a:srgbClr val="1A1A2E"/>
                </a:solidFill>
                <a:latin typeface="Calibri" pitchFamily="34" charset="0"/>
                <a:ea typeface="Calibri" pitchFamily="34" charset="-122"/>
                <a:cs typeface="Calibri" pitchFamily="34" charset="-120"/>
              </a:rPr>
              <a:t>, RL profundo, imitación y modelos VLA · sim-to-real</a:t>
            </a:r>
            <a:endParaRPr lang="en-US" sz="1300" dirty="0"/>
          </a:p>
        </p:txBody>
      </p:sp>
      <p:sp>
        <p:nvSpPr>
          <p:cNvPr id="12" name="Shape 10"/>
          <p:cNvSpPr/>
          <p:nvPr/>
        </p:nvSpPr>
        <p:spPr>
          <a:xfrm>
            <a:off x="640080" y="3520440"/>
            <a:ext cx="10881360" cy="804672"/>
          </a:xfrm>
          <a:prstGeom prst="roundRect">
            <a:avLst>
              <a:gd name="adj" fmla="val 9091"/>
            </a:avLst>
          </a:prstGeom>
          <a:solidFill>
            <a:srgbClr val="F2F4FB"/>
          </a:solidFill>
          <a:ln/>
        </p:spPr>
        <p:txBody>
          <a:bodyPr/>
          <a:p/>
        </p:txBody>
      </p:sp>
      <p:sp>
        <p:nvSpPr>
          <p:cNvPr id="13" name="Shape 11"/>
          <p:cNvSpPr/>
          <p:nvPr/>
        </p:nvSpPr>
        <p:spPr>
          <a:xfrm>
            <a:off x="841248" y="3694176"/>
            <a:ext cx="457200" cy="457200"/>
          </a:xfrm>
          <a:prstGeom prst="ellipse">
            <a:avLst/>
          </a:prstGeom>
          <a:solidFill>
            <a:srgbClr val="2FD26E"/>
          </a:solidFill>
          <a:ln/>
        </p:spPr>
        <p:txBody>
          <a:bodyPr/>
          <a:p/>
        </p:txBody>
      </p:sp>
      <p:sp>
        <p:nvSpPr>
          <p:cNvPr id="14" name="Text 12"/>
          <p:cNvSpPr/>
          <p:nvPr/>
        </p:nvSpPr>
        <p:spPr>
          <a:xfrm>
            <a:off x="841248" y="369417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81328" y="3520440"/>
            <a:ext cx="9829800" cy="80467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S40 · vie 11 dic · 2 h </a:t>
            </a:r>
            <a:pPr indent="0" marL="0">
              <a:buNone/>
            </a:pPr>
            <a:r>
              <a:rPr lang="en-US" sz="1200" dirty="0">
                <a:solidFill>
                  <a:srgbClr val="1A1A2E"/>
                </a:solidFill>
                <a:latin typeface="Calibri" pitchFamily="34" charset="0"/>
                <a:ea typeface="Calibri" pitchFamily="34" charset="-122"/>
                <a:cs typeface="Calibri" pitchFamily="34" charset="-120"/>
              </a:rPr>
              <a:t>, EXAMEN PARCIAL 2 (bloques 5-7)</a:t>
            </a:r>
            <a:endParaRPr lang="en-US" sz="1300" dirty="0"/>
          </a:p>
        </p:txBody>
      </p:sp>
      <p:sp>
        <p:nvSpPr>
          <p:cNvPr id="16" name="Shape 14"/>
          <p:cNvSpPr/>
          <p:nvPr/>
        </p:nvSpPr>
        <p:spPr>
          <a:xfrm>
            <a:off x="640080" y="4480560"/>
            <a:ext cx="10881360" cy="804672"/>
          </a:xfrm>
          <a:prstGeom prst="roundRect">
            <a:avLst>
              <a:gd name="adj" fmla="val 9091"/>
            </a:avLst>
          </a:prstGeom>
          <a:solidFill>
            <a:srgbClr val="F2F4FB"/>
          </a:solidFill>
          <a:ln/>
        </p:spPr>
        <p:txBody>
          <a:bodyPr/>
          <a:p/>
        </p:txBody>
      </p:sp>
      <p:sp>
        <p:nvSpPr>
          <p:cNvPr id="17" name="Shape 15"/>
          <p:cNvSpPr/>
          <p:nvPr/>
        </p:nvSpPr>
        <p:spPr>
          <a:xfrm>
            <a:off x="841248" y="4654296"/>
            <a:ext cx="457200" cy="457200"/>
          </a:xfrm>
          <a:prstGeom prst="ellipse">
            <a:avLst/>
          </a:prstGeom>
          <a:solidFill>
            <a:srgbClr val="2FD26E"/>
          </a:solidFill>
          <a:ln/>
        </p:spPr>
        <p:txBody>
          <a:bodyPr/>
          <a:p/>
        </p:txBody>
      </p:sp>
      <p:sp>
        <p:nvSpPr>
          <p:cNvPr id="18" name="Text 16"/>
          <p:cNvSpPr/>
          <p:nvPr/>
        </p:nvSpPr>
        <p:spPr>
          <a:xfrm>
            <a:off x="841248" y="465429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81328" y="4480560"/>
            <a:ext cx="9829800" cy="80467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S41 · mié 16 dic · 1 h </a:t>
            </a:r>
            <a:pPr indent="0" marL="0">
              <a:buNone/>
            </a:pPr>
            <a:r>
              <a:rPr lang="en-US" sz="1200" dirty="0">
                <a:solidFill>
                  <a:srgbClr val="1A1A2E"/>
                </a:solidFill>
                <a:latin typeface="Calibri" pitchFamily="34" charset="0"/>
                <a:ea typeface="Calibri" pitchFamily="34" charset="-122"/>
                <a:cs typeface="Calibri" pitchFamily="34" charset="-120"/>
              </a:rPr>
              <a:t>, Seminario de artículos científicos I</a:t>
            </a:r>
            <a:endParaRPr lang="en-US" sz="1300" dirty="0"/>
          </a:p>
        </p:txBody>
      </p:sp>
      <p:sp>
        <p:nvSpPr>
          <p:cNvPr id="20" name="Shape 18"/>
          <p:cNvSpPr/>
          <p:nvPr/>
        </p:nvSpPr>
        <p:spPr>
          <a:xfrm>
            <a:off x="640080" y="5440680"/>
            <a:ext cx="10881360" cy="804672"/>
          </a:xfrm>
          <a:prstGeom prst="roundRect">
            <a:avLst>
              <a:gd name="adj" fmla="val 9091"/>
            </a:avLst>
          </a:prstGeom>
          <a:solidFill>
            <a:srgbClr val="F2F4FB"/>
          </a:solidFill>
          <a:ln/>
        </p:spPr>
        <p:txBody>
          <a:bodyPr/>
          <a:p/>
        </p:txBody>
      </p:sp>
      <p:sp>
        <p:nvSpPr>
          <p:cNvPr id="21" name="Shape 19"/>
          <p:cNvSpPr/>
          <p:nvPr/>
        </p:nvSpPr>
        <p:spPr>
          <a:xfrm>
            <a:off x="841248" y="5614416"/>
            <a:ext cx="457200" cy="457200"/>
          </a:xfrm>
          <a:prstGeom prst="ellipse">
            <a:avLst/>
          </a:prstGeom>
          <a:solidFill>
            <a:srgbClr val="2FD26E"/>
          </a:solidFill>
          <a:ln/>
        </p:spPr>
        <p:txBody>
          <a:bodyPr/>
          <a:p/>
        </p:txBody>
      </p:sp>
      <p:sp>
        <p:nvSpPr>
          <p:cNvPr id="22" name="Text 20"/>
          <p:cNvSpPr/>
          <p:nvPr/>
        </p:nvSpPr>
        <p:spPr>
          <a:xfrm>
            <a:off x="841248" y="561441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81328" y="5440680"/>
            <a:ext cx="9829800" cy="80467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S42 · jue 17 dic · 1 h </a:t>
            </a:r>
            <a:pPr indent="0" marL="0">
              <a:buNone/>
            </a:pPr>
            <a:r>
              <a:rPr lang="en-US" sz="1200" dirty="0">
                <a:solidFill>
                  <a:srgbClr val="1A1A2E"/>
                </a:solidFill>
                <a:latin typeface="Calibri" pitchFamily="34" charset="0"/>
                <a:ea typeface="Calibri" pitchFamily="34" charset="-122"/>
                <a:cs typeface="Calibri" pitchFamily="34" charset="-120"/>
              </a:rPr>
              <a:t>, Seminario de artículos científicos II y cierre</a:t>
            </a:r>
            <a:endParaRPr lang="en-US" sz="1300" dirty="0"/>
          </a:p>
        </p:txBody>
      </p:sp>
      <p:sp>
        <p:nvSpPr>
          <p:cNvPr id="25" name="Text 22"/>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82514 Mecatrónica y Robótica · B8 · IQS</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S38</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Aprendizaje por refuerzo: MDP y Q-learning</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Interacción y recompensa · política y valor · aprendizaje sin modelo</a:t>
            </a:r>
            <a:endParaRPr lang="en-US" sz="1600" dirty="0"/>
          </a:p>
        </p:txBody>
      </p:sp>
      <p:pic>
        <p:nvPicPr>
          <p:cNvPr id="8" name="Image 0" descr="/home/claude/work/curso_82514/media/fotos/b8_ajedrez3.jpg">    </p:cNvPr>
          <p:cNvPicPr>
            <a:picLocks noChangeAspect="1"/>
          </p:cNvPicPr>
          <p:nvPr/>
        </p:nvPicPr>
        <p:blipFill>
          <a:blip r:embed="rId1"/>
          <a:stretch>
            <a:fillRect/>
          </a:stretch>
        </p:blipFill>
        <p:spPr>
          <a:xfrm>
            <a:off x="7818120" y="3092958"/>
            <a:ext cx="3749040" cy="2811780"/>
          </a:xfrm>
          <a:prstGeom prst="rect">
            <a:avLst/>
          </a:prstGeom>
        </p:spPr>
      </p:pic>
      <p:sp>
        <p:nvSpPr>
          <p:cNvPr id="9" name="Shape 6"/>
          <p:cNvSpPr/>
          <p:nvPr/>
        </p:nvSpPr>
        <p:spPr>
          <a:xfrm>
            <a:off x="7818120" y="5904738"/>
            <a:ext cx="3749040" cy="54864"/>
          </a:xfrm>
          <a:prstGeom prst="rect">
            <a:avLst/>
          </a:prstGeom>
          <a:solidFill>
            <a:srgbClr val="2FD26E"/>
          </a:solidFill>
          <a:ln/>
        </p:spPr>
        <p:txBody>
          <a:bodyPr/>
          <a:p/>
        </p:txBody>
      </p:sp>
      <p:sp>
        <p:nvSpPr>
          <p:cNvPr id="10" name="Text 7"/>
          <p:cNvSpPr/>
          <p:nvPr/>
        </p:nvSpPr>
        <p:spPr>
          <a:xfrm>
            <a:off x="7589520" y="6032754"/>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Decisión secuencial: un brazo industrial juega al ajedrez</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S. Kazantsev CC BY-SA 4.0 · Wikimedia Commons</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S38–S40 · IMÁGENES DEL BLOQUE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Manipular y decidir</a:t>
            </a:r>
            <a:endParaRPr lang="en-US" sz="3000" dirty="0"/>
          </a:p>
        </p:txBody>
      </p:sp>
      <p:pic>
        <p:nvPicPr>
          <p:cNvPr id="4" name="Image 0" descr="/home/claude/work/curso_82514/media/fotos/b8_mano.jpg">    </p:cNvPr>
          <p:cNvPicPr>
            <a:picLocks noChangeAspect="1"/>
          </p:cNvPicPr>
          <p:nvPr/>
        </p:nvPicPr>
        <p:blipFill>
          <a:blip r:embed="rId1"/>
          <a:stretch>
            <a:fillRect/>
          </a:stretch>
        </p:blipFill>
        <p:spPr>
          <a:xfrm>
            <a:off x="640080" y="1905167"/>
            <a:ext cx="5349240" cy="3504867"/>
          </a:xfrm>
          <a:prstGeom prst="rect">
            <a:avLst/>
          </a:prstGeom>
        </p:spPr>
      </p:pic>
      <p:sp>
        <p:nvSpPr>
          <p:cNvPr id="5" name="Text 2"/>
          <p:cNvSpPr/>
          <p:nvPr/>
        </p:nvSpPr>
        <p:spPr>
          <a:xfrm>
            <a:off x="640080" y="5446609"/>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Banco de manipulación diestra (NIST): el problema que motiva el bloque</a:t>
            </a:r>
            <a:endParaRPr lang="en-US" sz="1050" dirty="0"/>
          </a:p>
        </p:txBody>
      </p:sp>
      <p:pic>
        <p:nvPicPr>
          <p:cNvPr id="6" name="Image 1" descr="/home/claude/work/curso_82514/media/figs/b8_gridworld.png">    </p:cNvPr>
          <p:cNvPicPr>
            <a:picLocks noChangeAspect="1"/>
          </p:cNvPicPr>
          <p:nvPr/>
        </p:nvPicPr>
        <p:blipFill>
          <a:blip r:embed="rId2"/>
          <a:stretch>
            <a:fillRect/>
          </a:stretch>
        </p:blipFill>
        <p:spPr>
          <a:xfrm>
            <a:off x="6211429" y="1554480"/>
            <a:ext cx="5270782" cy="4206240"/>
          </a:xfrm>
          <a:prstGeom prst="rect">
            <a:avLst/>
          </a:prstGeom>
        </p:spPr>
      </p:pic>
      <p:sp>
        <p:nvSpPr>
          <p:cNvPr id="7" name="Text 3"/>
          <p:cNvSpPr/>
          <p:nvPr/>
        </p:nvSpPr>
        <p:spPr>
          <a:xfrm>
            <a:off x="6172200" y="579729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La política óptima del gridworld de S38: flechas que rodean el peligro</a:t>
            </a:r>
            <a:endParaRPr lang="en-US" sz="1050" dirty="0"/>
          </a:p>
        </p:txBody>
      </p:sp>
      <p:sp>
        <p:nvSpPr>
          <p:cNvPr id="8" name="Text 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Foto: NIST, dominio público · Wikimedia Commons · Figura propia del curso (cuaderno S38)</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S38 · MDP</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El marco: decisión secuencial bajo incertidumbre</a:t>
            </a:r>
            <a:endParaRPr lang="en-US" sz="3000" dirty="0"/>
          </a:p>
        </p:txBody>
      </p:sp>
      <p:sp>
        <p:nvSpPr>
          <p:cNvPr id="4" name="Shape 2"/>
          <p:cNvSpPr/>
          <p:nvPr/>
        </p:nvSpPr>
        <p:spPr>
          <a:xfrm>
            <a:off x="640080" y="1645920"/>
            <a:ext cx="2057400" cy="2468880"/>
          </a:xfrm>
          <a:prstGeom prst="roundRect">
            <a:avLst>
              <a:gd name="adj" fmla="val 3556"/>
            </a:avLst>
          </a:prstGeom>
          <a:solidFill>
            <a:srgbClr val="F2F4FB"/>
          </a:solidFill>
          <a:ln/>
        </p:spPr>
        <p:txBody>
          <a:bodyPr/>
          <a:p/>
        </p:txBody>
      </p:sp>
      <p:sp>
        <p:nvSpPr>
          <p:cNvPr id="5" name="Shape 3"/>
          <p:cNvSpPr/>
          <p:nvPr/>
        </p:nvSpPr>
        <p:spPr>
          <a:xfrm>
            <a:off x="822960" y="1828800"/>
            <a:ext cx="457200" cy="457200"/>
          </a:xfrm>
          <a:prstGeom prst="ellipse">
            <a:avLst/>
          </a:prstGeom>
          <a:solidFill>
            <a:srgbClr val="2FD26E"/>
          </a:solidFill>
          <a:ln/>
        </p:spPr>
        <p:txBody>
          <a:bodyPr/>
          <a:p/>
        </p:txBody>
      </p:sp>
      <p:sp>
        <p:nvSpPr>
          <p:cNvPr id="6" name="Text 4"/>
          <p:cNvSpPr/>
          <p:nvPr/>
        </p:nvSpPr>
        <p:spPr>
          <a:xfrm>
            <a:off x="822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92224"/>
            <a:ext cx="109728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Estado</a:t>
            </a:r>
            <a:endParaRPr lang="en-US" sz="1350" dirty="0"/>
          </a:p>
        </p:txBody>
      </p:sp>
      <p:sp>
        <p:nvSpPr>
          <p:cNvPr id="8" name="Text 6"/>
          <p:cNvSpPr/>
          <p:nvPr/>
        </p:nvSpPr>
        <p:spPr>
          <a:xfrm>
            <a:off x="841248" y="2423160"/>
            <a:ext cx="1655064" cy="156362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Lo que el agente observa del mundo en cada instante</a:t>
            </a:r>
            <a:endParaRPr lang="en-US" sz="1150" dirty="0"/>
          </a:p>
        </p:txBody>
      </p:sp>
      <p:sp>
        <p:nvSpPr>
          <p:cNvPr id="9" name="Shape 7"/>
          <p:cNvSpPr/>
          <p:nvPr/>
        </p:nvSpPr>
        <p:spPr>
          <a:xfrm>
            <a:off x="2926080" y="1645920"/>
            <a:ext cx="2057400" cy="2468880"/>
          </a:xfrm>
          <a:prstGeom prst="roundRect">
            <a:avLst>
              <a:gd name="adj" fmla="val 3556"/>
            </a:avLst>
          </a:prstGeom>
          <a:solidFill>
            <a:srgbClr val="F2F4FB"/>
          </a:solidFill>
          <a:ln/>
        </p:spPr>
        <p:txBody>
          <a:bodyPr/>
          <a:p/>
        </p:txBody>
      </p:sp>
      <p:sp>
        <p:nvSpPr>
          <p:cNvPr id="10" name="Shape 8"/>
          <p:cNvSpPr/>
          <p:nvPr/>
        </p:nvSpPr>
        <p:spPr>
          <a:xfrm>
            <a:off x="3108960" y="1828800"/>
            <a:ext cx="457200" cy="457200"/>
          </a:xfrm>
          <a:prstGeom prst="ellipse">
            <a:avLst/>
          </a:prstGeom>
          <a:solidFill>
            <a:srgbClr val="2FD26E"/>
          </a:solidFill>
          <a:ln/>
        </p:spPr>
        <p:txBody>
          <a:bodyPr/>
          <a:p/>
        </p:txBody>
      </p:sp>
      <p:sp>
        <p:nvSpPr>
          <p:cNvPr id="11" name="Text 9"/>
          <p:cNvSpPr/>
          <p:nvPr/>
        </p:nvSpPr>
        <p:spPr>
          <a:xfrm>
            <a:off x="3108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3703320" y="1792224"/>
            <a:ext cx="109728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Acción</a:t>
            </a:r>
            <a:endParaRPr lang="en-US" sz="1350" dirty="0"/>
          </a:p>
        </p:txBody>
      </p:sp>
      <p:sp>
        <p:nvSpPr>
          <p:cNvPr id="13" name="Text 11"/>
          <p:cNvSpPr/>
          <p:nvPr/>
        </p:nvSpPr>
        <p:spPr>
          <a:xfrm>
            <a:off x="3127248" y="2423160"/>
            <a:ext cx="1655064" cy="156362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Lo que puede hacer desde ese estado</a:t>
            </a:r>
            <a:endParaRPr lang="en-US" sz="1150" dirty="0"/>
          </a:p>
        </p:txBody>
      </p:sp>
      <p:sp>
        <p:nvSpPr>
          <p:cNvPr id="14" name="Shape 12"/>
          <p:cNvSpPr/>
          <p:nvPr/>
        </p:nvSpPr>
        <p:spPr>
          <a:xfrm>
            <a:off x="5212080" y="1645920"/>
            <a:ext cx="2057400" cy="2468880"/>
          </a:xfrm>
          <a:prstGeom prst="roundRect">
            <a:avLst>
              <a:gd name="adj" fmla="val 3556"/>
            </a:avLst>
          </a:prstGeom>
          <a:solidFill>
            <a:srgbClr val="F2F4FB"/>
          </a:solidFill>
          <a:ln/>
        </p:spPr>
        <p:txBody>
          <a:bodyPr/>
          <a:p/>
        </p:txBody>
      </p:sp>
      <p:sp>
        <p:nvSpPr>
          <p:cNvPr id="15" name="Shape 13"/>
          <p:cNvSpPr/>
          <p:nvPr/>
        </p:nvSpPr>
        <p:spPr>
          <a:xfrm>
            <a:off x="5394960" y="1828800"/>
            <a:ext cx="457200" cy="457200"/>
          </a:xfrm>
          <a:prstGeom prst="ellipse">
            <a:avLst/>
          </a:prstGeom>
          <a:solidFill>
            <a:srgbClr val="2FD26E"/>
          </a:solidFill>
          <a:ln/>
        </p:spPr>
        <p:txBody>
          <a:bodyPr/>
          <a:p/>
        </p:txBody>
      </p:sp>
      <p:sp>
        <p:nvSpPr>
          <p:cNvPr id="16" name="Text 14"/>
          <p:cNvSpPr/>
          <p:nvPr/>
        </p:nvSpPr>
        <p:spPr>
          <a:xfrm>
            <a:off x="5394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5989320" y="1792224"/>
            <a:ext cx="109728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Transición</a:t>
            </a:r>
            <a:endParaRPr lang="en-US" sz="1350" dirty="0"/>
          </a:p>
        </p:txBody>
      </p:sp>
      <p:sp>
        <p:nvSpPr>
          <p:cNvPr id="18" name="Text 16"/>
          <p:cNvSpPr/>
          <p:nvPr/>
        </p:nvSpPr>
        <p:spPr>
          <a:xfrm>
            <a:off x="5413248" y="2423160"/>
            <a:ext cx="1655064" cy="156362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Cómo evoluciona el mundo: puede ser estocástica</a:t>
            </a:r>
            <a:endParaRPr lang="en-US" sz="1150" dirty="0"/>
          </a:p>
        </p:txBody>
      </p:sp>
      <p:sp>
        <p:nvSpPr>
          <p:cNvPr id="19" name="Shape 17"/>
          <p:cNvSpPr/>
          <p:nvPr/>
        </p:nvSpPr>
        <p:spPr>
          <a:xfrm>
            <a:off x="7498080" y="1645920"/>
            <a:ext cx="2057400" cy="2468880"/>
          </a:xfrm>
          <a:prstGeom prst="roundRect">
            <a:avLst>
              <a:gd name="adj" fmla="val 3556"/>
            </a:avLst>
          </a:prstGeom>
          <a:solidFill>
            <a:srgbClr val="F2F4FB"/>
          </a:solidFill>
          <a:ln/>
        </p:spPr>
        <p:txBody>
          <a:bodyPr/>
          <a:p/>
        </p:txBody>
      </p:sp>
      <p:sp>
        <p:nvSpPr>
          <p:cNvPr id="20" name="Shape 18"/>
          <p:cNvSpPr/>
          <p:nvPr/>
        </p:nvSpPr>
        <p:spPr>
          <a:xfrm>
            <a:off x="7680960" y="1828800"/>
            <a:ext cx="457200" cy="457200"/>
          </a:xfrm>
          <a:prstGeom prst="ellipse">
            <a:avLst/>
          </a:prstGeom>
          <a:solidFill>
            <a:srgbClr val="2FD26E"/>
          </a:solidFill>
          <a:ln/>
        </p:spPr>
        <p:txBody>
          <a:bodyPr/>
          <a:p/>
        </p:txBody>
      </p:sp>
      <p:sp>
        <p:nvSpPr>
          <p:cNvPr id="21" name="Text 19"/>
          <p:cNvSpPr/>
          <p:nvPr/>
        </p:nvSpPr>
        <p:spPr>
          <a:xfrm>
            <a:off x="7680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8275320" y="1792224"/>
            <a:ext cx="109728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Recompensa</a:t>
            </a:r>
            <a:endParaRPr lang="en-US" sz="1350" dirty="0"/>
          </a:p>
        </p:txBody>
      </p:sp>
      <p:sp>
        <p:nvSpPr>
          <p:cNvPr id="23" name="Text 21"/>
          <p:cNvSpPr/>
          <p:nvPr/>
        </p:nvSpPr>
        <p:spPr>
          <a:xfrm>
            <a:off x="7699248" y="2423160"/>
            <a:ext cx="1655064" cy="156362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La señal escalar que define qué es «bien». Diseñarla es la parte difícil</a:t>
            </a:r>
            <a:endParaRPr lang="en-US" sz="1150" dirty="0"/>
          </a:p>
        </p:txBody>
      </p:sp>
      <p:sp>
        <p:nvSpPr>
          <p:cNvPr id="24" name="Shape 22"/>
          <p:cNvSpPr/>
          <p:nvPr/>
        </p:nvSpPr>
        <p:spPr>
          <a:xfrm>
            <a:off x="9784080" y="1645920"/>
            <a:ext cx="2057400" cy="2468880"/>
          </a:xfrm>
          <a:prstGeom prst="roundRect">
            <a:avLst>
              <a:gd name="adj" fmla="val 3556"/>
            </a:avLst>
          </a:prstGeom>
          <a:solidFill>
            <a:srgbClr val="F2F4FB"/>
          </a:solidFill>
          <a:ln/>
        </p:spPr>
        <p:txBody>
          <a:bodyPr/>
          <a:p/>
        </p:txBody>
      </p:sp>
      <p:sp>
        <p:nvSpPr>
          <p:cNvPr id="25" name="Shape 23"/>
          <p:cNvSpPr/>
          <p:nvPr/>
        </p:nvSpPr>
        <p:spPr>
          <a:xfrm>
            <a:off x="9966960" y="1828800"/>
            <a:ext cx="457200" cy="457200"/>
          </a:xfrm>
          <a:prstGeom prst="ellipse">
            <a:avLst/>
          </a:prstGeom>
          <a:solidFill>
            <a:srgbClr val="2FD26E"/>
          </a:solidFill>
          <a:ln/>
        </p:spPr>
        <p:txBody>
          <a:bodyPr/>
          <a:p/>
        </p:txBody>
      </p:sp>
      <p:sp>
        <p:nvSpPr>
          <p:cNvPr id="26" name="Text 24"/>
          <p:cNvSpPr/>
          <p:nvPr/>
        </p:nvSpPr>
        <p:spPr>
          <a:xfrm>
            <a:off x="9966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0561320" y="1792224"/>
            <a:ext cx="109728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Descuento</a:t>
            </a:r>
            <a:endParaRPr lang="en-US" sz="1350" dirty="0"/>
          </a:p>
        </p:txBody>
      </p:sp>
      <p:sp>
        <p:nvSpPr>
          <p:cNvPr id="28" name="Text 26"/>
          <p:cNvSpPr/>
          <p:nvPr/>
        </p:nvSpPr>
        <p:spPr>
          <a:xfrm>
            <a:off x="9985248" y="2423160"/>
            <a:ext cx="1655064" cy="156362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Cuánto pesa el futuro frente al presente</a:t>
            </a:r>
            <a:endParaRPr lang="en-US" sz="1150" dirty="0"/>
          </a:p>
        </p:txBody>
      </p:sp>
      <p:sp>
        <p:nvSpPr>
          <p:cNvPr id="29" name="Shape 27"/>
          <p:cNvSpPr/>
          <p:nvPr/>
        </p:nvSpPr>
        <p:spPr>
          <a:xfrm>
            <a:off x="640080" y="4343400"/>
            <a:ext cx="5394960" cy="1737360"/>
          </a:xfrm>
          <a:prstGeom prst="roundRect">
            <a:avLst>
              <a:gd name="adj" fmla="val 4211"/>
            </a:avLst>
          </a:prstGeom>
          <a:solidFill>
            <a:srgbClr val="F2F4FB"/>
          </a:solidFill>
          <a:ln/>
        </p:spPr>
        <p:txBody>
          <a:bodyPr/>
          <a:p/>
        </p:txBody>
      </p:sp>
      <p:sp>
        <p:nvSpPr>
          <p:cNvPr id="30" name="Text 28"/>
          <p:cNvSpPr/>
          <p:nvPr/>
        </p:nvSpPr>
        <p:spPr>
          <a:xfrm>
            <a:off x="841248" y="448970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Lo distintivo del RL</a:t>
            </a:r>
            <a:endParaRPr lang="en-US" sz="1500" dirty="0"/>
          </a:p>
        </p:txBody>
      </p:sp>
      <p:sp>
        <p:nvSpPr>
          <p:cNvPr id="31" name="Text 29"/>
          <p:cNvSpPr/>
          <p:nvPr/>
        </p:nvSpPr>
        <p:spPr>
          <a:xfrm>
            <a:off x="841248" y="4983480"/>
            <a:ext cx="4992624" cy="9692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Sutton y Barto señalan dos rasgos propios: la búsqueda por ensayo y error, y la recompensa retardada, la acción buena de ahora puede pagarse mucho después (2018, cap. 1).</a:t>
            </a:r>
            <a:endParaRPr lang="en-US" sz="1250" dirty="0"/>
          </a:p>
        </p:txBody>
      </p:sp>
      <p:sp>
        <p:nvSpPr>
          <p:cNvPr id="32" name="Shape 30"/>
          <p:cNvSpPr/>
          <p:nvPr/>
        </p:nvSpPr>
        <p:spPr>
          <a:xfrm>
            <a:off x="6263640" y="4343400"/>
            <a:ext cx="5257800" cy="1737360"/>
          </a:xfrm>
          <a:prstGeom prst="roundRect">
            <a:avLst>
              <a:gd name="adj" fmla="val 4211"/>
            </a:avLst>
          </a:prstGeom>
          <a:solidFill>
            <a:srgbClr val="F2F4FB"/>
          </a:solidFill>
          <a:ln/>
        </p:spPr>
        <p:txBody>
          <a:bodyPr/>
          <a:p/>
        </p:txBody>
      </p:sp>
      <p:sp>
        <p:nvSpPr>
          <p:cNvPr id="33" name="Text 31"/>
          <p:cNvSpPr/>
          <p:nvPr/>
        </p:nvSpPr>
        <p:spPr>
          <a:xfrm>
            <a:off x="6464808" y="4489704"/>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El dilema permanente</a:t>
            </a:r>
            <a:endParaRPr lang="en-US" sz="1500" dirty="0"/>
          </a:p>
        </p:txBody>
      </p:sp>
      <p:sp>
        <p:nvSpPr>
          <p:cNvPr id="34" name="Text 32"/>
          <p:cNvSpPr/>
          <p:nvPr/>
        </p:nvSpPr>
        <p:spPr>
          <a:xfrm>
            <a:off x="6464808" y="4983480"/>
            <a:ext cx="4855464" cy="9692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Explorar acciones nuevas frente a explotar lo que ya funciona. La estrategia epsilon-greedy es la respuesta mínima y la que usaremos en el ejemplo (Sutton y Barto, 2018, cap. 2).</a:t>
            </a:r>
            <a:endParaRPr lang="en-US" sz="1250" dirty="0"/>
          </a:p>
        </p:txBody>
      </p:sp>
      <p:sp>
        <p:nvSpPr>
          <p:cNvPr id="36" name="Text 33"/>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Sutton y Barto, 2018, caps. 1-3 (citado por capítulo)</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S38 · ANIMACIÓN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El valor se propaga desde la meta</a:t>
            </a:r>
            <a:endParaRPr lang="en-US" sz="3000" dirty="0"/>
          </a:p>
        </p:txBody>
      </p:sp>
      <p:pic>
        <p:nvPicPr>
          <p:cNvPr id="4" name="Image 0" descr="/home/claude/work/curso_82514/media/gifs/b8_valor.gif">    </p:cNvPr>
          <p:cNvPicPr>
            <a:picLocks noChangeAspect="1"/>
          </p:cNvPicPr>
          <p:nvPr/>
        </p:nvPicPr>
        <p:blipFill>
          <a:blip r:embed="rId1"/>
          <a:stretch>
            <a:fillRect/>
          </a:stretch>
        </p:blipFill>
        <p:spPr>
          <a:xfrm>
            <a:off x="731520" y="1440180"/>
            <a:ext cx="6583680" cy="4526280"/>
          </a:xfrm>
          <a:prstGeom prst="rect">
            <a:avLst/>
          </a:prstGeom>
        </p:spPr>
      </p:pic>
      <p:sp>
        <p:nvSpPr>
          <p:cNvPr id="5" name="Text 2"/>
          <p:cNvSpPr/>
          <p:nvPr/>
        </p:nvSpPr>
        <p:spPr>
          <a:xfrm>
            <a:off x="731520" y="6003036"/>
            <a:ext cx="658368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Iteración de valor, barrido a barrido: el valor fluye hacia atrás desde la meta</a:t>
            </a:r>
            <a:endParaRPr lang="en-US" sz="1050" dirty="0"/>
          </a:p>
        </p:txBody>
      </p:sp>
      <p:sp>
        <p:nvSpPr>
          <p:cNvPr id="6" name="Text 3"/>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Animación propia del curso (cuaderno S38)</a:t>
            </a:r>
            <a:endParaRPr lang="en-US" sz="10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S38 · ALGORITMO</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Q-learning: aprender el valor de actuar</a:t>
            </a:r>
            <a:endParaRPr lang="en-US" sz="3000" dirty="0"/>
          </a:p>
        </p:txBody>
      </p:sp>
      <p:sp>
        <p:nvSpPr>
          <p:cNvPr id="4" name="Text 2"/>
          <p:cNvSpPr/>
          <p:nvPr/>
        </p:nvSpPr>
        <p:spPr>
          <a:xfrm>
            <a:off x="640080" y="1463040"/>
            <a:ext cx="6583680" cy="3566160"/>
          </a:xfrm>
          <a:prstGeom prst="rect">
            <a:avLst/>
          </a:prstGeom>
          <a:noFill/>
          <a:ln/>
        </p:spPr>
        <p:txBody>
          <a:bodyPr wrap="square" lIns="0" tIns="0" rIns="0" bIns="0" rtlCol="0" anchor="t"/>
          <a:lstStyle/>
          <a:p>
            <a:pPr indent="0" marL="0">
              <a:spcAft>
                <a:spcPts val="400"/>
              </a:spcAft>
              <a:buNone/>
            </a:pPr>
            <a:r>
              <a:rPr lang="en-US" sz="1500" b="1" dirty="0">
                <a:solidFill>
                  <a:srgbClr val="1B2A80"/>
                </a:solidFill>
                <a:latin typeface="Calibri" pitchFamily="34" charset="0"/>
                <a:ea typeface="Calibri" pitchFamily="34" charset="-122"/>
                <a:cs typeface="Calibri" pitchFamily="34" charset="-120"/>
              </a:rPr>
              <a:t>De valor a política</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La función Q(s,a) estima el retorno esperado de tomar la acción a en el estado s y actuar bien después. Si se conoce Q, la política óptima es elegir la acción de mayor Q.</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Q-learning aprende Q sin modelo del mundo: solo con transiciones observadas (s, a, r, s'). La actualización:</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El corchete es el error de diferencia temporal: la sorpresa entre lo que esperaba y lo que la experiencia dice ahora (Sutton y Barto, 2018, cap. 6).</a:t>
            </a:r>
            <a:endParaRPr lang="en-US" sz="1500" dirty="0"/>
          </a:p>
        </p:txBody>
      </p:sp>
      <p:pic>
        <p:nvPicPr>
          <p:cNvPr id="5" name="Image 0" descr="/home/claude/work/curso_82514/media/eq/qlearn.png">    </p:cNvPr>
          <p:cNvPicPr>
            <a:picLocks noChangeAspect="1"/>
          </p:cNvPicPr>
          <p:nvPr/>
        </p:nvPicPr>
        <p:blipFill>
          <a:blip r:embed="rId1"/>
          <a:stretch>
            <a:fillRect/>
          </a:stretch>
        </p:blipFill>
        <p:spPr>
          <a:xfrm>
            <a:off x="777240" y="5138928"/>
            <a:ext cx="6309360" cy="504077"/>
          </a:xfrm>
          <a:prstGeom prst="rect">
            <a:avLst/>
          </a:prstGeom>
        </p:spPr>
      </p:pic>
      <p:sp>
        <p:nvSpPr>
          <p:cNvPr id="6" name="Shape 3"/>
          <p:cNvSpPr/>
          <p:nvPr/>
        </p:nvSpPr>
        <p:spPr>
          <a:xfrm>
            <a:off x="7498080" y="1554480"/>
            <a:ext cx="4023360" cy="4480560"/>
          </a:xfrm>
          <a:prstGeom prst="roundRect">
            <a:avLst>
              <a:gd name="adj" fmla="val 1818"/>
            </a:avLst>
          </a:prstGeom>
          <a:solidFill>
            <a:srgbClr val="F2F4FB"/>
          </a:solidFill>
          <a:ln/>
        </p:spPr>
        <p:txBody>
          <a:bodyPr/>
          <a:p/>
        </p:txBody>
      </p:sp>
      <p:sp>
        <p:nvSpPr>
          <p:cNvPr id="7" name="Text 4"/>
          <p:cNvSpPr/>
          <p:nvPr/>
        </p:nvSpPr>
        <p:spPr>
          <a:xfrm>
            <a:off x="7699248" y="1700784"/>
            <a:ext cx="3621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El muro de la tabla</a:t>
            </a:r>
            <a:endParaRPr lang="en-US" sz="1500" dirty="0"/>
          </a:p>
        </p:txBody>
      </p:sp>
      <p:sp>
        <p:nvSpPr>
          <p:cNvPr id="8" name="Text 5"/>
          <p:cNvSpPr/>
          <p:nvPr/>
        </p:nvSpPr>
        <p:spPr>
          <a:xfrm>
            <a:off x="7699248" y="2194560"/>
            <a:ext cx="3621024" cy="37124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Q-learning tabular exige una entrada por cada par estado-acción.</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Un brazo de 6 ejes con estados continuos no cabe en ninguna tabla, y estados nunca visitados no aportan nada.</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La solución, aproximar Q o la política con una red, es la sesión siguiente.</a:t>
            </a:r>
            <a:endParaRPr lang="en-US" sz="1250" dirty="0"/>
          </a:p>
        </p:txBody>
      </p:sp>
      <p:sp>
        <p:nvSpPr>
          <p:cNvPr id="10"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Sutton y Barto, 2018, cap. 6 · Q-learning</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S39</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RL profundo, imitación y VLA</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PPO y sim-to-real · behavior cloning y diffusion policies · modelos fundacionales</a:t>
            </a:r>
            <a:endParaRPr lang="en-US" sz="16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S39 · RL PROFUNDO</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De la tabla a la red, y de la simulación al robot</a:t>
            </a:r>
            <a:endParaRPr lang="en-US" sz="3000" dirty="0"/>
          </a:p>
        </p:txBody>
      </p:sp>
      <p:sp>
        <p:nvSpPr>
          <p:cNvPr id="4" name="Shape 2"/>
          <p:cNvSpPr/>
          <p:nvPr/>
        </p:nvSpPr>
        <p:spPr>
          <a:xfrm>
            <a:off x="640080" y="1572768"/>
            <a:ext cx="5394960" cy="2194560"/>
          </a:xfrm>
          <a:prstGeom prst="roundRect">
            <a:avLst>
              <a:gd name="adj" fmla="val 3333"/>
            </a:avLst>
          </a:prstGeom>
          <a:solidFill>
            <a:srgbClr val="F2F4FB"/>
          </a:solidFill>
          <a:ln/>
        </p:spPr>
        <p:txBody>
          <a:bodyPr/>
          <a:p/>
        </p:txBody>
      </p:sp>
      <p:sp>
        <p:nvSpPr>
          <p:cNvPr id="5" name="Text 3"/>
          <p:cNvSpPr/>
          <p:nvPr/>
        </p:nvSpPr>
        <p:spPr>
          <a:xfrm>
            <a:off x="841248" y="171907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Política parametrizada</a:t>
            </a:r>
            <a:endParaRPr lang="en-US" sz="1500" dirty="0"/>
          </a:p>
        </p:txBody>
      </p:sp>
      <p:sp>
        <p:nvSpPr>
          <p:cNvPr id="6" name="Text 4"/>
          <p:cNvSpPr/>
          <p:nvPr/>
        </p:nvSpPr>
        <p:spPr>
          <a:xfrm>
            <a:off x="841248" y="2212848"/>
            <a:ext cx="4992624" cy="14264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Una red sustituye a la tabla: recibe la observación y produce la acción. Generaliza a estados nunca vistos, a cambio de perder las garantías teóricas del caso tabular (Sutton y Barto, 2018, cap. 13).</a:t>
            </a:r>
            <a:endParaRPr lang="en-US" sz="1250" dirty="0"/>
          </a:p>
        </p:txBody>
      </p:sp>
      <p:sp>
        <p:nvSpPr>
          <p:cNvPr id="7" name="Shape 5"/>
          <p:cNvSpPr/>
          <p:nvPr/>
        </p:nvSpPr>
        <p:spPr>
          <a:xfrm>
            <a:off x="6263640" y="1572768"/>
            <a:ext cx="5257800" cy="2194560"/>
          </a:xfrm>
          <a:prstGeom prst="roundRect">
            <a:avLst>
              <a:gd name="adj" fmla="val 3333"/>
            </a:avLst>
          </a:prstGeom>
          <a:solidFill>
            <a:srgbClr val="F2F4FB"/>
          </a:solidFill>
          <a:ln/>
        </p:spPr>
        <p:txBody>
          <a:bodyPr/>
          <a:p/>
        </p:txBody>
      </p:sp>
      <p:sp>
        <p:nvSpPr>
          <p:cNvPr id="8" name="Text 6"/>
          <p:cNvSpPr/>
          <p:nvPr/>
        </p:nvSpPr>
        <p:spPr>
          <a:xfrm>
            <a:off x="6464808" y="171907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PPO</a:t>
            </a:r>
            <a:endParaRPr lang="en-US" sz="1500" dirty="0"/>
          </a:p>
        </p:txBody>
      </p:sp>
      <p:sp>
        <p:nvSpPr>
          <p:cNvPr id="9" name="Text 7"/>
          <p:cNvSpPr/>
          <p:nvPr/>
        </p:nvSpPr>
        <p:spPr>
          <a:xfrm>
            <a:off x="6464808" y="2212848"/>
            <a:ext cx="4855464" cy="14264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El algoritmo de referencia en robótica: mejora la política limitando cuánto puede cambiar en cada paso, mediante un recorte que evita saltos destructivos (Schulman et al., 2017, arXiv:1707.06347).</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Tolera hiperparámetros razonables sin ajuste fino: por eso se impuso.</a:t>
            </a:r>
            <a:endParaRPr lang="en-US" sz="1200" dirty="0"/>
          </a:p>
        </p:txBody>
      </p:sp>
      <p:sp>
        <p:nvSpPr>
          <p:cNvPr id="10" name="Shape 8"/>
          <p:cNvSpPr/>
          <p:nvPr/>
        </p:nvSpPr>
        <p:spPr>
          <a:xfrm>
            <a:off x="640080" y="3950208"/>
            <a:ext cx="5394960" cy="2103120"/>
          </a:xfrm>
          <a:prstGeom prst="roundRect">
            <a:avLst>
              <a:gd name="adj" fmla="val 3478"/>
            </a:avLst>
          </a:prstGeom>
          <a:solidFill>
            <a:srgbClr val="F2F4FB"/>
          </a:solidFill>
          <a:ln/>
        </p:spPr>
        <p:txBody>
          <a:bodyPr/>
          <a:p/>
        </p:txBody>
      </p:sp>
      <p:sp>
        <p:nvSpPr>
          <p:cNvPr id="11" name="Text 9"/>
          <p:cNvSpPr/>
          <p:nvPr/>
        </p:nvSpPr>
        <p:spPr>
          <a:xfrm>
            <a:off x="841248" y="409651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Por qué en simulación</a:t>
            </a:r>
            <a:endParaRPr lang="en-US" sz="1500" dirty="0"/>
          </a:p>
        </p:txBody>
      </p:sp>
      <p:sp>
        <p:nvSpPr>
          <p:cNvPr id="12" name="Text 10"/>
          <p:cNvSpPr/>
          <p:nvPr/>
        </p:nvSpPr>
        <p:spPr>
          <a:xfrm>
            <a:off x="841248" y="4590288"/>
            <a:ext cx="4992624" cy="133502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PPO necesita millones de interacciones. En un robot real serían años y varios robots rotos; en simulación paralela masiva (MuJoCo, Isaac Lab), horas.</a:t>
            </a:r>
            <a:endParaRPr lang="en-US" sz="1250" dirty="0"/>
          </a:p>
        </p:txBody>
      </p:sp>
      <p:sp>
        <p:nvSpPr>
          <p:cNvPr id="13" name="Shape 11"/>
          <p:cNvSpPr/>
          <p:nvPr/>
        </p:nvSpPr>
        <p:spPr>
          <a:xfrm>
            <a:off x="6263640" y="3950208"/>
            <a:ext cx="5257800" cy="2103120"/>
          </a:xfrm>
          <a:prstGeom prst="roundRect">
            <a:avLst>
              <a:gd name="adj" fmla="val 3478"/>
            </a:avLst>
          </a:prstGeom>
          <a:solidFill>
            <a:srgbClr val="F2F4FB"/>
          </a:solidFill>
          <a:ln/>
        </p:spPr>
        <p:txBody>
          <a:bodyPr/>
          <a:p/>
        </p:txBody>
      </p:sp>
      <p:sp>
        <p:nvSpPr>
          <p:cNvPr id="14" name="Text 12"/>
          <p:cNvSpPr/>
          <p:nvPr/>
        </p:nvSpPr>
        <p:spPr>
          <a:xfrm>
            <a:off x="6464808" y="409651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La brecha de realidad</a:t>
            </a:r>
            <a:endParaRPr lang="en-US" sz="1500" dirty="0"/>
          </a:p>
        </p:txBody>
      </p:sp>
      <p:sp>
        <p:nvSpPr>
          <p:cNvPr id="15" name="Text 13"/>
          <p:cNvSpPr/>
          <p:nvPr/>
        </p:nvSpPr>
        <p:spPr>
          <a:xfrm>
            <a:off x="6464808" y="4590288"/>
            <a:ext cx="4855464" cy="133502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Lo aprendido en simulación falla en el robot: fricción, retardos y ruido no modelados. La aleatorización de dominio entrena bajo parámetros variables para forzar políticas robustas (Tobin et al., 2017, arXiv:1703.06907; OpenAI, 2019, arXiv:1910.07113).</a:t>
            </a:r>
            <a:endParaRPr lang="en-US" sz="1150" dirty="0"/>
          </a:p>
        </p:txBody>
      </p:sp>
      <p:sp>
        <p:nvSpPr>
          <p:cNvPr id="17" name="Text 1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Schulman et al., 2017 · Tobin et al., 2017 · OpenAI, 2019</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S39 · IMITACIÓN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Aprender de demostraciones</a:t>
            </a:r>
            <a:endParaRPr lang="en-US" sz="3000" dirty="0"/>
          </a:p>
        </p:txBody>
      </p:sp>
      <p:sp>
        <p:nvSpPr>
          <p:cNvPr id="4" name="Text 2"/>
          <p:cNvSpPr/>
          <p:nvPr/>
        </p:nvSpPr>
        <p:spPr>
          <a:xfrm>
            <a:off x="640080" y="1463040"/>
            <a:ext cx="6492240" cy="4846320"/>
          </a:xfrm>
          <a:prstGeom prst="rect">
            <a:avLst/>
          </a:prstGeom>
          <a:noFill/>
          <a:ln/>
        </p:spPr>
        <p:txBody>
          <a:bodyPr wrap="square" lIns="0" tIns="0" rIns="0" bIns="0" rtlCol="0" anchor="t"/>
          <a:lstStyle/>
          <a:p>
            <a:pPr indent="0" marL="0">
              <a:spcAft>
                <a:spcPts val="400"/>
              </a:spcAft>
              <a:buNone/>
            </a:pPr>
            <a:r>
              <a:rPr lang="en-US" sz="1500" b="1" dirty="0">
                <a:solidFill>
                  <a:srgbClr val="1B2A80"/>
                </a:solidFill>
                <a:latin typeface="Calibri" pitchFamily="34" charset="0"/>
                <a:ea typeface="Calibri" pitchFamily="34" charset="-122"/>
                <a:cs typeface="Calibri" pitchFamily="34" charset="-120"/>
              </a:rPr>
              <a:t>Behavior cloning: el enfoque directo</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Un humano teleopera el robot; la red aprende a reproducir la acción demostrada dada la observación. Es aprendizaje supervisado sobre pares observación-acción.</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Ventaja decisiva sobre el RL: no hace falta diseñar recompensa ni explorar millones de veces.</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Su fallo característico: al desviarse ligeramente entra en estados no demostrados y el error se acumula.</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Diffusion policies: en lugar de predecir una acción, generan secuencias de acciones por un proceso de difusión, lo que maneja mejor la multimodalidad (Chi et al., 2023, arXiv:2303.04137).</a:t>
            </a:r>
            <a:endParaRPr lang="en-US" sz="1500" dirty="0"/>
          </a:p>
        </p:txBody>
      </p:sp>
      <p:sp>
        <p:nvSpPr>
          <p:cNvPr id="5" name="Shape 3"/>
          <p:cNvSpPr/>
          <p:nvPr/>
        </p:nvSpPr>
        <p:spPr>
          <a:xfrm>
            <a:off x="7406640" y="1554480"/>
            <a:ext cx="4114800" cy="4480560"/>
          </a:xfrm>
          <a:prstGeom prst="roundRect">
            <a:avLst>
              <a:gd name="adj" fmla="val 1778"/>
            </a:avLst>
          </a:prstGeom>
          <a:solidFill>
            <a:srgbClr val="F2F4FB"/>
          </a:solidFill>
          <a:ln/>
        </p:spPr>
        <p:txBody>
          <a:bodyPr/>
          <a:p/>
        </p:txBody>
      </p:sp>
      <p:sp>
        <p:nvSpPr>
          <p:cNvPr id="6" name="Text 4"/>
          <p:cNvSpPr/>
          <p:nvPr/>
        </p:nvSpPr>
        <p:spPr>
          <a:xfrm>
            <a:off x="7607808" y="1700784"/>
            <a:ext cx="3712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Por qué importa la multimodalidad</a:t>
            </a:r>
            <a:endParaRPr lang="en-US" sz="1500" dirty="0"/>
          </a:p>
        </p:txBody>
      </p:sp>
      <p:sp>
        <p:nvSpPr>
          <p:cNvPr id="7" name="Text 5"/>
          <p:cNvSpPr/>
          <p:nvPr/>
        </p:nvSpPr>
        <p:spPr>
          <a:xfrm>
            <a:off x="7607808" y="2194560"/>
            <a:ext cx="3712464" cy="37124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Ante un obstáculo, esquivar por la izquierda o por la derecha son ambas correctas.</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Una red que predice la acción promedio elige el centro: choca.</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Generar la distribución completa de acciones, y no su media, resuelve el problema.</a:t>
            </a:r>
            <a:endParaRPr lang="en-US" sz="1250" dirty="0"/>
          </a:p>
        </p:txBody>
      </p:sp>
      <p:sp>
        <p:nvSpPr>
          <p:cNvPr id="9"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Chi et al., 2023, arXiv:2303.04137 · Zhao et al., 2023, arXiv:2304.13705</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S39 · MODELOS FUNDACIONALES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Modelos visión-lenguaje-acción</a:t>
            </a:r>
            <a:endParaRPr lang="en-US" sz="3000" dirty="0"/>
          </a:p>
        </p:txBody>
      </p:sp>
      <p:sp>
        <p:nvSpPr>
          <p:cNvPr id="4" name="Shape 2"/>
          <p:cNvSpPr/>
          <p:nvPr/>
        </p:nvSpPr>
        <p:spPr>
          <a:xfrm>
            <a:off x="640080" y="1572768"/>
            <a:ext cx="5349240" cy="1965960"/>
          </a:xfrm>
          <a:prstGeom prst="roundRect">
            <a:avLst>
              <a:gd name="adj" fmla="val 3721"/>
            </a:avLst>
          </a:prstGeom>
          <a:solidFill>
            <a:srgbClr val="F2F4FB"/>
          </a:solidFill>
          <a:ln/>
        </p:spPr>
        <p:txBody>
          <a:bodyPr/>
          <a:p/>
        </p:txBody>
      </p:sp>
      <p:sp>
        <p:nvSpPr>
          <p:cNvPr id="5" name="Shape 3"/>
          <p:cNvSpPr/>
          <p:nvPr/>
        </p:nvSpPr>
        <p:spPr>
          <a:xfrm>
            <a:off x="822960" y="1755648"/>
            <a:ext cx="457200" cy="457200"/>
          </a:xfrm>
          <a:prstGeom prst="ellipse">
            <a:avLst/>
          </a:prstGeom>
          <a:solidFill>
            <a:srgbClr val="2FD26E"/>
          </a:solidFill>
          <a:ln/>
        </p:spPr>
        <p:txBody>
          <a:bodyPr/>
          <a:p/>
        </p:txBody>
      </p:sp>
      <p:sp>
        <p:nvSpPr>
          <p:cNvPr id="6" name="Text 4"/>
          <p:cNvSpPr/>
          <p:nvPr/>
        </p:nvSpPr>
        <p:spPr>
          <a:xfrm>
            <a:off x="822960" y="1755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19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RT-2</a:t>
            </a:r>
            <a:endParaRPr lang="en-US" sz="1400" dirty="0"/>
          </a:p>
        </p:txBody>
      </p:sp>
      <p:sp>
        <p:nvSpPr>
          <p:cNvPr id="8" name="Text 6"/>
          <p:cNvSpPr/>
          <p:nvPr/>
        </p:nvSpPr>
        <p:spPr>
          <a:xfrm>
            <a:off x="841248" y="2350008"/>
            <a:ext cx="4946904" cy="106070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Demuestra que un modelo visión-lenguaje entrenado con datos web transfiere conocimiento al control robótico (Google DeepMind, 2023, arXiv:2307.15818)</a:t>
            </a:r>
            <a:endParaRPr lang="en-US" sz="1150" dirty="0"/>
          </a:p>
        </p:txBody>
      </p:sp>
      <p:sp>
        <p:nvSpPr>
          <p:cNvPr id="9" name="Shape 7"/>
          <p:cNvSpPr/>
          <p:nvPr/>
        </p:nvSpPr>
        <p:spPr>
          <a:xfrm>
            <a:off x="6217920" y="1572768"/>
            <a:ext cx="5349240" cy="1965960"/>
          </a:xfrm>
          <a:prstGeom prst="roundRect">
            <a:avLst>
              <a:gd name="adj" fmla="val 3721"/>
            </a:avLst>
          </a:prstGeom>
          <a:solidFill>
            <a:srgbClr val="F2F4FB"/>
          </a:solidFill>
          <a:ln/>
        </p:spPr>
        <p:txBody>
          <a:bodyPr/>
          <a:p/>
        </p:txBody>
      </p:sp>
      <p:sp>
        <p:nvSpPr>
          <p:cNvPr id="10" name="Shape 8"/>
          <p:cNvSpPr/>
          <p:nvPr/>
        </p:nvSpPr>
        <p:spPr>
          <a:xfrm>
            <a:off x="6400800" y="1755648"/>
            <a:ext cx="457200" cy="457200"/>
          </a:xfrm>
          <a:prstGeom prst="ellipse">
            <a:avLst/>
          </a:prstGeom>
          <a:solidFill>
            <a:srgbClr val="2FD26E"/>
          </a:solidFill>
          <a:ln/>
        </p:spPr>
        <p:txBody>
          <a:bodyPr/>
          <a:p/>
        </p:txBody>
      </p:sp>
      <p:sp>
        <p:nvSpPr>
          <p:cNvPr id="11" name="Text 9"/>
          <p:cNvSpPr/>
          <p:nvPr/>
        </p:nvSpPr>
        <p:spPr>
          <a:xfrm>
            <a:off x="6400800" y="1755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6995160" y="1719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OpenVLA</a:t>
            </a:r>
            <a:endParaRPr lang="en-US" sz="1400" dirty="0"/>
          </a:p>
        </p:txBody>
      </p:sp>
      <p:sp>
        <p:nvSpPr>
          <p:cNvPr id="13" name="Text 11"/>
          <p:cNvSpPr/>
          <p:nvPr/>
        </p:nvSpPr>
        <p:spPr>
          <a:xfrm>
            <a:off x="6419088" y="2350008"/>
            <a:ext cx="4946904" cy="106070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Abre la receta completa: 7B de parámetros y pesos publicados, lo que permite reproducir y ajustar (Kim et al., 2024, arXiv:2406.09246)</a:t>
            </a:r>
            <a:endParaRPr lang="en-US" sz="1150" dirty="0"/>
          </a:p>
        </p:txBody>
      </p:sp>
      <p:sp>
        <p:nvSpPr>
          <p:cNvPr id="14" name="Shape 12"/>
          <p:cNvSpPr/>
          <p:nvPr/>
        </p:nvSpPr>
        <p:spPr>
          <a:xfrm>
            <a:off x="640080" y="3767328"/>
            <a:ext cx="5349240" cy="1965960"/>
          </a:xfrm>
          <a:prstGeom prst="roundRect">
            <a:avLst>
              <a:gd name="adj" fmla="val 3721"/>
            </a:avLst>
          </a:prstGeom>
          <a:solidFill>
            <a:srgbClr val="F2F4FB"/>
          </a:solidFill>
          <a:ln/>
        </p:spPr>
        <p:txBody>
          <a:bodyPr/>
          <a:p/>
        </p:txBody>
      </p:sp>
      <p:sp>
        <p:nvSpPr>
          <p:cNvPr id="15" name="Shape 13"/>
          <p:cNvSpPr/>
          <p:nvPr/>
        </p:nvSpPr>
        <p:spPr>
          <a:xfrm>
            <a:off x="822960" y="3950208"/>
            <a:ext cx="457200" cy="457200"/>
          </a:xfrm>
          <a:prstGeom prst="ellipse">
            <a:avLst/>
          </a:prstGeom>
          <a:solidFill>
            <a:srgbClr val="2FD26E"/>
          </a:solidFill>
          <a:ln/>
        </p:spPr>
        <p:txBody>
          <a:bodyPr/>
          <a:p/>
        </p:txBody>
      </p:sp>
      <p:sp>
        <p:nvSpPr>
          <p:cNvPr id="16" name="Text 14"/>
          <p:cNvSpPr/>
          <p:nvPr/>
        </p:nvSpPr>
        <p:spPr>
          <a:xfrm>
            <a:off x="822960" y="395020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17320" y="391363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π0</a:t>
            </a:r>
            <a:endParaRPr lang="en-US" sz="1400" dirty="0"/>
          </a:p>
        </p:txBody>
      </p:sp>
      <p:sp>
        <p:nvSpPr>
          <p:cNvPr id="18" name="Text 16"/>
          <p:cNvSpPr/>
          <p:nvPr/>
        </p:nvSpPr>
        <p:spPr>
          <a:xfrm>
            <a:off x="841248" y="4544568"/>
            <a:ext cx="4946904" cy="106070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Modelo de flujo visión-lenguaje-acción para control general de robots, de Physical Intelligence (Black et al., 2024, arXiv:2410.24164)</a:t>
            </a:r>
            <a:endParaRPr lang="en-US" sz="1150" dirty="0"/>
          </a:p>
        </p:txBody>
      </p:sp>
      <p:sp>
        <p:nvSpPr>
          <p:cNvPr id="19" name="Shape 17"/>
          <p:cNvSpPr/>
          <p:nvPr/>
        </p:nvSpPr>
        <p:spPr>
          <a:xfrm>
            <a:off x="6217920" y="3767328"/>
            <a:ext cx="5349240" cy="1965960"/>
          </a:xfrm>
          <a:prstGeom prst="roundRect">
            <a:avLst>
              <a:gd name="adj" fmla="val 3721"/>
            </a:avLst>
          </a:prstGeom>
          <a:solidFill>
            <a:srgbClr val="F2F4FB"/>
          </a:solidFill>
          <a:ln/>
        </p:spPr>
        <p:txBody>
          <a:bodyPr/>
          <a:p/>
        </p:txBody>
      </p:sp>
      <p:sp>
        <p:nvSpPr>
          <p:cNvPr id="20" name="Shape 18"/>
          <p:cNvSpPr/>
          <p:nvPr/>
        </p:nvSpPr>
        <p:spPr>
          <a:xfrm>
            <a:off x="6400800" y="3950208"/>
            <a:ext cx="457200" cy="457200"/>
          </a:xfrm>
          <a:prstGeom prst="ellipse">
            <a:avLst/>
          </a:prstGeom>
          <a:solidFill>
            <a:srgbClr val="2FD26E"/>
          </a:solidFill>
          <a:ln/>
        </p:spPr>
        <p:txBody>
          <a:bodyPr/>
          <a:p/>
        </p:txBody>
      </p:sp>
      <p:sp>
        <p:nvSpPr>
          <p:cNvPr id="21" name="Text 19"/>
          <p:cNvSpPr/>
          <p:nvPr/>
        </p:nvSpPr>
        <p:spPr>
          <a:xfrm>
            <a:off x="6400800" y="395020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995160" y="391363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GR00T N1</a:t>
            </a:r>
            <a:endParaRPr lang="en-US" sz="1400" dirty="0"/>
          </a:p>
        </p:txBody>
      </p:sp>
      <p:sp>
        <p:nvSpPr>
          <p:cNvPr id="23" name="Text 21"/>
          <p:cNvSpPr/>
          <p:nvPr/>
        </p:nvSpPr>
        <p:spPr>
          <a:xfrm>
            <a:off x="6419088" y="4544568"/>
            <a:ext cx="4946904" cy="106070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Modelo fundacional abierto para robots humanoides generalistas (NVIDIA, 2025, arXiv:2503.14734). Gemini Robotics lleva la familia Gemini al control físico (Google DeepMind, 2025)</a:t>
            </a:r>
            <a:endParaRPr lang="en-US" sz="1150" dirty="0"/>
          </a:p>
        </p:txBody>
      </p:sp>
      <p:sp>
        <p:nvSpPr>
          <p:cNvPr id="24" name="Shape 22"/>
          <p:cNvSpPr/>
          <p:nvPr/>
        </p:nvSpPr>
        <p:spPr>
          <a:xfrm>
            <a:off x="640080" y="5779008"/>
            <a:ext cx="10881360" cy="713232"/>
          </a:xfrm>
          <a:prstGeom prst="roundRect">
            <a:avLst>
              <a:gd name="adj" fmla="val 10256"/>
            </a:avLst>
          </a:prstGeom>
          <a:solidFill>
            <a:srgbClr val="E3F7EC"/>
          </a:solidFill>
          <a:ln/>
        </p:spPr>
        <p:txBody>
          <a:bodyPr/>
          <a:p/>
        </p:txBody>
      </p:sp>
      <p:sp>
        <p:nvSpPr>
          <p:cNvPr id="25" name="Text 23"/>
          <p:cNvSpPr/>
          <p:nvPr/>
        </p:nvSpPr>
        <p:spPr>
          <a:xfrm>
            <a:off x="841248" y="5888736"/>
            <a:ext cx="10479024"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El patrón común: una arquitectura preentrenada con datos de internet, ajustada con demostraciones robóticas, que acepta instrucciones en lenguaje natural y produce acciones motoras.</a:t>
            </a:r>
            <a:endParaRPr lang="en-US" sz="1200" dirty="0"/>
          </a:p>
        </p:txBody>
      </p:sp>
      <p:sp>
        <p:nvSpPr>
          <p:cNvPr id="27" name="Text 2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arXiv:2307.15818 · 2406.09246 · 2410.24164 · 2503.14734</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S39 · CIERRE Y LECTURA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Gemelos digitales y síntesis del bloque</a:t>
            </a:r>
            <a:endParaRPr lang="en-US" sz="3000" dirty="0"/>
          </a:p>
        </p:txBody>
      </p:sp>
      <p:sp>
        <p:nvSpPr>
          <p:cNvPr id="4" name="Shape 2"/>
          <p:cNvSpPr/>
          <p:nvPr/>
        </p:nvSpPr>
        <p:spPr>
          <a:xfrm>
            <a:off x="640080" y="1572768"/>
            <a:ext cx="5394960" cy="2331720"/>
          </a:xfrm>
          <a:prstGeom prst="roundRect">
            <a:avLst>
              <a:gd name="adj" fmla="val 3137"/>
            </a:avLst>
          </a:prstGeom>
          <a:solidFill>
            <a:srgbClr val="F2F4FB"/>
          </a:solidFill>
          <a:ln/>
        </p:spPr>
        <p:txBody>
          <a:bodyPr/>
          <a:p/>
        </p:txBody>
      </p:sp>
      <p:sp>
        <p:nvSpPr>
          <p:cNvPr id="5" name="Text 3"/>
          <p:cNvSpPr/>
          <p:nvPr/>
        </p:nvSpPr>
        <p:spPr>
          <a:xfrm>
            <a:off x="841248" y="171907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Gemelo digital</a:t>
            </a:r>
            <a:endParaRPr lang="en-US" sz="1500" dirty="0"/>
          </a:p>
        </p:txBody>
      </p:sp>
      <p:sp>
        <p:nvSpPr>
          <p:cNvPr id="6" name="Text 4"/>
          <p:cNvSpPr/>
          <p:nvPr/>
        </p:nvSpPr>
        <p:spPr>
          <a:xfrm>
            <a:off x="841248" y="2212848"/>
            <a:ext cx="4992624" cy="156362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Una réplica virtual de la célula o la planta, sincronizada con datos reales, sobre la que se simula, se valida y se entrena antes de tocar el sistema físico.</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En robótica cierra el círculo: es el mismo simulador de S39 puesto al servicio de la ingeniería de fabricación.</a:t>
            </a:r>
            <a:endParaRPr lang="en-US" sz="1250" dirty="0"/>
          </a:p>
        </p:txBody>
      </p:sp>
      <p:sp>
        <p:nvSpPr>
          <p:cNvPr id="7" name="Shape 5"/>
          <p:cNvSpPr/>
          <p:nvPr/>
        </p:nvSpPr>
        <p:spPr>
          <a:xfrm>
            <a:off x="6263640" y="1572768"/>
            <a:ext cx="5257800" cy="2331720"/>
          </a:xfrm>
          <a:prstGeom prst="roundRect">
            <a:avLst>
              <a:gd name="adj" fmla="val 3137"/>
            </a:avLst>
          </a:prstGeom>
          <a:solidFill>
            <a:srgbClr val="F2F4FB"/>
          </a:solidFill>
          <a:ln/>
        </p:spPr>
        <p:txBody>
          <a:bodyPr/>
          <a:p/>
        </p:txBody>
      </p:sp>
      <p:sp>
        <p:nvSpPr>
          <p:cNvPr id="8" name="Text 6"/>
          <p:cNvSpPr/>
          <p:nvPr/>
        </p:nvSpPr>
        <p:spPr>
          <a:xfrm>
            <a:off x="6464808" y="171907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Eco del bloque 1</a:t>
            </a:r>
            <a:endParaRPr lang="en-US" sz="1500" dirty="0"/>
          </a:p>
        </p:txBody>
      </p:sp>
      <p:sp>
        <p:nvSpPr>
          <p:cNvPr id="9" name="Text 7"/>
          <p:cNvSpPr/>
          <p:nvPr/>
        </p:nvSpPr>
        <p:spPr>
          <a:xfrm>
            <a:off x="6464808" y="2212848"/>
            <a:ext cx="4855464" cy="156362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Es la evolución de diseño de De Silva llevada a su consecuencia: un modelo del sistema real que se monitoriza, se optimiza y devuelve mejoras al sistema (De Silva et al., 2016, p. 7).</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La idea tenía diez años; hoy tiene herramientas.</a:t>
            </a:r>
            <a:endParaRPr lang="en-US" sz="1250" dirty="0"/>
          </a:p>
        </p:txBody>
      </p:sp>
      <p:sp>
        <p:nvSpPr>
          <p:cNvPr id="10" name="Shape 8"/>
          <p:cNvSpPr/>
          <p:nvPr/>
        </p:nvSpPr>
        <p:spPr>
          <a:xfrm>
            <a:off x="640080" y="4087368"/>
            <a:ext cx="10881360" cy="1965960"/>
          </a:xfrm>
          <a:prstGeom prst="roundRect">
            <a:avLst>
              <a:gd name="adj" fmla="val 3721"/>
            </a:avLst>
          </a:prstGeom>
          <a:solidFill>
            <a:srgbClr val="E3F7EC"/>
          </a:solidFill>
          <a:ln/>
        </p:spPr>
        <p:txBody>
          <a:bodyPr/>
          <a:p/>
        </p:txBody>
      </p:sp>
      <p:sp>
        <p:nvSpPr>
          <p:cNvPr id="11" name="Text 9"/>
          <p:cNvSpPr/>
          <p:nvPr/>
        </p:nvSpPr>
        <p:spPr>
          <a:xfrm>
            <a:off x="841248" y="4233672"/>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Dónde encaja el aprendizaje en el temario clásico</a:t>
            </a:r>
            <a:endParaRPr lang="en-US" sz="1500" dirty="0"/>
          </a:p>
        </p:txBody>
      </p:sp>
      <p:sp>
        <p:nvSpPr>
          <p:cNvPr id="12" name="Text 10"/>
          <p:cNvSpPr/>
          <p:nvPr/>
        </p:nvSpPr>
        <p:spPr>
          <a:xfrm>
            <a:off x="841248" y="4727448"/>
            <a:ext cx="10479024" cy="11978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El aprendizaje no sustituye a la cinemática, al control ni a la estimación: se apoya en ellos. Un VLA decide qué hacer; la cinemática del bloque 4 y los lazos del bloque 5 lo ejecutan; la percepción del bloque 6 le da los ojos; ROS 2 del bloque 7 lo conecta con el hardware. El ingeniero valioso en 2026 es el que entiende ambas mitades y sabe cuándo cada una aporta valor.</a:t>
            </a:r>
            <a:endParaRPr lang="en-US" sz="1250" dirty="0"/>
          </a:p>
        </p:txBody>
      </p:sp>
      <p:sp>
        <p:nvSpPr>
          <p:cNvPr id="14" name="Text 1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 Silva et al., 2016, p. 7 · Síntesis del curso</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S40</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Examen parcial 2</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Bloques 5-7 · test y tres problemas · 2 horas</a:t>
            </a:r>
            <a:endParaRPr lang="en-US" sz="16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S40 · EXAMEN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Parcial 2: estructura y reglas</a:t>
            </a:r>
            <a:endParaRPr lang="en-US" sz="3000" dirty="0"/>
          </a:p>
        </p:txBody>
      </p:sp>
      <p:sp>
        <p:nvSpPr>
          <p:cNvPr id="4" name="Shape 2"/>
          <p:cNvSpPr/>
          <p:nvPr/>
        </p:nvSpPr>
        <p:spPr>
          <a:xfrm>
            <a:off x="640080" y="1554480"/>
            <a:ext cx="10881360" cy="914400"/>
          </a:xfrm>
          <a:prstGeom prst="roundRect">
            <a:avLst>
              <a:gd name="adj" fmla="val 8000"/>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A</a:t>
            </a:r>
            <a:endParaRPr lang="en-US" sz="1600" dirty="0"/>
          </a:p>
        </p:txBody>
      </p:sp>
      <p:sp>
        <p:nvSpPr>
          <p:cNvPr id="7" name="Text 5"/>
          <p:cNvSpPr/>
          <p:nvPr/>
        </p:nvSpPr>
        <p:spPr>
          <a:xfrm>
            <a:off x="1417320" y="1700784"/>
            <a:ext cx="992124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Test (2,0 pt)</a:t>
            </a:r>
            <a:endParaRPr lang="en-US" sz="1350" dirty="0"/>
          </a:p>
        </p:txBody>
      </p:sp>
      <p:sp>
        <p:nvSpPr>
          <p:cNvPr id="8" name="Text 6"/>
          <p:cNvSpPr/>
          <p:nvPr/>
        </p:nvSpPr>
        <p:spPr>
          <a:xfrm>
            <a:off x="841248" y="2331720"/>
            <a:ext cx="10479024" cy="91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10 preguntas ABCD sobre B5-B7; cada error resta un tercio; en blanco no puntúa</a:t>
            </a:r>
            <a:endParaRPr lang="en-US" sz="1200" dirty="0"/>
          </a:p>
        </p:txBody>
      </p:sp>
      <p:sp>
        <p:nvSpPr>
          <p:cNvPr id="9" name="Shape 7"/>
          <p:cNvSpPr/>
          <p:nvPr/>
        </p:nvSpPr>
        <p:spPr>
          <a:xfrm>
            <a:off x="640080" y="2615184"/>
            <a:ext cx="10881360" cy="914400"/>
          </a:xfrm>
          <a:prstGeom prst="roundRect">
            <a:avLst>
              <a:gd name="adj" fmla="val 8000"/>
            </a:avLst>
          </a:prstGeom>
          <a:solidFill>
            <a:srgbClr val="F2F4FB"/>
          </a:solidFill>
          <a:ln/>
        </p:spPr>
        <p:txBody>
          <a:bodyPr/>
          <a:p/>
        </p:txBody>
      </p:sp>
      <p:sp>
        <p:nvSpPr>
          <p:cNvPr id="10" name="Shape 8"/>
          <p:cNvSpPr/>
          <p:nvPr/>
        </p:nvSpPr>
        <p:spPr>
          <a:xfrm>
            <a:off x="822960" y="2798064"/>
            <a:ext cx="457200" cy="457200"/>
          </a:xfrm>
          <a:prstGeom prst="ellipse">
            <a:avLst/>
          </a:prstGeom>
          <a:solidFill>
            <a:srgbClr val="2FD26E"/>
          </a:solidFill>
          <a:ln/>
        </p:spPr>
        <p:txBody>
          <a:bodyPr/>
          <a:p/>
        </p:txBody>
      </p:sp>
      <p:sp>
        <p:nvSpPr>
          <p:cNvPr id="11" name="Text 9"/>
          <p:cNvSpPr/>
          <p:nvPr/>
        </p:nvSpPr>
        <p:spPr>
          <a:xfrm>
            <a:off x="822960" y="2798064"/>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B</a:t>
            </a:r>
            <a:endParaRPr lang="en-US" sz="1600" dirty="0"/>
          </a:p>
        </p:txBody>
      </p:sp>
      <p:sp>
        <p:nvSpPr>
          <p:cNvPr id="12" name="Text 10"/>
          <p:cNvSpPr/>
          <p:nvPr/>
        </p:nvSpPr>
        <p:spPr>
          <a:xfrm>
            <a:off x="1417320" y="2761488"/>
            <a:ext cx="992124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Control de una articulación (3,0 pt)</a:t>
            </a:r>
            <a:endParaRPr lang="en-US" sz="1350" dirty="0"/>
          </a:p>
        </p:txBody>
      </p:sp>
      <p:sp>
        <p:nvSpPr>
          <p:cNvPr id="13" name="Text 11"/>
          <p:cNvSpPr/>
          <p:nvPr/>
        </p:nvSpPr>
        <p:spPr>
          <a:xfrm>
            <a:off x="841248" y="3392424"/>
            <a:ext cx="10479024" cy="91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Diseño PD para ζ y ωn · sobreoscilación · error estacionario con gravedad · windup</a:t>
            </a:r>
            <a:endParaRPr lang="en-US" sz="1200" dirty="0"/>
          </a:p>
        </p:txBody>
      </p:sp>
      <p:sp>
        <p:nvSpPr>
          <p:cNvPr id="14" name="Shape 12"/>
          <p:cNvSpPr/>
          <p:nvPr/>
        </p:nvSpPr>
        <p:spPr>
          <a:xfrm>
            <a:off x="640080" y="3675888"/>
            <a:ext cx="10881360" cy="914400"/>
          </a:xfrm>
          <a:prstGeom prst="roundRect">
            <a:avLst>
              <a:gd name="adj" fmla="val 8000"/>
            </a:avLst>
          </a:prstGeom>
          <a:solidFill>
            <a:srgbClr val="F2F4FB"/>
          </a:solidFill>
          <a:ln/>
        </p:spPr>
        <p:txBody>
          <a:bodyPr/>
          <a:p/>
        </p:txBody>
      </p:sp>
      <p:sp>
        <p:nvSpPr>
          <p:cNvPr id="15" name="Shape 13"/>
          <p:cNvSpPr/>
          <p:nvPr/>
        </p:nvSpPr>
        <p:spPr>
          <a:xfrm>
            <a:off x="822960" y="3858768"/>
            <a:ext cx="457200" cy="457200"/>
          </a:xfrm>
          <a:prstGeom prst="ellipse">
            <a:avLst/>
          </a:prstGeom>
          <a:solidFill>
            <a:srgbClr val="2FD26E"/>
          </a:solidFill>
          <a:ln/>
        </p:spPr>
        <p:txBody>
          <a:bodyPr/>
          <a:p/>
        </p:txBody>
      </p:sp>
      <p:sp>
        <p:nvSpPr>
          <p:cNvPr id="16" name="Text 14"/>
          <p:cNvSpPr/>
          <p:nvPr/>
        </p:nvSpPr>
        <p:spPr>
          <a:xfrm>
            <a:off x="822960" y="385876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417320" y="3822192"/>
            <a:ext cx="992124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Estimación (2,5 pt)</a:t>
            </a:r>
            <a:endParaRPr lang="en-US" sz="1350" dirty="0"/>
          </a:p>
        </p:txBody>
      </p:sp>
      <p:sp>
        <p:nvSpPr>
          <p:cNvPr id="18" name="Text 16"/>
          <p:cNvSpPr/>
          <p:nvPr/>
        </p:nvSpPr>
        <p:spPr>
          <a:xfrm>
            <a:off x="841248" y="4453128"/>
            <a:ext cx="10479024" cy="91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Un paso completo de filtro de Kalman 1D · lectura de la ganancia · EKF frente a MCL</a:t>
            </a:r>
            <a:endParaRPr lang="en-US" sz="1200" dirty="0"/>
          </a:p>
        </p:txBody>
      </p:sp>
      <p:sp>
        <p:nvSpPr>
          <p:cNvPr id="19" name="Shape 17"/>
          <p:cNvSpPr/>
          <p:nvPr/>
        </p:nvSpPr>
        <p:spPr>
          <a:xfrm>
            <a:off x="640080" y="4736592"/>
            <a:ext cx="10881360" cy="914400"/>
          </a:xfrm>
          <a:prstGeom prst="roundRect">
            <a:avLst>
              <a:gd name="adj" fmla="val 8000"/>
            </a:avLst>
          </a:prstGeom>
          <a:solidFill>
            <a:srgbClr val="F2F4FB"/>
          </a:solidFill>
          <a:ln/>
        </p:spPr>
        <p:txBody>
          <a:bodyPr/>
          <a:p/>
        </p:txBody>
      </p:sp>
      <p:sp>
        <p:nvSpPr>
          <p:cNvPr id="20" name="Shape 18"/>
          <p:cNvSpPr/>
          <p:nvPr/>
        </p:nvSpPr>
        <p:spPr>
          <a:xfrm>
            <a:off x="822960" y="4919472"/>
            <a:ext cx="457200" cy="457200"/>
          </a:xfrm>
          <a:prstGeom prst="ellipse">
            <a:avLst/>
          </a:prstGeom>
          <a:solidFill>
            <a:srgbClr val="2FD26E"/>
          </a:solidFill>
          <a:ln/>
        </p:spPr>
        <p:txBody>
          <a:bodyPr/>
          <a:p/>
        </p:txBody>
      </p:sp>
      <p:sp>
        <p:nvSpPr>
          <p:cNvPr id="21" name="Text 19"/>
          <p:cNvSpPr/>
          <p:nvPr/>
        </p:nvSpPr>
        <p:spPr>
          <a:xfrm>
            <a:off x="822960" y="4919472"/>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D</a:t>
            </a:r>
            <a:endParaRPr lang="en-US" sz="1600" dirty="0"/>
          </a:p>
        </p:txBody>
      </p:sp>
      <p:sp>
        <p:nvSpPr>
          <p:cNvPr id="22" name="Text 20"/>
          <p:cNvSpPr/>
          <p:nvPr/>
        </p:nvSpPr>
        <p:spPr>
          <a:xfrm>
            <a:off x="1417320" y="4882896"/>
            <a:ext cx="992124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Planificación y ROS 2 (2,5 pt)</a:t>
            </a:r>
            <a:endParaRPr lang="en-US" sz="1350" dirty="0"/>
          </a:p>
        </p:txBody>
      </p:sp>
      <p:sp>
        <p:nvSpPr>
          <p:cNvPr id="23" name="Text 21"/>
          <p:cNvSpPr/>
          <p:nvPr/>
        </p:nvSpPr>
        <p:spPr>
          <a:xfrm>
            <a:off x="841248" y="5513832"/>
            <a:ext cx="10479024" cy="91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 sobre rejilla con heurística Manhattan · admisibilidad · diagnóstico de QoS</a:t>
            </a:r>
            <a:endParaRPr lang="en-US" sz="1200" dirty="0"/>
          </a:p>
        </p:txBody>
      </p:sp>
      <p:sp>
        <p:nvSpPr>
          <p:cNvPr id="24" name="Shape 22"/>
          <p:cNvSpPr/>
          <p:nvPr/>
        </p:nvSpPr>
        <p:spPr>
          <a:xfrm>
            <a:off x="640080" y="5870448"/>
            <a:ext cx="10881360" cy="566928"/>
          </a:xfrm>
          <a:prstGeom prst="roundRect">
            <a:avLst>
              <a:gd name="adj" fmla="val 12903"/>
            </a:avLst>
          </a:prstGeom>
          <a:solidFill>
            <a:srgbClr val="E3F7EC"/>
          </a:solidFill>
          <a:ln/>
        </p:spPr>
        <p:txBody>
          <a:bodyPr/>
          <a:p/>
        </p:txBody>
      </p:sp>
      <p:sp>
        <p:nvSpPr>
          <p:cNvPr id="25" name="Text 23"/>
          <p:cNvSpPr/>
          <p:nvPr/>
        </p:nvSpPr>
        <p:spPr>
          <a:xfrm>
            <a:off x="841248" y="5980176"/>
            <a:ext cx="10479024"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Material: calculadora no programable y una hoja A4 de formulario manuscrito por las dos caras. El planteamiento vale el 40 % de cada apartado; un resultado sin desarrollo no puntúa.</a:t>
            </a:r>
            <a:endParaRPr lang="en-US" sz="1150" dirty="0"/>
          </a:p>
        </p:txBody>
      </p:sp>
      <p:sp>
        <p:nvSpPr>
          <p:cNvPr id="27" name="Text 2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Parcial 2 · viernes 11 de diciembre · 2 h</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S41 · S42</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Seminario de artículos científicos</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16 y 17 de diciembre · presentaciones por parejas y cierre del semestre</a:t>
            </a:r>
            <a:endParaRPr lang="en-US" sz="16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S41–S42 · LOGÍSTICA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Cómo se desarrollan las dos sesiones</a:t>
            </a:r>
            <a:endParaRPr lang="en-US" sz="3000" dirty="0"/>
          </a:p>
        </p:txBody>
      </p:sp>
      <p:sp>
        <p:nvSpPr>
          <p:cNvPr id="4" name="Shape 2"/>
          <p:cNvSpPr/>
          <p:nvPr/>
        </p:nvSpPr>
        <p:spPr>
          <a:xfrm>
            <a:off x="640080" y="1572768"/>
            <a:ext cx="5394960" cy="2240280"/>
          </a:xfrm>
          <a:prstGeom prst="roundRect">
            <a:avLst>
              <a:gd name="adj" fmla="val 3265"/>
            </a:avLst>
          </a:prstGeom>
          <a:solidFill>
            <a:srgbClr val="F2F4FB"/>
          </a:solidFill>
          <a:ln/>
        </p:spPr>
        <p:txBody>
          <a:bodyPr/>
          <a:p/>
        </p:txBody>
      </p:sp>
      <p:sp>
        <p:nvSpPr>
          <p:cNvPr id="5" name="Text 3"/>
          <p:cNvSpPr/>
          <p:nvPr/>
        </p:nvSpPr>
        <p:spPr>
          <a:xfrm>
            <a:off x="841248" y="171907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Formato</a:t>
            </a:r>
            <a:endParaRPr lang="en-US" sz="1500" dirty="0"/>
          </a:p>
        </p:txBody>
      </p:sp>
      <p:sp>
        <p:nvSpPr>
          <p:cNvPr id="6" name="Text 4"/>
          <p:cNvSpPr/>
          <p:nvPr/>
        </p:nvSpPr>
        <p:spPr>
          <a:xfrm>
            <a:off x="841248" y="2212848"/>
            <a:ext cx="4992624" cy="14721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Parejas. 7 minutos de exposición y 3 de preguntas, cronometrados en pantalla.</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Orden publicado la víspera. Cinco parejas por sesión.</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Toda entrega es defendible oralmente y de forma individual.</a:t>
            </a:r>
            <a:endParaRPr lang="en-US" sz="1250" dirty="0"/>
          </a:p>
        </p:txBody>
      </p:sp>
      <p:sp>
        <p:nvSpPr>
          <p:cNvPr id="7" name="Shape 5"/>
          <p:cNvSpPr/>
          <p:nvPr/>
        </p:nvSpPr>
        <p:spPr>
          <a:xfrm>
            <a:off x="6263640" y="1572768"/>
            <a:ext cx="5257800" cy="2240280"/>
          </a:xfrm>
          <a:prstGeom prst="roundRect">
            <a:avLst>
              <a:gd name="adj" fmla="val 3265"/>
            </a:avLst>
          </a:prstGeom>
          <a:solidFill>
            <a:srgbClr val="F2F4FB"/>
          </a:solidFill>
          <a:ln/>
        </p:spPr>
        <p:txBody>
          <a:bodyPr/>
          <a:p/>
        </p:txBody>
      </p:sp>
      <p:sp>
        <p:nvSpPr>
          <p:cNvPr id="8" name="Text 6"/>
          <p:cNvSpPr/>
          <p:nvPr/>
        </p:nvSpPr>
        <p:spPr>
          <a:xfrm>
            <a:off x="6464808" y="171907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Qué debe cubrir cada presentación</a:t>
            </a:r>
            <a:endParaRPr lang="en-US" sz="1500" dirty="0"/>
          </a:p>
        </p:txBody>
      </p:sp>
      <p:sp>
        <p:nvSpPr>
          <p:cNvPr id="9" name="Text 7"/>
          <p:cNvSpPr/>
          <p:nvPr/>
        </p:nvSpPr>
        <p:spPr>
          <a:xfrm>
            <a:off x="6464808" y="2212848"/>
            <a:ext cx="4855464" cy="14721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Problema · método · resultados · limitaciones · conexión explícita con al menos un bloque del curso.</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La última es obligatoria: es lo que convierte el seminario en parte de la asignatura y no en un añadido.</a:t>
            </a:r>
            <a:endParaRPr lang="en-US" sz="1250" dirty="0"/>
          </a:p>
        </p:txBody>
      </p:sp>
      <p:sp>
        <p:nvSpPr>
          <p:cNvPr id="10" name="Shape 8"/>
          <p:cNvSpPr/>
          <p:nvPr/>
        </p:nvSpPr>
        <p:spPr>
          <a:xfrm>
            <a:off x="640080" y="3995928"/>
            <a:ext cx="10881360" cy="2057400"/>
          </a:xfrm>
          <a:prstGeom prst="roundRect">
            <a:avLst>
              <a:gd name="adj" fmla="val 3556"/>
            </a:avLst>
          </a:prstGeom>
          <a:solidFill>
            <a:srgbClr val="E3F7EC"/>
          </a:solidFill>
          <a:ln/>
        </p:spPr>
        <p:txBody>
          <a:bodyPr/>
          <a:p/>
        </p:txBody>
      </p:sp>
      <p:sp>
        <p:nvSpPr>
          <p:cNvPr id="11" name="Text 9"/>
          <p:cNvSpPr/>
          <p:nvPr/>
        </p:nvSpPr>
        <p:spPr>
          <a:xfrm>
            <a:off x="841248" y="4142232"/>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Preguntas comodín del profesor</a:t>
            </a:r>
            <a:endParaRPr lang="en-US" sz="1500" dirty="0"/>
          </a:p>
        </p:txBody>
      </p:sp>
      <p:sp>
        <p:nvSpPr>
          <p:cNvPr id="12" name="Text 10"/>
          <p:cNvSpPr/>
          <p:nvPr/>
        </p:nvSpPr>
        <p:spPr>
          <a:xfrm>
            <a:off x="841248" y="4636008"/>
            <a:ext cx="10479024" cy="12893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Si el público no pregunta, el profesor dispone de una batería preparada: ¿cuál es la línea base con la que se comparan y es justa? ¿Qué pasaría con este método en el robot del laboratorio? ¿Qué limitación reconocen los autores y cuál se les ha escapado? ¿Qué bloque del curso hace falta dominar para implementar esto? Estas preguntas también modelan qué se espera del público en la sesión siguiente.</a:t>
            </a:r>
            <a:endParaRPr lang="en-US" sz="1250" dirty="0"/>
          </a:p>
        </p:txBody>
      </p:sp>
      <p:sp>
        <p:nvSpPr>
          <p:cNvPr id="14" name="Text 1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Seminario lanzado en S4 · 17 de septiembre</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S41–S42 · EVALUACIÓN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Rúbrica de evaluación</a:t>
            </a:r>
            <a:endParaRPr lang="en-US" sz="3000" dirty="0"/>
          </a:p>
        </p:txBody>
      </p:sp>
      <p:sp>
        <p:nvSpPr>
          <p:cNvPr id="4" name="Shape 2"/>
          <p:cNvSpPr/>
          <p:nvPr/>
        </p:nvSpPr>
        <p:spPr>
          <a:xfrm>
            <a:off x="640080" y="1600200"/>
            <a:ext cx="10881360" cy="1042416"/>
          </a:xfrm>
          <a:prstGeom prst="roundRect">
            <a:avLst>
              <a:gd name="adj" fmla="val 7018"/>
            </a:avLst>
          </a:prstGeom>
          <a:solidFill>
            <a:srgbClr val="E3F7EC"/>
          </a:solidFill>
          <a:ln/>
        </p:spPr>
        <p:txBody>
          <a:bodyPr/>
          <a:p/>
        </p:txBody>
      </p:sp>
      <p:sp>
        <p:nvSpPr>
          <p:cNvPr id="5" name="Text 3"/>
          <p:cNvSpPr/>
          <p:nvPr/>
        </p:nvSpPr>
        <p:spPr>
          <a:xfrm>
            <a:off x="868680" y="1600200"/>
            <a:ext cx="1143000" cy="1042416"/>
          </a:xfrm>
          <a:prstGeom prst="rect">
            <a:avLst/>
          </a:prstGeom>
          <a:noFill/>
          <a:ln/>
        </p:spPr>
        <p:txBody>
          <a:bodyPr wrap="square" lIns="0" tIns="0" rIns="0" bIns="0" rtlCol="0" anchor="ctr"/>
          <a:lstStyle/>
          <a:p>
            <a:pPr algn="ctr" indent="0" marL="0">
              <a:buNone/>
            </a:pPr>
            <a:r>
              <a:rPr lang="en-US" sz="2600" b="1" dirty="0">
                <a:solidFill>
                  <a:srgbClr val="1FA355"/>
                </a:solidFill>
                <a:latin typeface="Calibri" pitchFamily="34" charset="0"/>
                <a:ea typeface="Calibri" pitchFamily="34" charset="-122"/>
                <a:cs typeface="Calibri" pitchFamily="34" charset="-120"/>
              </a:rPr>
              <a:t>40%</a:t>
            </a:r>
            <a:endParaRPr lang="en-US" sz="2600" dirty="0"/>
          </a:p>
        </p:txBody>
      </p:sp>
      <p:sp>
        <p:nvSpPr>
          <p:cNvPr id="6" name="Text 4"/>
          <p:cNvSpPr/>
          <p:nvPr/>
        </p:nvSpPr>
        <p:spPr>
          <a:xfrm>
            <a:off x="2148840" y="1600200"/>
            <a:ext cx="9144000" cy="1042416"/>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Comprensión técnica</a:t>
            </a:r>
            <a:endParaRPr lang="en-US" sz="1400" dirty="0"/>
          </a:p>
          <a:p>
            <a:pPr indent="0" marL="0">
              <a:buNone/>
            </a:pPr>
            <a:r>
              <a:rPr lang="en-US" sz="1200" dirty="0">
                <a:solidFill>
                  <a:srgbClr val="1A1A2E"/>
                </a:solidFill>
                <a:latin typeface="Calibri" pitchFamily="34" charset="0"/>
                <a:ea typeface="Calibri" pitchFamily="34" charset="-122"/>
                <a:cs typeface="Calibri" pitchFamily="34" charset="-120"/>
              </a:rPr>
              <a:t>¿Entienden el método o repiten el resumen? Se comprueba en las preguntas, no en las diapositivas</a:t>
            </a:r>
            <a:endParaRPr lang="en-US" sz="1400" dirty="0"/>
          </a:p>
        </p:txBody>
      </p:sp>
      <p:sp>
        <p:nvSpPr>
          <p:cNvPr id="7" name="Shape 5"/>
          <p:cNvSpPr/>
          <p:nvPr/>
        </p:nvSpPr>
        <p:spPr>
          <a:xfrm>
            <a:off x="640080" y="2807208"/>
            <a:ext cx="10881360" cy="1042416"/>
          </a:xfrm>
          <a:prstGeom prst="roundRect">
            <a:avLst>
              <a:gd name="adj" fmla="val 7018"/>
            </a:avLst>
          </a:prstGeom>
          <a:solidFill>
            <a:srgbClr val="F2F4FB"/>
          </a:solidFill>
          <a:ln/>
        </p:spPr>
        <p:txBody>
          <a:bodyPr/>
          <a:p/>
        </p:txBody>
      </p:sp>
      <p:sp>
        <p:nvSpPr>
          <p:cNvPr id="8" name="Text 6"/>
          <p:cNvSpPr/>
          <p:nvPr/>
        </p:nvSpPr>
        <p:spPr>
          <a:xfrm>
            <a:off x="868680" y="2807208"/>
            <a:ext cx="1143000" cy="1042416"/>
          </a:xfrm>
          <a:prstGeom prst="rect">
            <a:avLst/>
          </a:prstGeom>
          <a:noFill/>
          <a:ln/>
        </p:spPr>
        <p:txBody>
          <a:bodyPr wrap="square" lIns="0" tIns="0" rIns="0" bIns="0" rtlCol="0" anchor="ctr"/>
          <a:lstStyle/>
          <a:p>
            <a:pPr algn="ctr" indent="0" marL="0">
              <a:buNone/>
            </a:pPr>
            <a:r>
              <a:rPr lang="en-US" sz="2600" b="1" dirty="0">
                <a:solidFill>
                  <a:srgbClr val="1FA355"/>
                </a:solidFill>
                <a:latin typeface="Calibri" pitchFamily="34" charset="0"/>
                <a:ea typeface="Calibri" pitchFamily="34" charset="-122"/>
                <a:cs typeface="Calibri" pitchFamily="34" charset="-120"/>
              </a:rPr>
              <a:t>30%</a:t>
            </a:r>
            <a:endParaRPr lang="en-US" sz="2600" dirty="0"/>
          </a:p>
        </p:txBody>
      </p:sp>
      <p:sp>
        <p:nvSpPr>
          <p:cNvPr id="9" name="Text 7"/>
          <p:cNvSpPr/>
          <p:nvPr/>
        </p:nvSpPr>
        <p:spPr>
          <a:xfrm>
            <a:off x="2148840" y="2807208"/>
            <a:ext cx="9144000" cy="1042416"/>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Claridad</a:t>
            </a:r>
            <a:endParaRPr lang="en-US" sz="1400" dirty="0"/>
          </a:p>
          <a:p>
            <a:pPr indent="0" marL="0">
              <a:buNone/>
            </a:pPr>
            <a:r>
              <a:rPr lang="en-US" sz="1200" dirty="0">
                <a:solidFill>
                  <a:srgbClr val="1A1A2E"/>
                </a:solidFill>
                <a:latin typeface="Calibri" pitchFamily="34" charset="0"/>
                <a:ea typeface="Calibri" pitchFamily="34" charset="-122"/>
                <a:cs typeface="Calibri" pitchFamily="34" charset="-120"/>
              </a:rPr>
              <a:t>Estructura, ritmo, calidad de las figuras y capacidad de hacer accesible lo complejo</a:t>
            </a:r>
            <a:endParaRPr lang="en-US" sz="1400" dirty="0"/>
          </a:p>
        </p:txBody>
      </p:sp>
      <p:sp>
        <p:nvSpPr>
          <p:cNvPr id="10" name="Shape 8"/>
          <p:cNvSpPr/>
          <p:nvPr/>
        </p:nvSpPr>
        <p:spPr>
          <a:xfrm>
            <a:off x="640080" y="4014216"/>
            <a:ext cx="10881360" cy="1042416"/>
          </a:xfrm>
          <a:prstGeom prst="roundRect">
            <a:avLst>
              <a:gd name="adj" fmla="val 7018"/>
            </a:avLst>
          </a:prstGeom>
          <a:solidFill>
            <a:srgbClr val="E3F7EC"/>
          </a:solidFill>
          <a:ln/>
        </p:spPr>
        <p:txBody>
          <a:bodyPr/>
          <a:p/>
        </p:txBody>
      </p:sp>
      <p:sp>
        <p:nvSpPr>
          <p:cNvPr id="11" name="Text 9"/>
          <p:cNvSpPr/>
          <p:nvPr/>
        </p:nvSpPr>
        <p:spPr>
          <a:xfrm>
            <a:off x="868680" y="4014216"/>
            <a:ext cx="1143000" cy="1042416"/>
          </a:xfrm>
          <a:prstGeom prst="rect">
            <a:avLst/>
          </a:prstGeom>
          <a:noFill/>
          <a:ln/>
        </p:spPr>
        <p:txBody>
          <a:bodyPr wrap="square" lIns="0" tIns="0" rIns="0" bIns="0" rtlCol="0" anchor="ctr"/>
          <a:lstStyle/>
          <a:p>
            <a:pPr algn="ctr" indent="0" marL="0">
              <a:buNone/>
            </a:pPr>
            <a:r>
              <a:rPr lang="en-US" sz="2600" b="1" dirty="0">
                <a:solidFill>
                  <a:srgbClr val="1FA355"/>
                </a:solidFill>
                <a:latin typeface="Calibri" pitchFamily="34" charset="0"/>
                <a:ea typeface="Calibri" pitchFamily="34" charset="-122"/>
                <a:cs typeface="Calibri" pitchFamily="34" charset="-120"/>
              </a:rPr>
              <a:t>20%</a:t>
            </a:r>
            <a:endParaRPr lang="en-US" sz="2600" dirty="0"/>
          </a:p>
        </p:txBody>
      </p:sp>
      <p:sp>
        <p:nvSpPr>
          <p:cNvPr id="12" name="Text 10"/>
          <p:cNvSpPr/>
          <p:nvPr/>
        </p:nvSpPr>
        <p:spPr>
          <a:xfrm>
            <a:off x="2148840" y="4014216"/>
            <a:ext cx="9144000" cy="1042416"/>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Análisis crítico</a:t>
            </a:r>
            <a:endParaRPr lang="en-US" sz="1400" dirty="0"/>
          </a:p>
          <a:p>
            <a:pPr indent="0" marL="0">
              <a:buNone/>
            </a:pPr>
            <a:r>
              <a:rPr lang="en-US" sz="1200" dirty="0">
                <a:solidFill>
                  <a:srgbClr val="1A1A2E"/>
                </a:solidFill>
                <a:latin typeface="Calibri" pitchFamily="34" charset="0"/>
                <a:ea typeface="Calibri" pitchFamily="34" charset="-122"/>
                <a:cs typeface="Calibri" pitchFamily="34" charset="-120"/>
              </a:rPr>
              <a:t>Limitaciones reconocidas y no reconocidas, honestidad de la comparación, aplicabilidad real</a:t>
            </a:r>
            <a:endParaRPr lang="en-US" sz="1400" dirty="0"/>
          </a:p>
        </p:txBody>
      </p:sp>
      <p:sp>
        <p:nvSpPr>
          <p:cNvPr id="13" name="Shape 11"/>
          <p:cNvSpPr/>
          <p:nvPr/>
        </p:nvSpPr>
        <p:spPr>
          <a:xfrm>
            <a:off x="640080" y="5221224"/>
            <a:ext cx="10881360" cy="1042416"/>
          </a:xfrm>
          <a:prstGeom prst="roundRect">
            <a:avLst>
              <a:gd name="adj" fmla="val 7018"/>
            </a:avLst>
          </a:prstGeom>
          <a:solidFill>
            <a:srgbClr val="F2F4FB"/>
          </a:solidFill>
          <a:ln/>
        </p:spPr>
        <p:txBody>
          <a:bodyPr/>
          <a:p/>
        </p:txBody>
      </p:sp>
      <p:sp>
        <p:nvSpPr>
          <p:cNvPr id="14" name="Text 12"/>
          <p:cNvSpPr/>
          <p:nvPr/>
        </p:nvSpPr>
        <p:spPr>
          <a:xfrm>
            <a:off x="868680" y="5221224"/>
            <a:ext cx="1143000" cy="1042416"/>
          </a:xfrm>
          <a:prstGeom prst="rect">
            <a:avLst/>
          </a:prstGeom>
          <a:noFill/>
          <a:ln/>
        </p:spPr>
        <p:txBody>
          <a:bodyPr wrap="square" lIns="0" tIns="0" rIns="0" bIns="0" rtlCol="0" anchor="ctr"/>
          <a:lstStyle/>
          <a:p>
            <a:pPr algn="ctr" indent="0" marL="0">
              <a:buNone/>
            </a:pPr>
            <a:r>
              <a:rPr lang="en-US" sz="2600" b="1" dirty="0">
                <a:solidFill>
                  <a:srgbClr val="1FA355"/>
                </a:solidFill>
                <a:latin typeface="Calibri" pitchFamily="34" charset="0"/>
                <a:ea typeface="Calibri" pitchFamily="34" charset="-122"/>
                <a:cs typeface="Calibri" pitchFamily="34" charset="-120"/>
              </a:rPr>
              <a:t>10%</a:t>
            </a:r>
            <a:endParaRPr lang="en-US" sz="2600" dirty="0"/>
          </a:p>
        </p:txBody>
      </p:sp>
      <p:sp>
        <p:nvSpPr>
          <p:cNvPr id="15" name="Text 13"/>
          <p:cNvSpPr/>
          <p:nvPr/>
        </p:nvSpPr>
        <p:spPr>
          <a:xfrm>
            <a:off x="2148840" y="5221224"/>
            <a:ext cx="9144000" cy="1042416"/>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Gestión de preguntas</a:t>
            </a:r>
            <a:endParaRPr lang="en-US" sz="1400" dirty="0"/>
          </a:p>
          <a:p>
            <a:pPr indent="0" marL="0">
              <a:buNone/>
            </a:pPr>
            <a:r>
              <a:rPr lang="en-US" sz="1200" dirty="0">
                <a:solidFill>
                  <a:srgbClr val="1A1A2E"/>
                </a:solidFill>
                <a:latin typeface="Calibri" pitchFamily="34" charset="0"/>
                <a:ea typeface="Calibri" pitchFamily="34" charset="-122"/>
                <a:cs typeface="Calibri" pitchFamily="34" charset="-120"/>
              </a:rPr>
              <a:t>Responder lo que se sabe, admitir lo que no y razonar en voz alta</a:t>
            </a:r>
            <a:endParaRPr lang="en-US" sz="1400" dirty="0"/>
          </a:p>
        </p:txBody>
      </p:sp>
      <p:sp>
        <p:nvSpPr>
          <p:cNvPr id="17" name="Text 1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Rúbrica publicada en S4 · Presentaciones S41–S42</a:t>
            </a:r>
            <a:endParaRPr lang="en-US"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S43</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Defensas del proyecto y cierre</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18 de diciembre · 2 h · defensas, repaso del examen y síntesis del semestre</a:t>
            </a:r>
            <a:endParaRPr lang="en-US" sz="16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S43 · PROYECTO INTEGRADOR</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La defensa: qué se evalúa y con qué peso</a:t>
            </a:r>
            <a:endParaRPr lang="en-US" sz="3000" dirty="0"/>
          </a:p>
        </p:txBody>
      </p:sp>
      <p:sp>
        <p:nvSpPr>
          <p:cNvPr id="4" name="Shape 2"/>
          <p:cNvSpPr/>
          <p:nvPr/>
        </p:nvSpPr>
        <p:spPr>
          <a:xfrm>
            <a:off x="640080" y="1554480"/>
            <a:ext cx="10881360" cy="950976"/>
          </a:xfrm>
          <a:prstGeom prst="roundRect">
            <a:avLst>
              <a:gd name="adj" fmla="val 7692"/>
            </a:avLst>
          </a:prstGeom>
          <a:solidFill>
            <a:srgbClr val="E3F7EC"/>
          </a:solidFill>
          <a:ln/>
        </p:spPr>
        <p:txBody>
          <a:bodyPr/>
          <a:p/>
        </p:txBody>
      </p:sp>
      <p:sp>
        <p:nvSpPr>
          <p:cNvPr id="5" name="Text 3"/>
          <p:cNvSpPr/>
          <p:nvPr/>
        </p:nvSpPr>
        <p:spPr>
          <a:xfrm>
            <a:off x="868680" y="1554480"/>
            <a:ext cx="1143000" cy="950976"/>
          </a:xfrm>
          <a:prstGeom prst="rect">
            <a:avLst/>
          </a:prstGeom>
          <a:noFill/>
          <a:ln/>
        </p:spPr>
        <p:txBody>
          <a:bodyPr wrap="square" lIns="0" tIns="0" rIns="0" bIns="0" rtlCol="0" anchor="ctr"/>
          <a:lstStyle/>
          <a:p>
            <a:pPr algn="ctr" indent="0" marL="0">
              <a:buNone/>
            </a:pPr>
            <a:r>
              <a:rPr lang="en-US" sz="2400" b="1" dirty="0">
                <a:solidFill>
                  <a:srgbClr val="1FA355"/>
                </a:solidFill>
                <a:latin typeface="Calibri" pitchFamily="34" charset="0"/>
                <a:ea typeface="Calibri" pitchFamily="34" charset="-122"/>
                <a:cs typeface="Calibri" pitchFamily="34" charset="-120"/>
              </a:rPr>
              <a:t>40%</a:t>
            </a:r>
            <a:endParaRPr lang="en-US" sz="2400" dirty="0"/>
          </a:p>
        </p:txBody>
      </p:sp>
      <p:sp>
        <p:nvSpPr>
          <p:cNvPr id="6" name="Text 4"/>
          <p:cNvSpPr/>
          <p:nvPr/>
        </p:nvSpPr>
        <p:spPr>
          <a:xfrm>
            <a:off x="2148840" y="1554480"/>
            <a:ext cx="9144000" cy="950976"/>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Integración técnica</a:t>
            </a:r>
            <a:endParaRPr lang="en-US" sz="1350" dirty="0"/>
          </a:p>
          <a:p>
            <a:pPr indent="0" marL="0">
              <a:buNone/>
            </a:pPr>
            <a:r>
              <a:rPr lang="en-US" sz="1150" dirty="0">
                <a:solidFill>
                  <a:srgbClr val="1A1A2E"/>
                </a:solidFill>
                <a:latin typeface="Calibri" pitchFamily="34" charset="0"/>
                <a:ea typeface="Calibri" pitchFamily="34" charset="-122"/>
                <a:cs typeface="Calibri" pitchFamily="34" charset="-120"/>
              </a:rPr>
              <a:t>¿Los módulos hablan entre sí, hay un sistema, o cuatro prácticas juntas? Es la competencia RAM23-S de la guía docente</a:t>
            </a:r>
            <a:endParaRPr lang="en-US" sz="1350" dirty="0"/>
          </a:p>
        </p:txBody>
      </p:sp>
      <p:sp>
        <p:nvSpPr>
          <p:cNvPr id="7" name="Shape 5"/>
          <p:cNvSpPr/>
          <p:nvPr/>
        </p:nvSpPr>
        <p:spPr>
          <a:xfrm>
            <a:off x="640080" y="2651760"/>
            <a:ext cx="10881360" cy="950976"/>
          </a:xfrm>
          <a:prstGeom prst="roundRect">
            <a:avLst>
              <a:gd name="adj" fmla="val 7692"/>
            </a:avLst>
          </a:prstGeom>
          <a:solidFill>
            <a:srgbClr val="F2F4FB"/>
          </a:solidFill>
          <a:ln/>
        </p:spPr>
        <p:txBody>
          <a:bodyPr/>
          <a:p/>
        </p:txBody>
      </p:sp>
      <p:sp>
        <p:nvSpPr>
          <p:cNvPr id="8" name="Text 6"/>
          <p:cNvSpPr/>
          <p:nvPr/>
        </p:nvSpPr>
        <p:spPr>
          <a:xfrm>
            <a:off x="868680" y="2651760"/>
            <a:ext cx="1143000" cy="950976"/>
          </a:xfrm>
          <a:prstGeom prst="rect">
            <a:avLst/>
          </a:prstGeom>
          <a:noFill/>
          <a:ln/>
        </p:spPr>
        <p:txBody>
          <a:bodyPr wrap="square" lIns="0" tIns="0" rIns="0" bIns="0" rtlCol="0" anchor="ctr"/>
          <a:lstStyle/>
          <a:p>
            <a:pPr algn="ctr" indent="0" marL="0">
              <a:buNone/>
            </a:pPr>
            <a:r>
              <a:rPr lang="en-US" sz="2400" b="1" dirty="0">
                <a:solidFill>
                  <a:srgbClr val="1FA355"/>
                </a:solidFill>
                <a:latin typeface="Calibri" pitchFamily="34" charset="0"/>
                <a:ea typeface="Calibri" pitchFamily="34" charset="-122"/>
                <a:cs typeface="Calibri" pitchFamily="34" charset="-120"/>
              </a:rPr>
              <a:t>25%</a:t>
            </a:r>
            <a:endParaRPr lang="en-US" sz="2400" dirty="0"/>
          </a:p>
        </p:txBody>
      </p:sp>
      <p:sp>
        <p:nvSpPr>
          <p:cNvPr id="9" name="Text 7"/>
          <p:cNvSpPr/>
          <p:nvPr/>
        </p:nvSpPr>
        <p:spPr>
          <a:xfrm>
            <a:off x="2148840" y="2651760"/>
            <a:ext cx="9144000" cy="950976"/>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Resultados medidos</a:t>
            </a:r>
            <a:endParaRPr lang="en-US" sz="1350" dirty="0"/>
          </a:p>
          <a:p>
            <a:pPr indent="0" marL="0">
              <a:buNone/>
            </a:pPr>
            <a:r>
              <a:rPr lang="en-US" sz="1150" dirty="0">
                <a:solidFill>
                  <a:srgbClr val="1A1A2E"/>
                </a:solidFill>
                <a:latin typeface="Calibri" pitchFamily="34" charset="0"/>
                <a:ea typeface="Calibri" pitchFamily="34" charset="-122"/>
                <a:cs typeface="Calibri" pitchFamily="34" charset="-120"/>
              </a:rPr>
              <a:t>Al menos una métrica: error de seguimiento, tiempo de ciclo, tasa de éxito en N intentos, error de localización</a:t>
            </a:r>
            <a:endParaRPr lang="en-US" sz="1350" dirty="0"/>
          </a:p>
        </p:txBody>
      </p:sp>
      <p:sp>
        <p:nvSpPr>
          <p:cNvPr id="10" name="Shape 8"/>
          <p:cNvSpPr/>
          <p:nvPr/>
        </p:nvSpPr>
        <p:spPr>
          <a:xfrm>
            <a:off x="640080" y="3749040"/>
            <a:ext cx="10881360" cy="950976"/>
          </a:xfrm>
          <a:prstGeom prst="roundRect">
            <a:avLst>
              <a:gd name="adj" fmla="val 7692"/>
            </a:avLst>
          </a:prstGeom>
          <a:solidFill>
            <a:srgbClr val="E3F7EC"/>
          </a:solidFill>
          <a:ln/>
        </p:spPr>
        <p:txBody>
          <a:bodyPr/>
          <a:p/>
        </p:txBody>
      </p:sp>
      <p:sp>
        <p:nvSpPr>
          <p:cNvPr id="11" name="Text 9"/>
          <p:cNvSpPr/>
          <p:nvPr/>
        </p:nvSpPr>
        <p:spPr>
          <a:xfrm>
            <a:off x="868680" y="3749040"/>
            <a:ext cx="1143000" cy="950976"/>
          </a:xfrm>
          <a:prstGeom prst="rect">
            <a:avLst/>
          </a:prstGeom>
          <a:noFill/>
          <a:ln/>
        </p:spPr>
        <p:txBody>
          <a:bodyPr wrap="square" lIns="0" tIns="0" rIns="0" bIns="0" rtlCol="0" anchor="ctr"/>
          <a:lstStyle/>
          <a:p>
            <a:pPr algn="ctr" indent="0" marL="0">
              <a:buNone/>
            </a:pPr>
            <a:r>
              <a:rPr lang="en-US" sz="2400" b="1" dirty="0">
                <a:solidFill>
                  <a:srgbClr val="1FA355"/>
                </a:solidFill>
                <a:latin typeface="Calibri" pitchFamily="34" charset="0"/>
                <a:ea typeface="Calibri" pitchFamily="34" charset="-122"/>
                <a:cs typeface="Calibri" pitchFamily="34" charset="-120"/>
              </a:rPr>
              <a:t>20%</a:t>
            </a:r>
            <a:endParaRPr lang="en-US" sz="2400" dirty="0"/>
          </a:p>
        </p:txBody>
      </p:sp>
      <p:sp>
        <p:nvSpPr>
          <p:cNvPr id="12" name="Text 10"/>
          <p:cNvSpPr/>
          <p:nvPr/>
        </p:nvSpPr>
        <p:spPr>
          <a:xfrm>
            <a:off x="2148840" y="3749040"/>
            <a:ext cx="9144000" cy="950976"/>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Análisis crítico</a:t>
            </a:r>
            <a:endParaRPr lang="en-US" sz="1350" dirty="0"/>
          </a:p>
          <a:p>
            <a:pPr indent="0" marL="0">
              <a:buNone/>
            </a:pPr>
            <a:r>
              <a:rPr lang="en-US" sz="1150" dirty="0">
                <a:solidFill>
                  <a:srgbClr val="1A1A2E"/>
                </a:solidFill>
                <a:latin typeface="Calibri" pitchFamily="34" charset="0"/>
                <a:ea typeface="Calibri" pitchFamily="34" charset="-122"/>
                <a:cs typeface="Calibri" pitchFamily="34" charset="-120"/>
              </a:rPr>
              <a:t>Limitaciones reconocidas, diagnóstico de lo que falló y camino propuesto</a:t>
            </a:r>
            <a:endParaRPr lang="en-US" sz="1350" dirty="0"/>
          </a:p>
        </p:txBody>
      </p:sp>
      <p:sp>
        <p:nvSpPr>
          <p:cNvPr id="13" name="Shape 11"/>
          <p:cNvSpPr/>
          <p:nvPr/>
        </p:nvSpPr>
        <p:spPr>
          <a:xfrm>
            <a:off x="640080" y="4846320"/>
            <a:ext cx="10881360" cy="950976"/>
          </a:xfrm>
          <a:prstGeom prst="roundRect">
            <a:avLst>
              <a:gd name="adj" fmla="val 7692"/>
            </a:avLst>
          </a:prstGeom>
          <a:solidFill>
            <a:srgbClr val="F2F4FB"/>
          </a:solidFill>
          <a:ln/>
        </p:spPr>
        <p:txBody>
          <a:bodyPr/>
          <a:p/>
        </p:txBody>
      </p:sp>
      <p:sp>
        <p:nvSpPr>
          <p:cNvPr id="14" name="Text 12"/>
          <p:cNvSpPr/>
          <p:nvPr/>
        </p:nvSpPr>
        <p:spPr>
          <a:xfrm>
            <a:off x="868680" y="4846320"/>
            <a:ext cx="1143000" cy="950976"/>
          </a:xfrm>
          <a:prstGeom prst="rect">
            <a:avLst/>
          </a:prstGeom>
          <a:noFill/>
          <a:ln/>
        </p:spPr>
        <p:txBody>
          <a:bodyPr wrap="square" lIns="0" tIns="0" rIns="0" bIns="0" rtlCol="0" anchor="ctr"/>
          <a:lstStyle/>
          <a:p>
            <a:pPr algn="ctr" indent="0" marL="0">
              <a:buNone/>
            </a:pPr>
            <a:r>
              <a:rPr lang="en-US" sz="2400" b="1" dirty="0">
                <a:solidFill>
                  <a:srgbClr val="1FA355"/>
                </a:solidFill>
                <a:latin typeface="Calibri" pitchFamily="34" charset="0"/>
                <a:ea typeface="Calibri" pitchFamily="34" charset="-122"/>
                <a:cs typeface="Calibri" pitchFamily="34" charset="-120"/>
              </a:rPr>
              <a:t>15%</a:t>
            </a:r>
            <a:endParaRPr lang="en-US" sz="2400" dirty="0"/>
          </a:p>
        </p:txBody>
      </p:sp>
      <p:sp>
        <p:nvSpPr>
          <p:cNvPr id="15" name="Text 13"/>
          <p:cNvSpPr/>
          <p:nvPr/>
        </p:nvSpPr>
        <p:spPr>
          <a:xfrm>
            <a:off x="2148840" y="4846320"/>
            <a:ext cx="9144000" cy="950976"/>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Claridad y reparto</a:t>
            </a:r>
            <a:endParaRPr lang="en-US" sz="1350" dirty="0"/>
          </a:p>
          <a:p>
            <a:pPr indent="0" marL="0">
              <a:buNone/>
            </a:pPr>
            <a:r>
              <a:rPr lang="en-US" sz="1150" dirty="0">
                <a:solidFill>
                  <a:srgbClr val="1A1A2E"/>
                </a:solidFill>
                <a:latin typeface="Calibri" pitchFamily="34" charset="0"/>
                <a:ea typeface="Calibri" pitchFamily="34" charset="-122"/>
                <a:cs typeface="Calibri" pitchFamily="34" charset="-120"/>
              </a:rPr>
              <a:t>Exposición ordenada y participación real de todos los miembros: la defensa es individual</a:t>
            </a:r>
            <a:endParaRPr lang="en-US" sz="1350" dirty="0"/>
          </a:p>
        </p:txBody>
      </p:sp>
      <p:sp>
        <p:nvSpPr>
          <p:cNvPr id="16" name="Shape 14"/>
          <p:cNvSpPr/>
          <p:nvPr/>
        </p:nvSpPr>
        <p:spPr>
          <a:xfrm>
            <a:off x="640080" y="5870448"/>
            <a:ext cx="10881360" cy="512064"/>
          </a:xfrm>
          <a:prstGeom prst="roundRect">
            <a:avLst>
              <a:gd name="adj" fmla="val 14286"/>
            </a:avLst>
          </a:prstGeom>
          <a:solidFill>
            <a:srgbClr val="F2F4FB"/>
          </a:solidFill>
          <a:ln/>
        </p:spPr>
        <p:txBody>
          <a:bodyPr/>
          <a:p/>
        </p:txBody>
      </p:sp>
      <p:sp>
        <p:nvSpPr>
          <p:cNvPr id="17" name="Text 15"/>
          <p:cNvSpPr/>
          <p:nvPr/>
        </p:nvSpPr>
        <p:spPr>
          <a:xfrm>
            <a:off x="841248" y="5980176"/>
            <a:ext cx="10479024" cy="27432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Criterio que se dice en voz alta antes de empezar: un proyecto que no funcionó del todo, pero cuyo equipo sabe por qué, lo ha medido y propone un camino, puntúa por encima de uno que funciona sin explicación.</a:t>
            </a:r>
            <a:endParaRPr lang="en-US" sz="1150" dirty="0"/>
          </a:p>
        </p:txBody>
      </p:sp>
      <p:sp>
        <p:nvSpPr>
          <p:cNvPr id="19" name="Text 1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Rúbrica del proyecto · RAM23-S de la guía docente</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S43 · CIERRE DEL SEMESTRE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Repaso del examen: qué entra de forma literal</a:t>
            </a:r>
            <a:endParaRPr lang="en-US" sz="3000" dirty="0"/>
          </a:p>
        </p:txBody>
      </p:sp>
      <p:sp>
        <p:nvSpPr>
          <p:cNvPr id="4" name="Shape 2"/>
          <p:cNvSpPr/>
          <p:nvPr/>
        </p:nvSpPr>
        <p:spPr>
          <a:xfrm>
            <a:off x="640080" y="1554480"/>
            <a:ext cx="5349240" cy="914400"/>
          </a:xfrm>
          <a:prstGeom prst="roundRect">
            <a:avLst>
              <a:gd name="adj" fmla="val 8000"/>
            </a:avLst>
          </a:prstGeom>
          <a:solidFill>
            <a:srgbClr val="F2F4FB"/>
          </a:solidFill>
          <a:ln/>
        </p:spPr>
        <p:txBody>
          <a:bodyPr/>
          <a:p/>
        </p:txBody>
      </p:sp>
      <p:sp>
        <p:nvSpPr>
          <p:cNvPr id="5" name="Shape 3"/>
          <p:cNvSpPr/>
          <p:nvPr/>
        </p:nvSpPr>
        <p:spPr>
          <a:xfrm>
            <a:off x="822960" y="1783080"/>
            <a:ext cx="457200" cy="457200"/>
          </a:xfrm>
          <a:prstGeom prst="ellipse">
            <a:avLst/>
          </a:prstGeom>
          <a:solidFill>
            <a:srgbClr val="2FD26E"/>
          </a:solidFill>
          <a:ln/>
        </p:spPr>
        <p:txBody>
          <a:bodyPr/>
          <a:p/>
        </p:txBody>
      </p:sp>
      <p:sp>
        <p:nvSpPr>
          <p:cNvPr id="6" name="Text 4"/>
          <p:cNvSpPr/>
          <p:nvPr/>
        </p:nvSpPr>
        <p:spPr>
          <a:xfrm>
            <a:off x="822960" y="1783080"/>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B1</a:t>
            </a:r>
            <a:endParaRPr lang="en-US" sz="1400" dirty="0"/>
          </a:p>
        </p:txBody>
      </p:sp>
      <p:sp>
        <p:nvSpPr>
          <p:cNvPr id="7" name="Text 5"/>
          <p:cNvSpPr/>
          <p:nvPr/>
        </p:nvSpPr>
        <p:spPr>
          <a:xfrm>
            <a:off x="1417320" y="1554480"/>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Definición de mecatrónica y los ocho componentes de un sistema mecatrónico</a:t>
            </a:r>
            <a:endParaRPr lang="en-US" sz="1150" dirty="0"/>
          </a:p>
        </p:txBody>
      </p:sp>
      <p:sp>
        <p:nvSpPr>
          <p:cNvPr id="8" name="Shape 6"/>
          <p:cNvSpPr/>
          <p:nvPr/>
        </p:nvSpPr>
        <p:spPr>
          <a:xfrm>
            <a:off x="6217920" y="1554480"/>
            <a:ext cx="5349240" cy="914400"/>
          </a:xfrm>
          <a:prstGeom prst="roundRect">
            <a:avLst>
              <a:gd name="adj" fmla="val 8000"/>
            </a:avLst>
          </a:prstGeom>
          <a:solidFill>
            <a:srgbClr val="F2F4FB"/>
          </a:solidFill>
          <a:ln/>
        </p:spPr>
        <p:txBody>
          <a:bodyPr/>
          <a:p/>
        </p:txBody>
      </p:sp>
      <p:sp>
        <p:nvSpPr>
          <p:cNvPr id="9" name="Shape 7"/>
          <p:cNvSpPr/>
          <p:nvPr/>
        </p:nvSpPr>
        <p:spPr>
          <a:xfrm>
            <a:off x="6400800" y="1783080"/>
            <a:ext cx="457200" cy="457200"/>
          </a:xfrm>
          <a:prstGeom prst="ellipse">
            <a:avLst/>
          </a:prstGeom>
          <a:solidFill>
            <a:srgbClr val="2FD26E"/>
          </a:solidFill>
          <a:ln/>
        </p:spPr>
        <p:txBody>
          <a:bodyPr/>
          <a:p/>
        </p:txBody>
      </p:sp>
      <p:sp>
        <p:nvSpPr>
          <p:cNvPr id="10" name="Text 8"/>
          <p:cNvSpPr/>
          <p:nvPr/>
        </p:nvSpPr>
        <p:spPr>
          <a:xfrm>
            <a:off x="6400800" y="1783080"/>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B2</a:t>
            </a:r>
            <a:endParaRPr lang="en-US" sz="1400" dirty="0"/>
          </a:p>
        </p:txBody>
      </p:sp>
      <p:sp>
        <p:nvSpPr>
          <p:cNvPr id="11" name="Text 9"/>
          <p:cNvSpPr/>
          <p:nvPr/>
        </p:nvSpPr>
        <p:spPr>
          <a:xfrm>
            <a:off x="6995160" y="1554480"/>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Las dos partes de la ISO 10218 y los cuatro métodos de operación colaborativa</a:t>
            </a:r>
            <a:endParaRPr lang="en-US" sz="1150" dirty="0"/>
          </a:p>
        </p:txBody>
      </p:sp>
      <p:sp>
        <p:nvSpPr>
          <p:cNvPr id="12" name="Shape 10"/>
          <p:cNvSpPr/>
          <p:nvPr/>
        </p:nvSpPr>
        <p:spPr>
          <a:xfrm>
            <a:off x="640080" y="2615184"/>
            <a:ext cx="5349240" cy="914400"/>
          </a:xfrm>
          <a:prstGeom prst="roundRect">
            <a:avLst>
              <a:gd name="adj" fmla="val 8000"/>
            </a:avLst>
          </a:prstGeom>
          <a:solidFill>
            <a:srgbClr val="F2F4FB"/>
          </a:solidFill>
          <a:ln/>
        </p:spPr>
        <p:txBody>
          <a:bodyPr/>
          <a:p/>
        </p:txBody>
      </p:sp>
      <p:sp>
        <p:nvSpPr>
          <p:cNvPr id="13" name="Shape 11"/>
          <p:cNvSpPr/>
          <p:nvPr/>
        </p:nvSpPr>
        <p:spPr>
          <a:xfrm>
            <a:off x="822960" y="2843784"/>
            <a:ext cx="457200" cy="457200"/>
          </a:xfrm>
          <a:prstGeom prst="ellipse">
            <a:avLst/>
          </a:prstGeom>
          <a:solidFill>
            <a:srgbClr val="2FD26E"/>
          </a:solidFill>
          <a:ln/>
        </p:spPr>
        <p:txBody>
          <a:bodyPr/>
          <a:p/>
        </p:txBody>
      </p:sp>
      <p:sp>
        <p:nvSpPr>
          <p:cNvPr id="14" name="Text 12"/>
          <p:cNvSpPr/>
          <p:nvPr/>
        </p:nvSpPr>
        <p:spPr>
          <a:xfrm>
            <a:off x="822960" y="2843784"/>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B3</a:t>
            </a:r>
            <a:endParaRPr lang="en-US" sz="1400" dirty="0"/>
          </a:p>
        </p:txBody>
      </p:sp>
      <p:sp>
        <p:nvSpPr>
          <p:cNvPr id="15" name="Text 13"/>
          <p:cNvSpPr/>
          <p:nvPr/>
        </p:nvSpPr>
        <p:spPr>
          <a:xfrm>
            <a:off x="1417320" y="2615184"/>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Características estáticas de un sensor y criterios de selección de actuador</a:t>
            </a:r>
            <a:endParaRPr lang="en-US" sz="1150" dirty="0"/>
          </a:p>
        </p:txBody>
      </p:sp>
      <p:sp>
        <p:nvSpPr>
          <p:cNvPr id="16" name="Shape 14"/>
          <p:cNvSpPr/>
          <p:nvPr/>
        </p:nvSpPr>
        <p:spPr>
          <a:xfrm>
            <a:off x="6217920" y="2615184"/>
            <a:ext cx="5349240" cy="914400"/>
          </a:xfrm>
          <a:prstGeom prst="roundRect">
            <a:avLst>
              <a:gd name="adj" fmla="val 8000"/>
            </a:avLst>
          </a:prstGeom>
          <a:solidFill>
            <a:srgbClr val="F2F4FB"/>
          </a:solidFill>
          <a:ln/>
        </p:spPr>
        <p:txBody>
          <a:bodyPr/>
          <a:p/>
        </p:txBody>
      </p:sp>
      <p:sp>
        <p:nvSpPr>
          <p:cNvPr id="17" name="Shape 15"/>
          <p:cNvSpPr/>
          <p:nvPr/>
        </p:nvSpPr>
        <p:spPr>
          <a:xfrm>
            <a:off x="6400800" y="2843784"/>
            <a:ext cx="457200" cy="457200"/>
          </a:xfrm>
          <a:prstGeom prst="ellipse">
            <a:avLst/>
          </a:prstGeom>
          <a:solidFill>
            <a:srgbClr val="2FD26E"/>
          </a:solidFill>
          <a:ln/>
        </p:spPr>
        <p:txBody>
          <a:bodyPr/>
          <a:p/>
        </p:txBody>
      </p:sp>
      <p:sp>
        <p:nvSpPr>
          <p:cNvPr id="18" name="Text 16"/>
          <p:cNvSpPr/>
          <p:nvPr/>
        </p:nvSpPr>
        <p:spPr>
          <a:xfrm>
            <a:off x="6400800" y="2843784"/>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B4</a:t>
            </a:r>
            <a:endParaRPr lang="en-US" sz="1400" dirty="0"/>
          </a:p>
        </p:txBody>
      </p:sp>
      <p:sp>
        <p:nvSpPr>
          <p:cNvPr id="19" name="Text 17"/>
          <p:cNvSpPr/>
          <p:nvPr/>
        </p:nvSpPr>
        <p:spPr>
          <a:xfrm>
            <a:off x="6995160" y="2615184"/>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Cinemática directa e inversa, jacobiano y singularidades</a:t>
            </a:r>
            <a:endParaRPr lang="en-US" sz="1150" dirty="0"/>
          </a:p>
        </p:txBody>
      </p:sp>
      <p:sp>
        <p:nvSpPr>
          <p:cNvPr id="20" name="Shape 18"/>
          <p:cNvSpPr/>
          <p:nvPr/>
        </p:nvSpPr>
        <p:spPr>
          <a:xfrm>
            <a:off x="640080" y="3675888"/>
            <a:ext cx="5349240" cy="914400"/>
          </a:xfrm>
          <a:prstGeom prst="roundRect">
            <a:avLst>
              <a:gd name="adj" fmla="val 8000"/>
            </a:avLst>
          </a:prstGeom>
          <a:solidFill>
            <a:srgbClr val="F2F4FB"/>
          </a:solidFill>
          <a:ln/>
        </p:spPr>
        <p:txBody>
          <a:bodyPr/>
          <a:p/>
        </p:txBody>
      </p:sp>
      <p:sp>
        <p:nvSpPr>
          <p:cNvPr id="21" name="Shape 19"/>
          <p:cNvSpPr/>
          <p:nvPr/>
        </p:nvSpPr>
        <p:spPr>
          <a:xfrm>
            <a:off x="822960" y="3904488"/>
            <a:ext cx="457200" cy="457200"/>
          </a:xfrm>
          <a:prstGeom prst="ellipse">
            <a:avLst/>
          </a:prstGeom>
          <a:solidFill>
            <a:srgbClr val="2FD26E"/>
          </a:solidFill>
          <a:ln/>
        </p:spPr>
        <p:txBody>
          <a:bodyPr/>
          <a:p/>
        </p:txBody>
      </p:sp>
      <p:sp>
        <p:nvSpPr>
          <p:cNvPr id="22" name="Text 20"/>
          <p:cNvSpPr/>
          <p:nvPr/>
        </p:nvSpPr>
        <p:spPr>
          <a:xfrm>
            <a:off x="822960" y="3904488"/>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B5</a:t>
            </a:r>
            <a:endParaRPr lang="en-US" sz="1400" dirty="0"/>
          </a:p>
        </p:txBody>
      </p:sp>
      <p:sp>
        <p:nvSpPr>
          <p:cNvPr id="23" name="Text 21"/>
          <p:cNvSpPr/>
          <p:nvPr/>
        </p:nvSpPr>
        <p:spPr>
          <a:xfrm>
            <a:off x="1417320" y="3675888"/>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Modelado de un lazo, respuesta temporal y sintonía</a:t>
            </a:r>
            <a:endParaRPr lang="en-US" sz="1150" dirty="0"/>
          </a:p>
        </p:txBody>
      </p:sp>
      <p:sp>
        <p:nvSpPr>
          <p:cNvPr id="24" name="Shape 22"/>
          <p:cNvSpPr/>
          <p:nvPr/>
        </p:nvSpPr>
        <p:spPr>
          <a:xfrm>
            <a:off x="6217920" y="3675888"/>
            <a:ext cx="5349240" cy="914400"/>
          </a:xfrm>
          <a:prstGeom prst="roundRect">
            <a:avLst>
              <a:gd name="adj" fmla="val 8000"/>
            </a:avLst>
          </a:prstGeom>
          <a:solidFill>
            <a:srgbClr val="F2F4FB"/>
          </a:solidFill>
          <a:ln/>
        </p:spPr>
        <p:txBody>
          <a:bodyPr/>
          <a:p/>
        </p:txBody>
      </p:sp>
      <p:sp>
        <p:nvSpPr>
          <p:cNvPr id="25" name="Shape 23"/>
          <p:cNvSpPr/>
          <p:nvPr/>
        </p:nvSpPr>
        <p:spPr>
          <a:xfrm>
            <a:off x="6400800" y="3904488"/>
            <a:ext cx="457200" cy="457200"/>
          </a:xfrm>
          <a:prstGeom prst="ellipse">
            <a:avLst/>
          </a:prstGeom>
          <a:solidFill>
            <a:srgbClr val="2FD26E"/>
          </a:solidFill>
          <a:ln/>
        </p:spPr>
        <p:txBody>
          <a:bodyPr/>
          <a:p/>
        </p:txBody>
      </p:sp>
      <p:sp>
        <p:nvSpPr>
          <p:cNvPr id="26" name="Text 24"/>
          <p:cNvSpPr/>
          <p:nvPr/>
        </p:nvSpPr>
        <p:spPr>
          <a:xfrm>
            <a:off x="6400800" y="3904488"/>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B6</a:t>
            </a:r>
            <a:endParaRPr lang="en-US" sz="1400" dirty="0"/>
          </a:p>
        </p:txBody>
      </p:sp>
      <p:sp>
        <p:nvSpPr>
          <p:cNvPr id="27" name="Text 25"/>
          <p:cNvSpPr/>
          <p:nvPr/>
        </p:nvSpPr>
        <p:spPr>
          <a:xfrm>
            <a:off x="6995160" y="3675888"/>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Filtro de Bayes, ciclo predicción-corrección y formulación del SLAM</a:t>
            </a:r>
            <a:endParaRPr lang="en-US" sz="1150" dirty="0"/>
          </a:p>
        </p:txBody>
      </p:sp>
      <p:sp>
        <p:nvSpPr>
          <p:cNvPr id="28" name="Shape 26"/>
          <p:cNvSpPr/>
          <p:nvPr/>
        </p:nvSpPr>
        <p:spPr>
          <a:xfrm>
            <a:off x="640080" y="4736592"/>
            <a:ext cx="5349240" cy="914400"/>
          </a:xfrm>
          <a:prstGeom prst="roundRect">
            <a:avLst>
              <a:gd name="adj" fmla="val 8000"/>
            </a:avLst>
          </a:prstGeom>
          <a:solidFill>
            <a:srgbClr val="F2F4FB"/>
          </a:solidFill>
          <a:ln/>
        </p:spPr>
        <p:txBody>
          <a:bodyPr/>
          <a:p/>
        </p:txBody>
      </p:sp>
      <p:sp>
        <p:nvSpPr>
          <p:cNvPr id="29" name="Shape 27"/>
          <p:cNvSpPr/>
          <p:nvPr/>
        </p:nvSpPr>
        <p:spPr>
          <a:xfrm>
            <a:off x="822960" y="4965192"/>
            <a:ext cx="457200" cy="457200"/>
          </a:xfrm>
          <a:prstGeom prst="ellipse">
            <a:avLst/>
          </a:prstGeom>
          <a:solidFill>
            <a:srgbClr val="2FD26E"/>
          </a:solidFill>
          <a:ln/>
        </p:spPr>
        <p:txBody>
          <a:bodyPr/>
          <a:p/>
        </p:txBody>
      </p:sp>
      <p:sp>
        <p:nvSpPr>
          <p:cNvPr id="30" name="Text 28"/>
          <p:cNvSpPr/>
          <p:nvPr/>
        </p:nvSpPr>
        <p:spPr>
          <a:xfrm>
            <a:off x="822960" y="4965192"/>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B7</a:t>
            </a:r>
            <a:endParaRPr lang="en-US" sz="1400" dirty="0"/>
          </a:p>
        </p:txBody>
      </p:sp>
      <p:sp>
        <p:nvSpPr>
          <p:cNvPr id="31" name="Text 29"/>
          <p:cNvSpPr/>
          <p:nvPr/>
        </p:nvSpPr>
        <p:spPr>
          <a:xfrm>
            <a:off x="1417320" y="4736592"/>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Grafo de computación de ROS 2, A* y familias de planificadores</a:t>
            </a:r>
            <a:endParaRPr lang="en-US" sz="1150" dirty="0"/>
          </a:p>
        </p:txBody>
      </p:sp>
      <p:sp>
        <p:nvSpPr>
          <p:cNvPr id="32" name="Shape 30"/>
          <p:cNvSpPr/>
          <p:nvPr/>
        </p:nvSpPr>
        <p:spPr>
          <a:xfrm>
            <a:off x="6217920" y="4736592"/>
            <a:ext cx="5349240" cy="914400"/>
          </a:xfrm>
          <a:prstGeom prst="roundRect">
            <a:avLst>
              <a:gd name="adj" fmla="val 8000"/>
            </a:avLst>
          </a:prstGeom>
          <a:solidFill>
            <a:srgbClr val="F2F4FB"/>
          </a:solidFill>
          <a:ln/>
        </p:spPr>
        <p:txBody>
          <a:bodyPr/>
          <a:p/>
        </p:txBody>
      </p:sp>
      <p:sp>
        <p:nvSpPr>
          <p:cNvPr id="33" name="Shape 31"/>
          <p:cNvSpPr/>
          <p:nvPr/>
        </p:nvSpPr>
        <p:spPr>
          <a:xfrm>
            <a:off x="6400800" y="4965192"/>
            <a:ext cx="457200" cy="457200"/>
          </a:xfrm>
          <a:prstGeom prst="ellipse">
            <a:avLst/>
          </a:prstGeom>
          <a:solidFill>
            <a:srgbClr val="2FD26E"/>
          </a:solidFill>
          <a:ln/>
        </p:spPr>
        <p:txBody>
          <a:bodyPr/>
          <a:p/>
        </p:txBody>
      </p:sp>
      <p:sp>
        <p:nvSpPr>
          <p:cNvPr id="34" name="Text 32"/>
          <p:cNvSpPr/>
          <p:nvPr/>
        </p:nvSpPr>
        <p:spPr>
          <a:xfrm>
            <a:off x="6400800" y="4965192"/>
            <a:ext cx="457200" cy="457200"/>
          </a:xfrm>
          <a:prstGeom prst="rect">
            <a:avLst/>
          </a:prstGeom>
          <a:noFill/>
          <a:ln/>
        </p:spPr>
        <p:txBody>
          <a:bodyPr wrap="square" lIns="0" tIns="0" rIns="0" bIns="0" rtlCol="0" anchor="ctr"/>
          <a:lstStyle/>
          <a:p>
            <a:pPr algn="ctr" indent="0" marL="0">
              <a:buNone/>
            </a:pPr>
            <a:r>
              <a:rPr lang="en-US" sz="1400" b="1" dirty="0">
                <a:solidFill>
                  <a:srgbClr val="1B2A80"/>
                </a:solidFill>
                <a:latin typeface="Calibri" pitchFamily="34" charset="0"/>
                <a:ea typeface="Calibri" pitchFamily="34" charset="-122"/>
                <a:cs typeface="Calibri" pitchFamily="34" charset="-120"/>
              </a:rPr>
              <a:t>B8</a:t>
            </a:r>
            <a:endParaRPr lang="en-US" sz="1400" dirty="0"/>
          </a:p>
        </p:txBody>
      </p:sp>
      <p:sp>
        <p:nvSpPr>
          <p:cNvPr id="35" name="Text 33"/>
          <p:cNvSpPr/>
          <p:nvPr/>
        </p:nvSpPr>
        <p:spPr>
          <a:xfrm>
            <a:off x="6995160" y="4736592"/>
            <a:ext cx="4389120" cy="91440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MDP, actualización de Q-learning y qué es un modelo VLA</a:t>
            </a:r>
            <a:endParaRPr lang="en-US" sz="1150" dirty="0"/>
          </a:p>
        </p:txBody>
      </p:sp>
      <p:sp>
        <p:nvSpPr>
          <p:cNvPr id="36" name="Shape 34"/>
          <p:cNvSpPr/>
          <p:nvPr/>
        </p:nvSpPr>
        <p:spPr>
          <a:xfrm>
            <a:off x="640080" y="5852160"/>
            <a:ext cx="10881360" cy="530352"/>
          </a:xfrm>
          <a:prstGeom prst="roundRect">
            <a:avLst>
              <a:gd name="adj" fmla="val 13793"/>
            </a:avLst>
          </a:prstGeom>
          <a:solidFill>
            <a:srgbClr val="E3F7EC"/>
          </a:solidFill>
          <a:ln/>
        </p:spPr>
        <p:txBody>
          <a:bodyPr/>
          <a:p/>
        </p:txBody>
      </p:sp>
      <p:sp>
        <p:nvSpPr>
          <p:cNvPr id="37" name="Text 35"/>
          <p:cNvSpPr/>
          <p:nvPr/>
        </p:nvSpPr>
        <p:spPr>
          <a:xfrm>
            <a:off x="841248" y="5961888"/>
            <a:ext cx="10479024" cy="292608"/>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No se pregunta de forma literal: manipular la ecuación del MDQ, derivar las ecuaciones del EKF ni reproducir la arquitectura interna de un VLA. Examen de muestra con solución comentada, publicado hoy en el campus.</a:t>
            </a:r>
            <a:endParaRPr lang="en-US" sz="1150" dirty="0"/>
          </a:p>
        </p:txBody>
      </p:sp>
      <p:sp>
        <p:nvSpPr>
          <p:cNvPr id="39" name="Text 3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Convocatoria de enero · Tutorías durante el periodo de exámenes</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2026-08-11T07:26:38Z</dcterms:created>
  <dcterms:modified xsi:type="dcterms:W3CDTF">2026-08-11T07:26:38Z</dcterms:modified>
</cp:coreProperties>
</file>