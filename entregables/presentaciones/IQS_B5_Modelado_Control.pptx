
<file path=[Content_Types].xml><?xml version="1.0" encoding="utf-8"?>
<Types xmlns="http://schemas.openxmlformats.org/package/2006/content-types">
  <Default Extension="jpg" ContentType="image/jpe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Encuadre del bloque: hasta ahora el robot era geometría; a partir de aquí es física (fuerzas, pares, corrientes) y el control convierte esa física en el movimiento deseado. Todo el bloque corre sobre Python con la librería control; no hay Matlab.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arco: modelar (la EDO del motor con carga), analizar (respuesta y polos), controlar (el taller PID de dos horas, corazón del bloque), generalizar (espacio de estados) y culminar con la dinámica del manipulador y el par calculado. Cuestionario B5 al cierre de S24, y aviso importante: el viernes siguiente al bloque (6 de noviembre) es el parcial 1 de B1 a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 de la sesión: convertir el motor DC de S11 en una EDO y de ahí en función de transferencia. La foto del regulador de Watt permite abrir con el primer lazo realimentado de la historia industrial: las bolas suben con la velocidad y cierran el vapor. Plan: 0-5 presentación del bloque; 5-25 la EDO del motor con carga; 25-40 función de transferencia; 40-55 analogías entre dominios; 55-60 encargo de instalar python-control.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máquina en corte muestra la física que se va a modelar: rotor, estátor, devanados. La figura de la derecha anticipa el taller de S22 y conviene leerla en voz alta: P solo deja error o oscila, añadir D amortigua, añadir I elimina el error de régimen. Es exactamente la gráfica que producirán las parejas.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las tres ecuaciones del panel y hacer el experimento mental de la fuerza contraelectromotriz: girar el eje a mano con el motor desconectado y medir la tensión en bornes. Justificar la reducción a primer orden por la separación de constantes de tiempo. De las funciones de transferencia: velocidad es primer orden; posición añade un integrador, y ese polo en el origen dará guerra en S21. Anotar el favor que hace la reductora al control: divide las perturbaciones por G y la variación de inercia por G al cuadrado.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Poner las dos ecuaciones en paralelo y construir la tabla con aportaciones de la clase: masa-inductancia, amortiguador-resistencia, muelle-inverso de capacidad, fuerza-tensión. Dinámica rápida: pedir el análogo eléctrico de la suspensión de un coche y el mecánico de un filtro RC. Cerrar con el motor como sistema mixto acoplado por las dos constantes: por eso hace falta un lenguaje común. Encargo: pip install control y comprobar el import antes de S21.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leer la dinámica de un sistema desde tau, zeta y omega n antes de simular nada, comprobándolo en vivo con python-control. Plan: 0-5 un estudiante deriva la función de transferencia del motor; 5-15 python-control en diez minutos con el motor en directo; 15-35 primer y segundo orden con los valores para memorizar; 35-50 polos, estabilidad y Bode; 50-60 ejercicio individual y encargos del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primer orden: en una constante de tiempo se alcanza el 63 por ciento; establecimiento al 2 por ciento en unas cuatro constantes. Del segundo: la sobreoscilación depende solo del amortiguamiento, y los tres valores de la tarjeta se memorizan. Ejecutar el motor de S20 con step_response y señalar la constante de tiempo sobre la gráfica. Ejercicio individual final con G(s) igual a 25 sobre s cuadrado más 4s más 25: predecir a mano y verificar con step_info, discutiendo las discrepancias.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el criterio (estable si y solo si todas las raíces tienen parte real negativa) y la lectura del mapa: más a la izquierda, establecimiento más corto; más lejos del eje real, más sobreoscilación. En vivo: ct.poles sobre el motor con y sin integrador (el integrador pone un polo en el origen) y mover una ganancia para ver desplazarse los polos; es la semilla del diseño de S22 y S23. Encargos: portátil con python-control funcionando y relectura de la ley 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central del bloque: cada pareja sintoniza un PID sobre el eslabón con gravedad del libro hasta cumplir especificaciones, y en la segunda hora rompe el controlador con la saturación y lo arregla con anti-windup. Plan: 0-10 planta y objetivo; 10-30 teoría de la ley y la dinámica del error; 30-75 rondas P, PD, PID; 75-85 descanso; 85-110 saturación y remedios; 110-120 puesta en común.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Proyectar la animación en bucle durante la primera ronda del taller como referencia de lo que deben ver en pantalla, y anotar en la pizarra las ganancias que cante cada pareja. Lectura de la animación: subir Kp acelera la respuesta y aumenta la sobreoscilación; más muelle virtual, más rebote.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ley con la interpretación física de Lynch y Park: Kp es un muelle virtual y Kd un amortiguador virtual. Con el PD sin gravedad, la dinámica del error es de segundo orden y las ganancias colocan zeta y omega n: es el puente con S21. Con gravedad, el PD deja error estacionario (sostener el eslabón exige par) y el término integral lo elimina a cambio de subir el orden y acotar Ki. Dato de cultura industrial: muchos controladores de robots funcionan con Ki nulo. La planta de la derecha usa los números del libro para que los resultados sean comparables.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Guiar el taller por los cinco pasos: subir Kp hasta oscilar comprobando el error de gravedad; buscar amortiguamiento crítico con Kd; añadir el mínimo Ki útil; activar la saturación y ver aparecer el windup (el integrador acumula mientras el actuador está a tope y luego tarda en descargarse); y aplicar los dos remedios. Cada pareja anota ganancias y métricas para la puesta en común; discutir la dispersión de soluciones válidas. Mencionar Ziegler-Nichols como lectura. Conexión real: en el laboratorio la saturación es el límite de corriente del amplificador.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Cambio de perspectiva: mirar todas las variables internas en lugar de solo la salida, con dos preguntas rectoras: si se puede llevar el sistema a cualquier estado (controlabilidad) y qué hacer cuando no se mide todo (observadores). Plan: 0-5 recuperación; 5-25 la representación con el motor como ejemplo; 25-40 controlabilidad de Kalman con ct.ctrb; 40-55 realimentación de estado, place, observador y LQR; 55-60 anuncio de S24.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Definir el estado como la memoria mínima del sistema y reescribir el motor de S20 en esta forma para que vean que es el mismo sistema con otra ropa. De la condición de rango de Kalman, dar la intuición: B es donde empuja la entrada y A por B adónde se propaga; si esas direcciones no llenan el espacio hay estados inalcanzables. Comprobar en vivo con ct.ctrb y un contraejemplo con un estado desconectado. De la realimentación de estado: si el sistema es controlable existe K que estabiliza; demo con place y dos juegos de polos. Cerrar con la nota para B7: un móvil no holonómico no es linealmente controlable y aun así aparca.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Última sesión de teoría del bloque: la ecuación del manipulador completo y el controlador que usa el modelo para cancelar la dinámica. Plan: 0-5 motivación (cada motor ve un robot entero moviéndose, no una inercia constante); 5-25 Euler-Lagrange y la forma matricial; 25-40 del PID independiente al par calculado; 40-45 síntesis del bloque; 45-60 cuestionario B5 en Moodle (15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estructura de la ecuación de la banda: lineal en aceleración, cuadrática en velocidad, trigonométrica en configuración. Recorrer los tres términos con sus datos: la inercia vista por el hombro del PUMA cambia un factor 2,16 con la postura; los términos de Coriolis solo aparecen en movimiento; la gravedad es el término dominante y actúa parado, con la fricción justo detrás. Calentar con la masa puntual vertical: la receta lagrangiana reproduce la segunda ley de Newton. Para el cuestionario basta identificar qué término produce cada fenómeno.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 en una frase: usar el modelo inverso para cancelar la dinámica, de modo que el error quede lineal, desacoplado e independiente de la configuración. Recorrer el lazo de las cuatro tarjetas. Situar las alternativas más simples: PID articular independiente cuando la matriz de inercia es casi diagonal (el efecto del cuadrado de la reducción), y PID con compensación de gravedad a velocidades bajas. Requisito y límite: hay que estimar masas e inercias, y el error de modelo se cuela como forzamiento. Conexiones: la dinámica reaparece en los simuladores de B8 y el par calculado corre bajo MoveIt 2 en B7.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arco en la pizarra con la clase antes de proyectarlo: física, polos, PID, estado, dinámica del manipulador. Recordar el alcance del cuestionario (identificar, no derivar) y hacerlo en Moodle en los últimos 15 minutos. Aviso final importante: el viernes es el parcial 1 de B1 a B4; recomendar preparar la hoja de formulario este fin de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223760" y="2377440"/>
            <a:ext cx="4983480" cy="44988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9509760" y="4480560"/>
            <a:ext cx="2697480" cy="239572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pic>
        <p:nvPicPr>
          <p:cNvPr id="4" name="Image 0" descr="/home/claude/work/curso_82514/media/logo_iqs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· MECATRÓNICA Y ROBÓTICA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control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sistemas robóticos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S20–S24 · 6 horas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 29 y 30 de octubre y 4 y 5 de noviembre de 2026 · IQS Universitat Ramon Llull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del bloque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66420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481328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· mié 28 oct · 1 h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Modelado de sistemas electromecánicos: EDO, función de transferencia, analogías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" y="262432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1328" y="2441448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· jue 29 oct · 1 h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Respuesta temporal y frecuencial con python-control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" y="35844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401568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· vie 30 oct · 2 h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Taller: control PID de una articulación, saturación y anti-windup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1248" y="454456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361688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· mié 4 nov · 1 h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Espacio de estados, controlabilidad y realimentación de estado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41248" y="550468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81328" y="5321808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· jue 5 nov · 1 h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Dinámica de manipuladores y par calculado · cuestionario B5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Mecatrónica y Robótica · B5 · IQS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electromecánico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EDO del motor DC con carga · función de transferencia · analogías entre dominios</a:t>
            </a:r>
            <a:endParaRPr lang="en-US" sz="1600" dirty="0"/>
          </a:p>
        </p:txBody>
      </p:sp>
      <p:pic>
        <p:nvPicPr>
          <p:cNvPr id="8" name="Image 0" descr="/home/claude/work/curso_82514/media/fotos/b1_wat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155" y="3035808"/>
            <a:ext cx="1064969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60155" y="5961888"/>
            <a:ext cx="1064969" cy="54864"/>
          </a:xfrm>
          <a:prstGeom prst="rect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0" y="60899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 centrífugo de Watt: el primer lazo realimentado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65288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A. Dingley CC BY 3.0 · Wikimedia Commons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S20–S22 · MOTOR Y PID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actuador por dentro y las tres letras</a:t>
            </a:r>
            <a:endParaRPr lang="en-US" sz="3000" dirty="0"/>
          </a:p>
        </p:txBody>
      </p:sp>
      <p:pic>
        <p:nvPicPr>
          <p:cNvPr id="4" name="Image 0" descr="/home/claude/work/curso_82514/media/fotos/b5_mo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52432"/>
            <a:ext cx="5349240" cy="4410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9934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eléctrica en corte: rotor, estátor, devanados</a:t>
            </a:r>
            <a:endParaRPr lang="en-US" sz="1050" dirty="0"/>
          </a:p>
        </p:txBody>
      </p:sp>
      <p:pic>
        <p:nvPicPr>
          <p:cNvPr id="6" name="Image 1" descr="/home/claude/work/curso_82514/media/figs/b5_p_pd_p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17954"/>
            <a:ext cx="5349240" cy="3387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534238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PD y PID sobre la misma planta: qué aporta cada término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Technisches Museum Wien, dominio público · Wikimedia Commons · Figura propia del curso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· MODELADO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DC con carga: de la física a la EDO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ecuaciones del accionamiento: acoplo par-corriente, malla eléctrica con back-EMF y mecánica del conjunto</a:t>
            </a:r>
            <a:endParaRPr lang="en-US" sz="1350" dirty="0"/>
          </a:p>
        </p:txBody>
      </p:sp>
      <p:pic>
        <p:nvPicPr>
          <p:cNvPr id="5" name="Image 0" descr="/home/claude/work/curso_82514/media/eq/moto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445" y="2286000"/>
            <a:ext cx="2847911" cy="1417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93192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a primer orden: la constante de tiempo eléctrica « la mecánica (Lynch y Park, p. 310):</a:t>
            </a:r>
            <a:endParaRPr lang="en-US" sz="1250" dirty="0"/>
          </a:p>
        </p:txBody>
      </p:sp>
      <p:pic>
        <p:nvPicPr>
          <p:cNvPr id="7" name="Image 1" descr="/home/claude/work/curso_82514/media/eq/reduc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28" y="4553712"/>
            <a:ext cx="3349023" cy="566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349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Reductora G: ω ÷G, τ ×η·G; inercia aparente del rotor vista desde la articulación: G²·I</a:t>
            </a:r>
            <a:pPr indent="0" marL="0">
              <a:spcAft>
                <a:spcPts val="800"/>
              </a:spcAft>
              <a:buNone/>
            </a:pPr>
            <a:r>
              <a:rPr lang="en-US" sz="1250" baseline="-40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puede superar la del eslabón.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223760" y="1463040"/>
            <a:ext cx="4297680" cy="2468880"/>
          </a:xfrm>
          <a:prstGeom prst="roundRect">
            <a:avLst>
              <a:gd name="adj" fmla="val 296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24928" y="16093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transferencia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24928" y="2103120"/>
            <a:ext cx="38953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5236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primer orden:</a:t>
            </a:r>
            <a:endParaRPr lang="en-US" sz="1150" dirty="0"/>
          </a:p>
        </p:txBody>
      </p:sp>
      <p:pic>
        <p:nvPicPr>
          <p:cNvPr id="13" name="Image 2" descr="/home/claude/work/curso_82514/media/eq/tf_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565" y="2267712"/>
            <a:ext cx="1650550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se añade un integrador:</a:t>
            </a:r>
            <a:endParaRPr lang="en-US" sz="1150" dirty="0"/>
          </a:p>
        </p:txBody>
      </p:sp>
      <p:pic>
        <p:nvPicPr>
          <p:cNvPr id="15" name="Image 3" descr="/home/claude/work/curso_82514/media/eq/tf_p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510" y="3273552"/>
            <a:ext cx="1980660" cy="56692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23760" y="4114800"/>
            <a:ext cx="4297680" cy="1965960"/>
          </a:xfrm>
          <a:prstGeom prst="roundRect">
            <a:avLst>
              <a:gd name="adj" fmla="val 3721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7" name="Text 11"/>
          <p:cNvSpPr/>
          <p:nvPr/>
        </p:nvSpPr>
        <p:spPr>
          <a:xfrm>
            <a:off x="7424928" y="426110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reductora ayuda al control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424928" y="4754880"/>
            <a:ext cx="38953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«Disminuye los pares de perturbación en 1/G y la variación de inercia y fricción en 1/G²» (Corke, p. 348), reaparecerá en S24.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 et al., 2016, pp. 88-91 · Lynch y Park, 2017, pp. 306-311 · Corke, 2023, pp. 346-348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· UN SOLO LENGUAJE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Analogías entre dominios físicos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99262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7" name="Image 0" descr="/home/claude/work/curso_82514/media/eq/analog_m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212848"/>
            <a:ext cx="3840480" cy="3782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99923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· amortiguador · muelle · fuerza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64808" y="170078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64808" y="2194560"/>
            <a:ext cx="48554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12" name="Image 1" descr="/home/claude/work/curso_82514/media/eq/analog_e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447" y="2157984"/>
            <a:ext cx="2460186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64808" y="2999232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inductancia · resistencia · 1/capacidad · tensión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41248" y="384962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EDO, distinta física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41248" y="4343400"/>
            <a:ext cx="10479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↔ inductancia · amortiguador ↔ resistencia · muelle ↔ 1/capacidad (analogía fuerza-tensión). Dinámica rápida en el aula: ¿el análogo eléctrico de la suspensión de un coche? ¿El análogo mecánico de un filtro RC?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41248" y="522122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DC como sistema mixto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41248" y="5715000"/>
            <a:ext cx="104790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malla eléctrica y el balance mecánico se acoplan por Kt (par-corriente) y Ke (tensión-velocidad): el ejemplo canónico de por qué la mecatrónica necesita un lenguaje común. El disco duro: cadena de masas, muelles y amortiguadores → función de transferencia de la misma familia.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 et al., 2016, pp. 88-91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temporal y frecuencial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y segundo orden · polos y estabilidad · python-control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· LEER LA DINÁMICA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primer y segundo orden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orden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e^(−t/τ): en t = τ la señal ha decaído al 37 %; tiempo de establecimiento al 2 % ≈ 4·τ.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0078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orden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2331720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ë + 2ζωₙ·ė + ωₙ²·e = 0 define frecuencia natural ωₙ y amortiguamiento ζ; sobre-, crítica- o subamortiguado según ζ; ω</a:t>
            </a:r>
            <a:pPr indent="0" marL="0">
              <a:buNone/>
            </a:pPr>
            <a:r>
              <a:rPr lang="en-US" sz="1200" baseline="-40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ωₙ·√(1−ζ²).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Sobreoscilación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572000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= e^(−πζ/√(1−ζ²))·100 %, pico en tp = π/ω</a:t>
            </a:r>
            <a:pPr indent="0" marL="0">
              <a:buNone/>
            </a:pPr>
            <a:r>
              <a:rPr lang="en-US" sz="1200" baseline="-40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Para memorizar: ζ = 0.1 → 73 % · ζ = 0.5 → 16 % · ζ = 0.8 → 1.5 %.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9410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rápidas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4572000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≈ 1.8/ωₙ y ts ≈ 4.6/(ζ·ωₙ). «El papel del control de movimiento es forzar estas características a cumplir las especificaciones» (De Silva, p. 92).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1248" y="5916168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individual: para G(s) = 25/(s² + 4s + 25), predecir a mano ζ, ωn, Mp y ts, y verificar con ct.step_info().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y Park, 2017, pp. 409-413 · De Silva et al., 2016, p. 92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· EL MAPA DEL PLANO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Polos, estabilidad y respuesta en frecuencia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y el mapa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 ⇔ todas las raíces del polinomio característico tienen parte real negativa (Lynch y Park, p. 424).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más a la izquierda → establecimiento más corto; más lejos del eje real → más sobreoscilación. Válido también en orden superior.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 frecuencia: el diagrama de Bode (magnitud y fase frente a frecuencia); la identificación del HDD de S20 se hizo exactamente así.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una ganancia y ver los polos desplazarse: la semilla del diseño de control de S22-S23.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4928" y="16093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python-control, las llamadas del día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4928" y="2103120"/>
            <a:ext cx="38953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ct.tf([K2], [I, K1])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y = ct.step_response(G)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ct.poles(G)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ct.step_info(G)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ct.bode_plot(G)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438912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24928" y="453542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24928" y="5029200"/>
            <a:ext cx="38953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ct.poles() sobre el motor con y sin integrador: el integrador añade un polo en s = 0, al borde de la estabilidad.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y Park, 2017, pp. 412 y 424 · De Silva et al., 2016, pp. 88-89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Taller: PID de una articulación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del péndulo motorizado · ley PID · sintonía · saturación y anti-windup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· ANIMACIÓN DEL TALLER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Kp, en vivo</a:t>
            </a:r>
            <a:endParaRPr lang="en-US" sz="3000" dirty="0"/>
          </a:p>
        </p:txBody>
      </p:sp>
      <p:pic>
        <p:nvPicPr>
          <p:cNvPr id="4" name="Image 0" descr="/home/claude/work/curso_82514/media/gifs/b5_kp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972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Barrido de Kp: más rápido, pero con más sobreoscilación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propia del curso (cuaderno S22)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· TEORÍA DEL TALLER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PID y la dinámica del error</a:t>
            </a:r>
            <a:endParaRPr lang="en-US" sz="3000" dirty="0"/>
          </a:p>
        </p:txBody>
      </p:sp>
      <p:pic>
        <p:nvPicPr>
          <p:cNvPr id="4" name="Image 0" descr="/home/claude/work/curso_82514/media/eq/p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186" y="1481328"/>
            <a:ext cx="3106828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es «un muelle virtual» y Kd «un amortiguador virtual» (Lynch y Park, pp. 422-423); el PID «sigue ampliamente usado tras más de 70 años» (De Silva, p. 93).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sin gravedad: M·ë + (b+Kd)·ė + Kp·e = 0, las ganancias colocan ζ y ωₙ, el puente con S21:</a:t>
            </a:r>
            <a:endParaRPr lang="en-US" sz="1250" dirty="0"/>
          </a:p>
        </p:txBody>
      </p:sp>
      <p:pic>
        <p:nvPicPr>
          <p:cNvPr id="6" name="Image 1" descr="/home/claude/work/curso_82514/media/eq/pd_z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59" y="3977640"/>
            <a:ext cx="3343921" cy="713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484632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gravedad el PD deja error estacionario: sostener el eslabón exige par no nulo, y Kp·θe = m·g·r·cosθ en el reposo.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I lo elimina, pero sube el orden a tres y acota Ki: (b+Kd)·Kp/M &gt; Ki &gt; 0. En la práctica, «Ki = 0 en muchos controladores de robots».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7589520" y="14630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790688" y="1609344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planta del taller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90688" y="2103120"/>
            <a:ext cx="352958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pic>
        <p:nvPicPr>
          <p:cNvPr id="11" name="Image 2" descr="/home/claude/work/curso_82514/media/eq/plan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121408"/>
            <a:ext cx="3566160" cy="3812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90688" y="2788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en plano vertical con M = 0.5 kg·m², m = 1 kg, r = 0.1 m, b = 0.1, números del libro, para comparar resultados.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589520" y="43891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7790688" y="4535424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790688" y="5029200"/>
            <a:ext cx="35295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eslabón de θ = −π/2 a θ = 0 con Mp &lt; 5 % y ts &lt; 1.5 s; primero sin y luego con saturación del actuador.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y Park, 2017, pp. 421-425 · De Silva et al., 2016, pp. 93-98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· EL TALLER EN CINCO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Sintonía por rondas, saturación y anti-windup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655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Kp hasta oscilar; queda error de gravedad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70048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108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08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1700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27248" y="2331720"/>
            <a:ext cx="1655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para ζ = 1: sin sobreoscilación, el error persiste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94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1700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13248" y="2331720"/>
            <a:ext cx="1655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dentro de sus cotas: error estacionario nulo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42048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0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680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5320" y="1700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99248" y="2331720"/>
            <a:ext cx="1655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pPr indent="0" marL="0">
              <a:buNone/>
            </a:pPr>
            <a:r>
              <a:rPr lang="en-US" sz="1050" baseline="-40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1.5 N·m: aparece el windup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28048" y="2148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784080" y="155448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966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966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61320" y="1700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Anti-windup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85248" y="2331720"/>
            <a:ext cx="1655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remedios; comparar curvas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361188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1248" y="375818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windup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" y="4251960"/>
            <a:ext cx="49926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actuador saturado el integrador sigue acumulando; al llegar al objetivo, el par tarda en «desenrollarse»: «gran sobreoscilación y largo tiempo de establecimiento» (De Silva, pp. 99-100). La saturación además «reduce la ganancia a amplitudes altas y ralentiza la respuesta» (p. 109).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61188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64808" y="375818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remedios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64808" y="4251960"/>
            <a:ext cx="48554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Integración condicional: «dejar de actualizar la parte integral cuando la señal de control está limitada» (De Silva, p. 100).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Límite del integrador: «imponer un límite a cuánto puede crecer la integral del error» (Lynch y Park, p. 425).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 et al., 2016, pp. 98-100 y 109 · Lynch y Park, 2017, p. 425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ẋ = A·x + B·u · controlabilidad de Kalman · u = −K·x · observadores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· VER TODAS LAS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controlabilidad y realimentación</a:t>
            </a:r>
            <a:endParaRPr lang="en-US" sz="3000" dirty="0"/>
          </a:p>
        </p:txBody>
      </p:sp>
      <p:pic>
        <p:nvPicPr>
          <p:cNvPr id="4" name="Image 0" descr="/home/claude/work/curso_82514/media/eq/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4023360" cy="268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es la memoria mínima del sistema: lo que hay que conocer hoy para predecir mañana dadas las entradas.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DC con x = [θ, ω]: A = [[0, 1], [0, −K1/I]], B = [0, K2/I], C = [1, 0], el sistema de S20 con otra ropa.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Controlabilidad: la condición de rango de Kalman (abajo). Intuición: B es donde empuja la entrada y A·B adónde se propaga; si esas direcciones no llenan el espacio, hay estados inalcanzables.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para B7: un robot móvil no holonómico no es linealmente controlable y aun así llega a todas partes maniobrando.</a:t>
            </a:r>
            <a:endParaRPr lang="en-US" sz="1250" dirty="0"/>
          </a:p>
        </p:txBody>
      </p:sp>
      <p:pic>
        <p:nvPicPr>
          <p:cNvPr id="6" name="Image 1" descr="/home/claude/work/curso_82514/media/eq/kalm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40680"/>
            <a:ext cx="4937760" cy="36321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223760" y="146304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7424928" y="16093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−K·x y asignación de polos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424928" y="2103120"/>
            <a:ext cx="38953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es controlable, existe K que estabiliza el origen; K pesa todos los estados, no solo el error de salida. K = ct.place(A, B, polos): demo con polos en −5 ± 5j frente a −20 ± 5j.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223760" y="429768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7424928" y="444398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y LQR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24928" y="4937760"/>
            <a:ext cx="38953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observador estima los estados no medidos a partir de pocas medidas reales (su eficacia depende del modelo). LQR: K que minimiza un coste cuadrático (ct.lqr), puente con B8.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 et al., 2016, pp. 90-102 · Lynch y Park, 2017, p. 528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y par calculado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Euler-Lagrange · M(q)·q̈ + C·q̇ + g = τ · control por dinámica inversa · cuestionario B5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· EULER-LAGRANGE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del manipulador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2A80"/>
          </a:solidFill>
          <a:ln/>
        </p:spPr>
        <p:txBody>
          <a:bodyPr/>
          <a:p/>
        </p:txBody>
      </p:sp>
      <p:pic>
        <p:nvPicPr>
          <p:cNvPr id="5" name="Image 0" descr="/home/claude/work/curso_82514/media/eq/man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73352"/>
            <a:ext cx="5029200" cy="411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463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en q̈ · cuadrática en q̇ · trigonométrica en q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27523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M(q), inercia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3383280"/>
            <a:ext cx="3072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masas simétrica definida positiva; acopla los ejes y varía con la configuración: la inercia vista por el hombro del PUMA 560 cambia un factor 2.16.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26060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26280" y="27889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262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0640" y="27523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C(q, q̇), Coriolis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44568" y="3383280"/>
            <a:ext cx="3072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centrífugos con q̇ᵢ² y de Coriolis con q̇ᵢ·q̇ⱼ: solo aparecen en movimiento y crecen con la velocidad.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46720" y="26060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229600" y="278892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296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23960" y="27523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g(q), gravedad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47888" y="3383280"/>
            <a:ext cx="3072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«Generalmente el término dominante» (Corke, p. 350): actúa incluso parado. Después, la fricción es «la siguiente más dominante» (p. 353).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5120640"/>
            <a:ext cx="5989320" cy="960120"/>
          </a:xfrm>
          <a:prstGeom prst="roundRect">
            <a:avLst>
              <a:gd name="adj" fmla="val 7619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41248" y="5230368"/>
            <a:ext cx="5586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completa de ingeniería con fricción y fuerza externa: Q = M·q̈ + C·q̇ + f(q̇) + g(q) + Jᵀ(q)·w (dinámica inversa; Corke, ec. 9.11).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858000" y="5047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lagrangiana:</a:t>
            </a:r>
            <a:endParaRPr lang="en-US" sz="1100" dirty="0"/>
          </a:p>
        </p:txBody>
      </p:sp>
      <p:pic>
        <p:nvPicPr>
          <p:cNvPr id="25" name="Image 1" descr="/home/claude/work/curso_82514/media/eq/lag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5340096"/>
            <a:ext cx="4434840" cy="7125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y Park, 2017, pp. 272-276 · Corke, 2023, pp. 348-353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· CANCELAR LA DINÁMICA CON 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 par calculado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deseada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2139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q_d, q̇_d, q̈_d (B4, S19)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63824" y="2103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51860" y="155448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3474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347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29100" y="1700784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sobre el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3028" y="2331720"/>
            <a:ext cx="2139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q̈_ref = q̈_d + Kp·e + Kd·ė + Ki·∫e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75604" y="2103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4652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700784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inverso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4808" y="2331720"/>
            <a:ext cx="2139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M̂(q)·q̈_ref + ĥ(q, q̇)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87384" y="2103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355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75420" y="155448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25830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58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52660" y="1700784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real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76588" y="2331720"/>
            <a:ext cx="2139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y q̇ medidos realimentan el lazo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5661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41248" y="3675888"/>
            <a:ext cx="10479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linealización ideal, la dinámica del error es ë + Kv·ė + Kp·e = 0: lineal, desacoplada e independiente de la configuración (Corke, ec. 9.17). Es «control por dinámica inversa: un sistema no lineal en cascada con su inverso, de ganancia unidad» (Corke, p. 359).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1248" y="471830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más simples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" y="5212080"/>
            <a:ext cx="4992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articular independiente: válido si M es casi diagonal (robots cartesianos o muy reducidos: el 1/G²). PID + compensación de gravedad: τ = Kp·e + Ki·∫e + Kd·ė + ĝ(q), suficiente a velocidades pequeñas.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5720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64808" y="471830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límites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64808" y="5212080"/>
            <a:ext cx="4855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estimar masas, centros de masas, inercias y fricción; con error de modelo aparece un forzamiento en la dinámica del error. En la práctica: mejor seguimiento que feedforward o feedback solos, con menos esfuerzo de control.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y Park, 2017, pp. 429-432 · Corke, 2023, pp. 359-360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· 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arco del bloque y el cuestionario B5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9222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1655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→ EDO y función de transferencia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70048" y="2377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1645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27248" y="179222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27248" y="2286000"/>
            <a:ext cx="1655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Polos, ζ y ωn: leer la respuesta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6048" y="2377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12080" y="1645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13248" y="179222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248" y="2286000"/>
            <a:ext cx="1655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PID: sintonía, saturación, anti-windup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42048" y="2377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0" y="1645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699248" y="179222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99248" y="2286000"/>
            <a:ext cx="1655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ẋ = A·x + B·u, u = −K·x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28048" y="2377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355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84080" y="1645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985248" y="179222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85248" y="2286000"/>
            <a:ext cx="1655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M(q)·q̈ + C·q̇ + g = τ y par calculado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248" y="412394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B5 (15 min, 10 preguntas ABCD)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4617720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 del motor y reducción · especificaciones y polos · dinámica del error PD/PID y windup · condición de Kalman · términos de la ecuación del manipulador y par calculado. Incluye un cálculo corto: dinámica de error de un PD con números dados.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1248" y="532180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delante: la dinámica M, C, g reaparece en simulación (Gazebo/Isaac, B8) y el par calculado es la base de los controladores de los brazos que se programarán sobre MoveIt 2 en B7.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Mecatrónica y Robótica · B5 · Cuestionario B5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2026-08-11T10:31:57Z</dcterms:created>
  <dcterms:modified xsi:type="dcterms:W3CDTF">2026-08-11T10:31:57Z</dcterms:modified>
</cp:coreProperties>
</file>