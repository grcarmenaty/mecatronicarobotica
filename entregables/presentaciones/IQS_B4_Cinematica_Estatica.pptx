
<file path=[Content_Types].xml><?xml version="1.0" encoding="utf-8"?>
<Types xmlns="http://schemas.openxmlformats.org/package/2006/content-types">
  <Default Extension="jpg" ContentType="image/jpeg"/>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1.jpg" ContentType="image/jpg"/>
  <Override PartName="/ppt/media/image-4-1.jpg" ContentType="image/jpg"/>
  <Override PartName="/ppt/media/image-4-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el bloque como el más largo y exigente del curso: siete sesiones y diez horas para el lenguaje matemático del movimiento. Conviene decir que es el material que más se pregunta en entrevistas técnicas de robótica.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el arco: pose, cinemática directa, inversa, jacobiano, singularidades, estática y trayectorias. Avisar de que el jacobiano es el objeto más reutilizado: conecta cuatro temas. Tres talleres con Python por el camino y cuestionario B4 al cierre de S19.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Sesión fundacional de dos horas: marcos, rotaciones y transformaciones homogéneas, con el taller de spatialmath al final. La foto (medio siglo de brazos ASEA y ABB) permite decir que todos se describen con las matrices de hoy. Plan: 0-10 pose relativa y notación; 10-35 matrices de rotación; 35-60 Euler, RPY, eje-ángulo y cuaterniones; 60-70 descanso; 70-85 SE(3); 85-115 taller; 115-120 cierre.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El PUMA 500 de la foto es el arquetipo del brazo articulado y heredero del Unimate de S3; el modelo Puma560 del taller de S15 es este mismo robot. Los brazos de la derecha tienen la misma configuración que los Mitsubishi y ABB del laboratorio. Mensaje: lo que se formaliza en este bloque describe esas máquinas concretas.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Empezar con la cita de Corke: cualquier pose es siempre una pose relativa; explicar la notación de subíndices origen-destino con la tarjeta de la derecha (el subíndice interior se cancela al componer). Derivar en pizarra la matriz de rotación 2D proyectando los ejes girados. Hacer la demostración física del libro: girar 90 grados en Z y luego en Y no conmuta; en 2D sí. La cuenta 9 menos 6 igual a 3 motiva las parametrizaciones de la siguiente diapositiva.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tres columnas con su criterio de uso y dictar la regla del curso: matrices para operar, ángulos para comunicar con humanos, cuaterniones para interpolar y almacenar. Contar el episodio del Apolo 13 al explicar el bloqueo de cardán y avisar de la ambigüedad de convenciones RPY al integrar hardware. La fórmula de Rodrigues conecta con el producto de exponenciales de S14; explorarla con la demo del taller.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la transformación homogénea con las tres ecuaciones en limpio: la matriz de pose, la composición y la inversa sin resolver sistemas. En el taller es obligatoria la verificación de que T por su inversa da la identidad. El taller sigue el cuaderno 82514_S13_Pose_Rotaciones, que reproduce las sesiones del libro de Corke; comprobar los entornos al empezar. Encargo de lectura para S14: Corke pp. 255-260.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Resolver en voz alta con la diapositiva: plantear la cadena mundo, mesa, pieza; hacer el giro de 90 grados a mano en la pizarra (el vector (0,2, 0,1) pasa a (−0,1, 0,2)) y sumar. Insistir en que las orientaciones se suman en 2D. Cerrar comprobándolo en el cuaderno S13 en directo si hay tiempo.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Plantear el problema directo (de ángulos a pose) y anunciar el criterio con el que se cierran las tres notaciones: ETS para leer la geometría, DH para intercambiar modelos, PoE para el análisis de velocidad. Plan: 0-5 recuperación; 5-20 el problema y el 2R en pizarra; 20-40 las tres convenciones derivando la lógica del PoE; 40-55 ejercicio por parejas; 55-60 anuncio del taller de S15 con portátiles.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Recordar que la FK siempre existe y es única; el problema con soluciones múltiples es el inverso. Derivar la lógica del producto de exponenciales sobre el 2R conectando con Rodrigues. Avisar de la trampa de numeración de DH. Ejercicio por parejas de la franja inferior: las tres descripciones del mismo 2R deben dar la misma pose en el punto de comprobación. La relación formal entre PoE y DH está en el apéndice C de Lynch y Park.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Primer ejemplo numérico del bloque: recorrer los cuatro pasos sin prisa. Truco para la clase: q₁ + q₂ = 90 hace los cosenos y senos inmediatos, así el foco queda en el método y no en la calculadora. Señalar que la estructura (posición, DH, espacio de trabajo) es exactamente la parte C del parcial 1 con otros números. Dejar el anillo dibujado en la pizarra: se reutiliza en el ejemplo de IK.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Sesión de taller con portátiles, sin teoría nueva. Objetivo: cargar modelos, calcular FK y explicar por qué el número del controlador no coincide exactamente con el del modelo. Plan: 0-5 puesta en marcha; 5-20 modelos y configuraciones con nombre; 20-40 ejercicios guiados con teach; 40-55 comparación con el ABB real; 55-60 mini-reto que motiva la IK.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Recorrer las llamadas del taller y usar teach para localizar la muñeca esférica. Avisar de la trampa clásica de DH: el efector del modelo es el centro de la muñeca, no la brida; la herramienta real exige añadir su transformación. En la comparación con el ABB, discutir las tres fuentes de discrepancia: herramienta, base y convención de ángulos. Recordar que las normas de seguridad del aula-taller siguen vigentes. Mini-reto para casa: tocar un punto usando solo teach y contar los intentos.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Anunciar al principio el resultado central del día para que lo esperen: un 6R industrial tiene en general ocho soluciones para la misma pose. Plan: 0-10 estructura del problema; 10-35 el 2R analítico en pizarra; 35-60 desacoplo con muñeca esférica y las ocho soluciones; 60-70 descanso; 70-85 Newton-Raphson; 85-115 taller de IK; 115-120 cierre.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Resolver el 2R en pizarra: ley de cosenos para el codo (dos ramas) y atan2 para el hombro. Dictar la regla de oficio: siempre atan2 con dos argumentos, nunca la arcotangente del cociente, porque conserva el cuadrante. Explicar el desacoplo con muñeca esférica y la cuenta de las ocho soluciones. De los casos degenerados: fuera de alcance no hay solución; con el objetivo sobre el eje de la base hay infinitas.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Resolver el ejemplo entero en la pizarra antes de proyectar la diapositiva, y usarla como comprobación. Orden: radio de P (0,447, dentro del anillo), ley de cosenos, las dos ramas, atan2 para el hombro en cada rama, y verificación con la FK. Momento clave: preguntar qué pasaría con atan(y/x) en lugar de atan2 para que digan en voz alta lo del cuadrante. Los números siguen al ejemplo de S14: mismo robot.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Newton-Raphson con los cuatro pasos y pasar al taller: explorar las ocho ramas con las banderas de ikine_a verificando siempre con fkine; después ikine_LM y su dependencia de la semilla. Síntesis por parejas: obtener las ocho soluciones de un punto de la mesa, descartar las inalcanzables y elegir razonadamente. Mensaje de cierre: analítica cuando la geometría lo permite, numérica en el resto, y en ambos casos hay que gestionar la multiplicidad desde la programación de la tarea.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el jacobiano como la matriz que conecta cuatro temas: FK diferencial, IK numérica, singularidades y estática. Plan: 0-5 recuperación; 5-25 derivación en el 2R y lectura física por columnas; 25-40 jacobiano geométrico y analítico; 40-55 velocidad resuelta con demo; 55-60 cierre.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Explicar las dos figuras de los cuadernos. En la izquierda, las elipses de manipulabilidad: se achatan cuando el brazo se estira, y ese achatamiento anticipa la singularidad de S18. En la derecha, la trayectoria quíntica en espacio articular del cuaderno de S19: suave para los motores, pero la punta no describe una recta.</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Derivar desde la FK del 2R con la regla de la cadena y quedarse con la lectura por columnas: la columna i es la velocidad del efector cuando solo la articulación i se mueve a velocidad unidad. Ejercicio rápido: pedir que predigan la columna 2 con el brazo estirado antes de calcularla. Distinguir jacob0 y jacobe, y avisar de la singularidad de representación del jacobiano analítico. Cerrar con el aviso de la tarjeta: cuando las columnas se alinean hay direcciones imposibles; es el tema de S18.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Evaluar J en la configuración del ejemplo de IK (continuidad deliberada: mismo robot, misma postura). La lectura que importa: 10 cm/s del efector cuestan 34 grados por segundo de codo, y eso lejos de la singularidad; preguntar qué pasará al acercarse a det J = 0. Comparar det J = 0,067 con el máximo a₁·a₂ = 0,07 para dar sentido de escala.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Presentar el algoritmo con la cita de Corke: movimiento del efector a velocidad constante sin cinemática inversa. Demo en la toolbox moviendo el efector en línea recta. Discutir la letra pequeña: la integración en lazo abierto deriva (se corrige cerrando el lazo con la pose real) y el algoritmo exige jacobiano invertible; qué pasa cuando no lo es se responde en S18.</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Sesión donde el álgebra se vuelve física: qué le pasa al robot cuando el jacobiano pierde rango y por qué el controlador industrial frena cerca de esas posturas. Plan: 0-5 recuperación; 5-25 singularidades con los casos clásicos del 6R; 25-45 elipsoide y medida de Yoshikawa; 45-55 demo con svd y el elipsoide; 55-60 cierre.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Dar la definición (el efector pierde la capacidad de moverse instantáneamente en alguna dirección; el jacobiano pierde rango) y los tres casos clásicos del 6R, incluida la muñeca con q4 nulo que ya vieron en el taller de IK. Explicar el elipsoide como la imagen de la esfera unidad de velocidades articulares. De Yoshikawa, avisar de que mide volumen y no isotropía. Demo: valores singulares en una postura normal y casi estirada; la medida a lo largo de una trayectoria se retoma en S19. Mensaje: la singularidad es geometría anticipable, no una avería.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Último día del bloque: estática por conservación de potencia, leyes temporales y repaso con cuestionario. La foto de paletizado une las dos cosas: trayectorias punto a punto con carga. Plan: 0-25 estática; 25-40 dualidad fuerza-velocidad; 40-65 leyes temporales; 65-75 descanso; 75-95 taller de trayectorias con manipulabilidad; 95-105 repaso con el mapa y las cinco ecuaciones; 105-120 cuestionario B4 en Moodle (15 min).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Derivar en pizarra la conservación de potencia; es la deducción más corta y elegante del bloque. Citar a Corke: la traspuesta del jacobiano nunca puede ser singular, así que la estática funciona incluso donde la cinemática diferencial falla. Explicar la dualidad con el ejemplo somático de la maleta: el brazo colgando recto tiene velocidad nula y fuerza máxima; trabaja en su singularidad. Aplicación exprés: par de hombro para sostener 10 N con el brazo extendido, que conecta con el dimensionado de B3.</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Cerrar el arco del ejemplo común: el MISMO jacobiano de S17, traspuesto, da los pares. Recalcar el caso del brazo estirado como peor caso de dimensionado (conexión directa con la selección motor-reductora de B3). La frase de la dualidad (empujar es barato donde moverse es caro) conviene dictarla.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Fijar el vocabulario: trayectoria igual a camino más ley temporal. Recorrer cúbica, quíntica y trapezoidal con sus defectos y usos. En el taller, la comparación clave: trayectoria articular (suave para los motores, la punta no va recta) frente a cartesiana con IK (recta perfecta, pero la manipulabilidad puede caer casi a cero por la singularidad de muñeca). Monitorizar la medida de Yoshikawa durante la trayectoria cierra el círculo con S18.</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Construir el mapa del bloque en la pizarra con la clase antes de proyectarlo, pidiendo a estudiantes distintos que expliquen cada ecuación y dónde se usó. Las cinco en limpio: ortonormalidad de la rotación, transformación homogénea, producto de exponenciales, cinemática diferencial y estática. Después, cuestionario B4 en Moodle (15 minutos); los errores más comunes se revisan al abrir S20.</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gif"/><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slideLayout" Target="../slideLayouts/slideLayout1.xml"/><Relationship Id="rId7"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80"/>
        </a:solidFill>
      </p:bgPr>
    </p:bg>
    <p:spTree>
      <p:nvGrpSpPr>
        <p:cNvPr id="1" name=""/>
        <p:cNvGrpSpPr/>
        <p:nvPr/>
      </p:nvGrpSpPr>
      <p:grpSpPr>
        <a:xfrm>
          <a:off x="0" y="0"/>
          <a:ext cx="0" cy="0"/>
          <a:chOff x="0" y="0"/>
          <a:chExt cx="0" cy="0"/>
        </a:xfrm>
      </p:grpSpPr>
      <p:sp>
        <p:nvSpPr>
          <p:cNvPr id="2" name="Shape 0"/>
          <p:cNvSpPr/>
          <p:nvPr/>
        </p:nvSpPr>
        <p:spPr>
          <a:xfrm flipH="1">
            <a:off x="7223760" y="2377440"/>
            <a:ext cx="4983480" cy="4498848"/>
          </a:xfrm>
          <a:prstGeom prst="rtTriangle">
            <a:avLst/>
          </a:prstGeom>
          <a:solidFill>
            <a:srgbClr val="2E3FA3"/>
          </a:solidFill>
          <a:ln/>
        </p:spPr>
        <p:txBody>
          <a:bodyPr/>
          <a:p/>
        </p:txBody>
      </p:sp>
      <p:sp>
        <p:nvSpPr>
          <p:cNvPr id="3" name="Shape 1"/>
          <p:cNvSpPr/>
          <p:nvPr/>
        </p:nvSpPr>
        <p:spPr>
          <a:xfrm flipH="1">
            <a:off x="9509760" y="4480560"/>
            <a:ext cx="2697480" cy="2395728"/>
          </a:xfrm>
          <a:prstGeom prst="rtTriangle">
            <a:avLst/>
          </a:prstGeom>
          <a:solidFill>
            <a:srgbClr val="2FD26E"/>
          </a:solidFill>
          <a:ln/>
        </p:spPr>
        <p:txBody>
          <a:bodyPr/>
          <a:p/>
        </p:txBody>
      </p:sp>
      <p:pic>
        <p:nvPicPr>
          <p:cNvPr id="4" name="Image 0" descr="/home/claude/work/curso_82514/media/logo_iqs_blanco.png">    </p:cNvPr>
          <p:cNvPicPr>
            <a:picLocks noChangeAspect="1"/>
          </p:cNvPicPr>
          <p:nvPr/>
        </p:nvPicPr>
        <p:blipFill>
          <a:blip r:embed="rId1"/>
          <a:stretch>
            <a:fillRect/>
          </a:stretch>
        </p:blipFill>
        <p:spPr>
          <a:xfrm>
            <a:off x="640080" y="384048"/>
            <a:ext cx="1188720" cy="1188720"/>
          </a:xfrm>
          <a:prstGeom prst="rect">
            <a:avLst/>
          </a:prstGeom>
        </p:spPr>
      </p:pic>
      <p:sp>
        <p:nvSpPr>
          <p:cNvPr id="5" name="Text 2"/>
          <p:cNvSpPr/>
          <p:nvPr/>
        </p:nvSpPr>
        <p:spPr>
          <a:xfrm>
            <a:off x="640080" y="2286000"/>
            <a:ext cx="8686800" cy="457200"/>
          </a:xfrm>
          <a:prstGeom prst="rect">
            <a:avLst/>
          </a:prstGeom>
          <a:noFill/>
          <a:ln/>
        </p:spPr>
        <p:txBody>
          <a:bodyPr wrap="square" lIns="0" tIns="0" rIns="0" bIns="0" rtlCol="0" anchor="ctr"/>
          <a:lstStyle/>
          <a:p>
            <a:pPr indent="0" marL="0">
              <a:buNone/>
            </a:pPr>
            <a:r>
              <a:rPr lang="en-US" sz="1800" b="1" dirty="0">
                <a:solidFill>
                  <a:srgbClr val="2FD26E"/>
                </a:solidFill>
                <a:latin typeface="Calibri" pitchFamily="34" charset="0"/>
                <a:ea typeface="Calibri" pitchFamily="34" charset="-122"/>
                <a:cs typeface="Calibri" pitchFamily="34" charset="-120"/>
              </a:rPr>
              <a:t>82514 · MECATRÓNICA Y ROBÓTICA</a:t>
            </a:r>
            <a:endParaRPr lang="en-US" sz="1800" dirty="0"/>
          </a:p>
        </p:txBody>
      </p:sp>
      <p:sp>
        <p:nvSpPr>
          <p:cNvPr id="6" name="Text 3"/>
          <p:cNvSpPr/>
          <p:nvPr/>
        </p:nvSpPr>
        <p:spPr>
          <a:xfrm>
            <a:off x="640080" y="2743200"/>
            <a:ext cx="8229600" cy="54864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Bloque 4</a:t>
            </a:r>
            <a:endParaRPr lang="en-US" sz="2200" dirty="0"/>
          </a:p>
        </p:txBody>
      </p:sp>
      <p:sp>
        <p:nvSpPr>
          <p:cNvPr id="7" name="Text 4"/>
          <p:cNvSpPr/>
          <p:nvPr/>
        </p:nvSpPr>
        <p:spPr>
          <a:xfrm>
            <a:off x="640080" y="3246120"/>
            <a:ext cx="7863840" cy="155448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Cinemática y estática</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de manipuladores</a:t>
            </a:r>
            <a:endParaRPr lang="en-US" sz="4000" dirty="0"/>
          </a:p>
        </p:txBody>
      </p:sp>
      <p:sp>
        <p:nvSpPr>
          <p:cNvPr id="8" name="Text 5"/>
          <p:cNvSpPr/>
          <p:nvPr/>
        </p:nvSpPr>
        <p:spPr>
          <a:xfrm>
            <a:off x="640080" y="5029200"/>
            <a:ext cx="7315200" cy="45720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Sesiones S13–S19 · 10 horas</a:t>
            </a:r>
            <a:endParaRPr lang="en-US" sz="1600" dirty="0"/>
          </a:p>
        </p:txBody>
      </p:sp>
      <p:sp>
        <p:nvSpPr>
          <p:cNvPr id="9" name="Text 6"/>
          <p:cNvSpPr/>
          <p:nvPr/>
        </p:nvSpPr>
        <p:spPr>
          <a:xfrm>
            <a:off x="640080" y="5486400"/>
            <a:ext cx="7315200" cy="457200"/>
          </a:xfrm>
          <a:prstGeom prst="rect">
            <a:avLst/>
          </a:prstGeom>
          <a:noFill/>
          <a:ln/>
        </p:spPr>
        <p:txBody>
          <a:bodyPr wrap="square" lIns="0" tIns="0" rIns="0" bIns="0" rtlCol="0" anchor="ctr"/>
          <a:lstStyle/>
          <a:p>
            <a:pPr indent="0" marL="0">
              <a:buNone/>
            </a:pPr>
            <a:r>
              <a:rPr lang="en-US" sz="1400" dirty="0">
                <a:solidFill>
                  <a:srgbClr val="9AA7E8"/>
                </a:solidFill>
                <a:latin typeface="Calibri" pitchFamily="34" charset="0"/>
                <a:ea typeface="Calibri" pitchFamily="34" charset="-122"/>
                <a:cs typeface="Calibri" pitchFamily="34" charset="-120"/>
              </a:rPr>
              <a:t>9, 14, 15, 16, 21, 22 y 23 de octubre de 2026 · IQS Universitat Ramon Llull</a:t>
            </a:r>
            <a:endParaRPr lang="en-US" sz="14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BLOQUE 4</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Hoja de ruta del bloque</a:t>
            </a:r>
            <a:endParaRPr lang="en-US" sz="3000" dirty="0"/>
          </a:p>
        </p:txBody>
      </p:sp>
      <p:sp>
        <p:nvSpPr>
          <p:cNvPr id="4" name="Shape 2"/>
          <p:cNvSpPr/>
          <p:nvPr/>
        </p:nvSpPr>
        <p:spPr>
          <a:xfrm>
            <a:off x="640080" y="1417320"/>
            <a:ext cx="10881360" cy="621792"/>
          </a:xfrm>
          <a:prstGeom prst="roundRect">
            <a:avLst>
              <a:gd name="adj" fmla="val 11765"/>
            </a:avLst>
          </a:prstGeom>
          <a:solidFill>
            <a:srgbClr val="F2F4FB"/>
          </a:solidFill>
          <a:ln/>
        </p:spPr>
        <p:txBody>
          <a:bodyPr/>
          <a:p/>
        </p:txBody>
      </p:sp>
      <p:sp>
        <p:nvSpPr>
          <p:cNvPr id="5" name="Shape 3"/>
          <p:cNvSpPr/>
          <p:nvPr/>
        </p:nvSpPr>
        <p:spPr>
          <a:xfrm>
            <a:off x="841248" y="1499616"/>
            <a:ext cx="457200" cy="457200"/>
          </a:xfrm>
          <a:prstGeom prst="ellipse">
            <a:avLst/>
          </a:prstGeom>
          <a:solidFill>
            <a:srgbClr val="2FD26E"/>
          </a:solidFill>
          <a:ln/>
        </p:spPr>
        <p:txBody>
          <a:bodyPr/>
          <a:p/>
        </p:txBody>
      </p:sp>
      <p:sp>
        <p:nvSpPr>
          <p:cNvPr id="6" name="Text 4"/>
          <p:cNvSpPr/>
          <p:nvPr/>
        </p:nvSpPr>
        <p:spPr>
          <a:xfrm>
            <a:off x="841248" y="149961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81328" y="1417320"/>
            <a:ext cx="9829800" cy="621792"/>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S13 · vie 9 oct · 2 h </a:t>
            </a:r>
            <a:pPr indent="0" marL="0">
              <a:buNone/>
            </a:pPr>
            <a:r>
              <a:rPr lang="en-US" sz="1150" dirty="0">
                <a:solidFill>
                  <a:srgbClr val="1A1A2E"/>
                </a:solidFill>
                <a:latin typeface="Calibri" pitchFamily="34" charset="0"/>
                <a:ea typeface="Calibri" pitchFamily="34" charset="-122"/>
                <a:cs typeface="Calibri" pitchFamily="34" charset="-120"/>
              </a:rPr>
              <a:t>, Pose: marcos, rotaciones y transformaciones homogéneas + taller spatialmath</a:t>
            </a:r>
            <a:endParaRPr lang="en-US" sz="1250" dirty="0"/>
          </a:p>
        </p:txBody>
      </p:sp>
      <p:sp>
        <p:nvSpPr>
          <p:cNvPr id="8" name="Shape 6"/>
          <p:cNvSpPr/>
          <p:nvPr/>
        </p:nvSpPr>
        <p:spPr>
          <a:xfrm>
            <a:off x="640080" y="2130552"/>
            <a:ext cx="10881360" cy="621792"/>
          </a:xfrm>
          <a:prstGeom prst="roundRect">
            <a:avLst>
              <a:gd name="adj" fmla="val 11765"/>
            </a:avLst>
          </a:prstGeom>
          <a:solidFill>
            <a:srgbClr val="F2F4FB"/>
          </a:solidFill>
          <a:ln/>
        </p:spPr>
        <p:txBody>
          <a:bodyPr/>
          <a:p/>
        </p:txBody>
      </p:sp>
      <p:sp>
        <p:nvSpPr>
          <p:cNvPr id="9" name="Shape 7"/>
          <p:cNvSpPr/>
          <p:nvPr/>
        </p:nvSpPr>
        <p:spPr>
          <a:xfrm>
            <a:off x="841248" y="2212848"/>
            <a:ext cx="457200" cy="457200"/>
          </a:xfrm>
          <a:prstGeom prst="ellipse">
            <a:avLst/>
          </a:prstGeom>
          <a:solidFill>
            <a:srgbClr val="2FD26E"/>
          </a:solidFill>
          <a:ln/>
        </p:spPr>
        <p:txBody>
          <a:bodyPr/>
          <a:p/>
        </p:txBody>
      </p:sp>
      <p:sp>
        <p:nvSpPr>
          <p:cNvPr id="10" name="Text 8"/>
          <p:cNvSpPr/>
          <p:nvPr/>
        </p:nvSpPr>
        <p:spPr>
          <a:xfrm>
            <a:off x="841248" y="221284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481328" y="2130552"/>
            <a:ext cx="9829800" cy="621792"/>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S14 · mié 14 oct · 1 h </a:t>
            </a:r>
            <a:pPr indent="0" marL="0">
              <a:buNone/>
            </a:pPr>
            <a:r>
              <a:rPr lang="en-US" sz="1150" dirty="0">
                <a:solidFill>
                  <a:srgbClr val="1A1A2E"/>
                </a:solidFill>
                <a:latin typeface="Calibri" pitchFamily="34" charset="0"/>
                <a:ea typeface="Calibri" pitchFamily="34" charset="-122"/>
                <a:cs typeface="Calibri" pitchFamily="34" charset="-120"/>
              </a:rPr>
              <a:t>, Cinemática directa: ETS, Denavit-Hartenberg y producto de exponenciales</a:t>
            </a:r>
            <a:endParaRPr lang="en-US" sz="1250" dirty="0"/>
          </a:p>
        </p:txBody>
      </p:sp>
      <p:sp>
        <p:nvSpPr>
          <p:cNvPr id="12" name="Shape 10"/>
          <p:cNvSpPr/>
          <p:nvPr/>
        </p:nvSpPr>
        <p:spPr>
          <a:xfrm>
            <a:off x="640080" y="2843784"/>
            <a:ext cx="10881360" cy="621792"/>
          </a:xfrm>
          <a:prstGeom prst="roundRect">
            <a:avLst>
              <a:gd name="adj" fmla="val 11765"/>
            </a:avLst>
          </a:prstGeom>
          <a:solidFill>
            <a:srgbClr val="F2F4FB"/>
          </a:solidFill>
          <a:ln/>
        </p:spPr>
        <p:txBody>
          <a:bodyPr/>
          <a:p/>
        </p:txBody>
      </p:sp>
      <p:sp>
        <p:nvSpPr>
          <p:cNvPr id="13" name="Shape 11"/>
          <p:cNvSpPr/>
          <p:nvPr/>
        </p:nvSpPr>
        <p:spPr>
          <a:xfrm>
            <a:off x="841248" y="2926080"/>
            <a:ext cx="457200" cy="457200"/>
          </a:xfrm>
          <a:prstGeom prst="ellipse">
            <a:avLst/>
          </a:prstGeom>
          <a:solidFill>
            <a:srgbClr val="2FD26E"/>
          </a:solidFill>
          <a:ln/>
        </p:spPr>
        <p:txBody>
          <a:bodyPr/>
          <a:p/>
        </p:txBody>
      </p:sp>
      <p:sp>
        <p:nvSpPr>
          <p:cNvPr id="14" name="Text 12"/>
          <p:cNvSpPr/>
          <p:nvPr/>
        </p:nvSpPr>
        <p:spPr>
          <a:xfrm>
            <a:off x="841248" y="2926080"/>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481328" y="2843784"/>
            <a:ext cx="9829800" cy="621792"/>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S15 · jue 15 oct · 1 h </a:t>
            </a:r>
            <a:pPr indent="0" marL="0">
              <a:buNone/>
            </a:pPr>
            <a:r>
              <a:rPr lang="en-US" sz="1150" dirty="0">
                <a:solidFill>
                  <a:srgbClr val="1A1A2E"/>
                </a:solidFill>
                <a:latin typeface="Calibri" pitchFamily="34" charset="0"/>
                <a:ea typeface="Calibri" pitchFamily="34" charset="-122"/>
                <a:cs typeface="Calibri" pitchFamily="34" charset="-120"/>
              </a:rPr>
              <a:t>, Taller: FK de un 6R con la Robotics Toolbox y el ABB del laboratorio</a:t>
            </a:r>
            <a:endParaRPr lang="en-US" sz="1250" dirty="0"/>
          </a:p>
        </p:txBody>
      </p:sp>
      <p:sp>
        <p:nvSpPr>
          <p:cNvPr id="16" name="Shape 14"/>
          <p:cNvSpPr/>
          <p:nvPr/>
        </p:nvSpPr>
        <p:spPr>
          <a:xfrm>
            <a:off x="640080" y="3557016"/>
            <a:ext cx="10881360" cy="621792"/>
          </a:xfrm>
          <a:prstGeom prst="roundRect">
            <a:avLst>
              <a:gd name="adj" fmla="val 11765"/>
            </a:avLst>
          </a:prstGeom>
          <a:solidFill>
            <a:srgbClr val="F2F4FB"/>
          </a:solidFill>
          <a:ln/>
        </p:spPr>
        <p:txBody>
          <a:bodyPr/>
          <a:p/>
        </p:txBody>
      </p:sp>
      <p:sp>
        <p:nvSpPr>
          <p:cNvPr id="17" name="Shape 15"/>
          <p:cNvSpPr/>
          <p:nvPr/>
        </p:nvSpPr>
        <p:spPr>
          <a:xfrm>
            <a:off x="841248" y="3639312"/>
            <a:ext cx="457200" cy="457200"/>
          </a:xfrm>
          <a:prstGeom prst="ellipse">
            <a:avLst/>
          </a:prstGeom>
          <a:solidFill>
            <a:srgbClr val="2FD26E"/>
          </a:solidFill>
          <a:ln/>
        </p:spPr>
        <p:txBody>
          <a:bodyPr/>
          <a:p/>
        </p:txBody>
      </p:sp>
      <p:sp>
        <p:nvSpPr>
          <p:cNvPr id="18" name="Text 16"/>
          <p:cNvSpPr/>
          <p:nvPr/>
        </p:nvSpPr>
        <p:spPr>
          <a:xfrm>
            <a:off x="841248" y="3639312"/>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481328" y="3557016"/>
            <a:ext cx="9829800" cy="621792"/>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S16 · vie 16 oct · 2 h </a:t>
            </a:r>
            <a:pPr indent="0" marL="0">
              <a:buNone/>
            </a:pPr>
            <a:r>
              <a:rPr lang="en-US" sz="1150" dirty="0">
                <a:solidFill>
                  <a:srgbClr val="1A1A2E"/>
                </a:solidFill>
                <a:latin typeface="Calibri" pitchFamily="34" charset="0"/>
                <a:ea typeface="Calibri" pitchFamily="34" charset="-122"/>
                <a:cs typeface="Calibri" pitchFamily="34" charset="-120"/>
              </a:rPr>
              <a:t>, Cinemática inversa: solución analítica, ocho soluciones y métodos numéricos</a:t>
            </a:r>
            <a:endParaRPr lang="en-US" sz="1250" dirty="0"/>
          </a:p>
        </p:txBody>
      </p:sp>
      <p:sp>
        <p:nvSpPr>
          <p:cNvPr id="20" name="Shape 18"/>
          <p:cNvSpPr/>
          <p:nvPr/>
        </p:nvSpPr>
        <p:spPr>
          <a:xfrm>
            <a:off x="640080" y="4270248"/>
            <a:ext cx="10881360" cy="621792"/>
          </a:xfrm>
          <a:prstGeom prst="roundRect">
            <a:avLst>
              <a:gd name="adj" fmla="val 11765"/>
            </a:avLst>
          </a:prstGeom>
          <a:solidFill>
            <a:srgbClr val="F2F4FB"/>
          </a:solidFill>
          <a:ln/>
        </p:spPr>
        <p:txBody>
          <a:bodyPr/>
          <a:p/>
        </p:txBody>
      </p:sp>
      <p:sp>
        <p:nvSpPr>
          <p:cNvPr id="21" name="Shape 19"/>
          <p:cNvSpPr/>
          <p:nvPr/>
        </p:nvSpPr>
        <p:spPr>
          <a:xfrm>
            <a:off x="841248" y="4352544"/>
            <a:ext cx="457200" cy="457200"/>
          </a:xfrm>
          <a:prstGeom prst="ellipse">
            <a:avLst/>
          </a:prstGeom>
          <a:solidFill>
            <a:srgbClr val="2FD26E"/>
          </a:solidFill>
          <a:ln/>
        </p:spPr>
        <p:txBody>
          <a:bodyPr/>
          <a:p/>
        </p:txBody>
      </p:sp>
      <p:sp>
        <p:nvSpPr>
          <p:cNvPr id="22" name="Text 20"/>
          <p:cNvSpPr/>
          <p:nvPr/>
        </p:nvSpPr>
        <p:spPr>
          <a:xfrm>
            <a:off x="841248" y="4352544"/>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481328" y="4270248"/>
            <a:ext cx="9829800" cy="621792"/>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S17 · mié 21 oct · 1 h </a:t>
            </a:r>
            <a:pPr indent="0" marL="0">
              <a:buNone/>
            </a:pPr>
            <a:r>
              <a:rPr lang="en-US" sz="1150" dirty="0">
                <a:solidFill>
                  <a:srgbClr val="1A1A2E"/>
                </a:solidFill>
                <a:latin typeface="Calibri" pitchFamily="34" charset="0"/>
                <a:ea typeface="Calibri" pitchFamily="34" charset="-122"/>
                <a:cs typeface="Calibri" pitchFamily="34" charset="-120"/>
              </a:rPr>
              <a:t>, Jacobiano y cinemática diferencial; control de velocidad resuelta</a:t>
            </a:r>
            <a:endParaRPr lang="en-US" sz="1250" dirty="0"/>
          </a:p>
        </p:txBody>
      </p:sp>
      <p:sp>
        <p:nvSpPr>
          <p:cNvPr id="24" name="Shape 22"/>
          <p:cNvSpPr/>
          <p:nvPr/>
        </p:nvSpPr>
        <p:spPr>
          <a:xfrm>
            <a:off x="640080" y="4983480"/>
            <a:ext cx="10881360" cy="621792"/>
          </a:xfrm>
          <a:prstGeom prst="roundRect">
            <a:avLst>
              <a:gd name="adj" fmla="val 11765"/>
            </a:avLst>
          </a:prstGeom>
          <a:solidFill>
            <a:srgbClr val="F2F4FB"/>
          </a:solidFill>
          <a:ln/>
        </p:spPr>
        <p:txBody>
          <a:bodyPr/>
          <a:p/>
        </p:txBody>
      </p:sp>
      <p:sp>
        <p:nvSpPr>
          <p:cNvPr id="25" name="Shape 23"/>
          <p:cNvSpPr/>
          <p:nvPr/>
        </p:nvSpPr>
        <p:spPr>
          <a:xfrm>
            <a:off x="841248" y="5065776"/>
            <a:ext cx="457200" cy="457200"/>
          </a:xfrm>
          <a:prstGeom prst="ellipse">
            <a:avLst/>
          </a:prstGeom>
          <a:solidFill>
            <a:srgbClr val="2FD26E"/>
          </a:solidFill>
          <a:ln/>
        </p:spPr>
        <p:txBody>
          <a:bodyPr/>
          <a:p/>
        </p:txBody>
      </p:sp>
      <p:sp>
        <p:nvSpPr>
          <p:cNvPr id="26" name="Text 24"/>
          <p:cNvSpPr/>
          <p:nvPr/>
        </p:nvSpPr>
        <p:spPr>
          <a:xfrm>
            <a:off x="841248" y="5065776"/>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1481328" y="4983480"/>
            <a:ext cx="9829800" cy="621792"/>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S18 · jue 22 oct · 1 h </a:t>
            </a:r>
            <a:pPr indent="0" marL="0">
              <a:buNone/>
            </a:pPr>
            <a:r>
              <a:rPr lang="en-US" sz="1150" dirty="0">
                <a:solidFill>
                  <a:srgbClr val="1A1A2E"/>
                </a:solidFill>
                <a:latin typeface="Calibri" pitchFamily="34" charset="0"/>
                <a:ea typeface="Calibri" pitchFamily="34" charset="-122"/>
                <a:cs typeface="Calibri" pitchFamily="34" charset="-120"/>
              </a:rPr>
              <a:t>, Singularidades y elipsoide de manipulabilidad</a:t>
            </a:r>
            <a:endParaRPr lang="en-US" sz="1250" dirty="0"/>
          </a:p>
        </p:txBody>
      </p:sp>
      <p:sp>
        <p:nvSpPr>
          <p:cNvPr id="28" name="Shape 26"/>
          <p:cNvSpPr/>
          <p:nvPr/>
        </p:nvSpPr>
        <p:spPr>
          <a:xfrm>
            <a:off x="640080" y="5696712"/>
            <a:ext cx="10881360" cy="621792"/>
          </a:xfrm>
          <a:prstGeom prst="roundRect">
            <a:avLst>
              <a:gd name="adj" fmla="val 11765"/>
            </a:avLst>
          </a:prstGeom>
          <a:solidFill>
            <a:srgbClr val="F2F4FB"/>
          </a:solidFill>
          <a:ln/>
        </p:spPr>
        <p:txBody>
          <a:bodyPr/>
          <a:p/>
        </p:txBody>
      </p:sp>
      <p:sp>
        <p:nvSpPr>
          <p:cNvPr id="29" name="Shape 27"/>
          <p:cNvSpPr/>
          <p:nvPr/>
        </p:nvSpPr>
        <p:spPr>
          <a:xfrm>
            <a:off x="841248" y="5779008"/>
            <a:ext cx="457200" cy="457200"/>
          </a:xfrm>
          <a:prstGeom prst="ellipse">
            <a:avLst/>
          </a:prstGeom>
          <a:solidFill>
            <a:srgbClr val="2FD26E"/>
          </a:solidFill>
          <a:ln/>
        </p:spPr>
        <p:txBody>
          <a:bodyPr/>
          <a:p/>
        </p:txBody>
      </p:sp>
      <p:sp>
        <p:nvSpPr>
          <p:cNvPr id="30" name="Text 28"/>
          <p:cNvSpPr/>
          <p:nvPr/>
        </p:nvSpPr>
        <p:spPr>
          <a:xfrm>
            <a:off x="841248" y="5779008"/>
            <a:ext cx="457200" cy="457200"/>
          </a:xfrm>
          <a:prstGeom prst="rect">
            <a:avLst/>
          </a:prstGeom>
          <a:noFill/>
          <a:ln/>
        </p:spPr>
        <p:txBody>
          <a:bodyPr wrap="square" lIns="0" tIns="0" rIns="0" bIns="0" rtlCol="0" anchor="ctr"/>
          <a:lstStyle/>
          <a:p>
            <a:pPr algn="ctr" indent="0" marL="0">
              <a:buNone/>
            </a:pPr>
            <a:r>
              <a:rPr lang="en-US" sz="1500" b="1" dirty="0">
                <a:solidFill>
                  <a:srgbClr val="1B2A80"/>
                </a:solidFill>
                <a:latin typeface="Calibri" pitchFamily="34" charset="0"/>
                <a:ea typeface="Calibri" pitchFamily="34" charset="-122"/>
                <a:cs typeface="Calibri" pitchFamily="34" charset="-120"/>
              </a:rPr>
              <a:t>7</a:t>
            </a:r>
            <a:endParaRPr lang="en-US" sz="1500" dirty="0"/>
          </a:p>
        </p:txBody>
      </p:sp>
      <p:sp>
        <p:nvSpPr>
          <p:cNvPr id="31" name="Text 29"/>
          <p:cNvSpPr/>
          <p:nvPr/>
        </p:nvSpPr>
        <p:spPr>
          <a:xfrm>
            <a:off x="1481328" y="5696712"/>
            <a:ext cx="9829800" cy="621792"/>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S19 · vie 23 oct · 2 h </a:t>
            </a:r>
            <a:pPr indent="0" marL="0">
              <a:buNone/>
            </a:pPr>
            <a:r>
              <a:rPr lang="en-US" sz="1150" dirty="0">
                <a:solidFill>
                  <a:srgbClr val="1A1A2E"/>
                </a:solidFill>
                <a:latin typeface="Calibri" pitchFamily="34" charset="0"/>
                <a:ea typeface="Calibri" pitchFamily="34" charset="-122"/>
                <a:cs typeface="Calibri" pitchFamily="34" charset="-120"/>
              </a:rPr>
              <a:t>, Estática τ = Jᵀ·F, trayectorias y repaso · cuestionario B4</a:t>
            </a:r>
            <a:endParaRPr lang="en-US" sz="1250" dirty="0"/>
          </a:p>
        </p:txBody>
      </p:sp>
      <p:sp>
        <p:nvSpPr>
          <p:cNvPr id="33" name="Text 30"/>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82514 Mecatrónica y Robótica · B4 · IQS</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S13</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Posición y orientación</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Marcos y pose relativa · SO(3) · Euler, eje-ángulo y cuaterniones · SE(3) · taller</a:t>
            </a:r>
            <a:endParaRPr lang="en-US" sz="1600" dirty="0"/>
          </a:p>
        </p:txBody>
      </p:sp>
      <p:pic>
        <p:nvPicPr>
          <p:cNvPr id="8" name="Image 0" descr="/home/claude/work/curso_82514/media/fotos/b4_abb3.jpg">    </p:cNvPr>
          <p:cNvPicPr>
            <a:picLocks noChangeAspect="1"/>
          </p:cNvPicPr>
          <p:nvPr/>
        </p:nvPicPr>
        <p:blipFill>
          <a:blip r:embed="rId1"/>
          <a:stretch>
            <a:fillRect/>
          </a:stretch>
        </p:blipFill>
        <p:spPr>
          <a:xfrm>
            <a:off x="7818120" y="3092958"/>
            <a:ext cx="3749040" cy="2811780"/>
          </a:xfrm>
          <a:prstGeom prst="rect">
            <a:avLst/>
          </a:prstGeom>
        </p:spPr>
      </p:pic>
      <p:sp>
        <p:nvSpPr>
          <p:cNvPr id="9" name="Shape 6"/>
          <p:cNvSpPr/>
          <p:nvPr/>
        </p:nvSpPr>
        <p:spPr>
          <a:xfrm>
            <a:off x="7818120" y="5904738"/>
            <a:ext cx="3749040" cy="54864"/>
          </a:xfrm>
          <a:prstGeom prst="rect">
            <a:avLst/>
          </a:prstGeom>
          <a:solidFill>
            <a:srgbClr val="2FD26E"/>
          </a:solidFill>
          <a:ln/>
        </p:spPr>
        <p:txBody>
          <a:bodyPr/>
          <a:p/>
        </p:txBody>
      </p:sp>
      <p:sp>
        <p:nvSpPr>
          <p:cNvPr id="10" name="Text 7"/>
          <p:cNvSpPr/>
          <p:nvPr/>
        </p:nvSpPr>
        <p:spPr>
          <a:xfrm>
            <a:off x="7589520" y="6032754"/>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ASEA/ABB: medio siglo de brazos de 6 ejes</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Dependability CC BY-SA 4.0 · Wikimedia Commons</a:t>
            </a:r>
            <a:endParaRPr lang="en-US" sz="8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S13–S15 · MANIPULADORES REALES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Del PUMA al laboratorio</a:t>
            </a:r>
            <a:endParaRPr lang="en-US" sz="3000" dirty="0"/>
          </a:p>
        </p:txBody>
      </p:sp>
      <p:pic>
        <p:nvPicPr>
          <p:cNvPr id="4" name="Image 0" descr="/home/claude/work/curso_82514/media/fotos/b4_puma.jpg">    </p:cNvPr>
          <p:cNvPicPr>
            <a:picLocks noChangeAspect="1"/>
          </p:cNvPicPr>
          <p:nvPr/>
        </p:nvPicPr>
        <p:blipFill>
          <a:blip r:embed="rId1"/>
          <a:stretch>
            <a:fillRect/>
          </a:stretch>
        </p:blipFill>
        <p:spPr>
          <a:xfrm>
            <a:off x="1342541" y="1371600"/>
            <a:ext cx="3944319" cy="4572000"/>
          </a:xfrm>
          <a:prstGeom prst="rect">
            <a:avLst/>
          </a:prstGeom>
        </p:spPr>
      </p:pic>
      <p:sp>
        <p:nvSpPr>
          <p:cNvPr id="5" name="Text 2"/>
          <p:cNvSpPr/>
          <p:nvPr/>
        </p:nvSpPr>
        <p:spPr>
          <a:xfrm>
            <a:off x="640080" y="598017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Unimate PUMA 500: el arquetipo (Deutsches Museum)</a:t>
            </a:r>
            <a:endParaRPr lang="en-US" sz="1050" dirty="0"/>
          </a:p>
        </p:txBody>
      </p:sp>
      <p:pic>
        <p:nvPicPr>
          <p:cNvPr id="6" name="Image 1" descr="/home/claude/work/curso_82514/media/fotos/b4_kuka.jpg">    </p:cNvPr>
          <p:cNvPicPr>
            <a:picLocks noChangeAspect="1"/>
          </p:cNvPicPr>
          <p:nvPr/>
        </p:nvPicPr>
        <p:blipFill>
          <a:blip r:embed="rId2"/>
          <a:stretch>
            <a:fillRect/>
          </a:stretch>
        </p:blipFill>
        <p:spPr>
          <a:xfrm>
            <a:off x="6172200" y="1879300"/>
            <a:ext cx="5349240" cy="3556599"/>
          </a:xfrm>
          <a:prstGeom prst="rect">
            <a:avLst/>
          </a:prstGeom>
        </p:spPr>
      </p:pic>
      <p:sp>
        <p:nvSpPr>
          <p:cNvPr id="7" name="Text 3"/>
          <p:cNvSpPr/>
          <p:nvPr/>
        </p:nvSpPr>
        <p:spPr>
          <a:xfrm>
            <a:off x="6172200" y="5472476"/>
            <a:ext cx="534924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Brazos industriales de 6 ejes: la configuración del laboratorio</a:t>
            </a:r>
            <a:endParaRPr lang="en-US" sz="1050" dirty="0"/>
          </a:p>
        </p:txBody>
      </p:sp>
      <p:sp>
        <p:nvSpPr>
          <p:cNvPr id="8" name="Text 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Fotos: Theoprakt CC BY-SA 3.0 · Mixabest CC BY-SA 3.0 · Wikimedia Commons</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S13 · LA ORIENTACIÓN COMO MATRIZ</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Rotaciones: el grupo SO(3)</a:t>
            </a:r>
            <a:endParaRPr lang="en-US" sz="3000" dirty="0"/>
          </a:p>
        </p:txBody>
      </p:sp>
      <p:sp>
        <p:nvSpPr>
          <p:cNvPr id="4" name="Text 2"/>
          <p:cNvSpPr/>
          <p:nvPr/>
        </p:nvSpPr>
        <p:spPr>
          <a:xfrm>
            <a:off x="640080" y="1463040"/>
            <a:ext cx="6309360" cy="4846320"/>
          </a:xfrm>
          <a:prstGeom prst="rect">
            <a:avLst/>
          </a:prstGeom>
          <a:noFill/>
          <a:ln/>
        </p:spPr>
        <p:txBody>
          <a:bodyPr wrap="square" lIns="0" tIns="0" rIns="0" bIns="0" rtlCol="0" anchor="t"/>
          <a:lstStyle/>
          <a:p>
            <a:pPr indent="0" marL="0">
              <a:spcAft>
                <a:spcPts val="400"/>
              </a:spcAft>
              <a:buNone/>
            </a:pPr>
            <a:r>
              <a:rPr lang="en-US" sz="1400" b="1" dirty="0">
                <a:solidFill>
                  <a:srgbClr val="1B2A80"/>
                </a:solidFill>
                <a:latin typeface="Calibri" pitchFamily="34" charset="0"/>
                <a:ea typeface="Calibri" pitchFamily="34" charset="-122"/>
                <a:cs typeface="Calibri" pitchFamily="34" charset="-120"/>
              </a:rPr>
              <a:t>«Cualquier pose es siempre una pose relativa» (Corke, p. 26)</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A cada cuerpo se une rígidamente un marco dextrógiro; T</a:t>
            </a:r>
            <a:pPr indent="0" marL="0">
              <a:spcAft>
                <a:spcPts val="800"/>
              </a:spcAft>
              <a:buNone/>
            </a:pPr>
            <a:r>
              <a:rPr lang="en-US" sz="1300" baseline="-40000" dirty="0">
                <a:solidFill>
                  <a:srgbClr val="1A1A2E"/>
                </a:solidFill>
                <a:latin typeface="Calibri" pitchFamily="34" charset="0"/>
                <a:ea typeface="Calibri" pitchFamily="34" charset="-122"/>
                <a:cs typeface="Calibri" pitchFamily="34" charset="-120"/>
              </a:rPr>
              <a:t>AB</a:t>
            </a:r>
            <a:pPr indent="0" marL="0">
              <a:spcAft>
                <a:spcPts val="800"/>
              </a:spcAft>
              <a:buNone/>
            </a:pPr>
            <a:r>
              <a:rPr lang="en-US" sz="1300" dirty="0">
                <a:solidFill>
                  <a:srgbClr val="1A1A2E"/>
                </a:solidFill>
                <a:latin typeface="Calibri" pitchFamily="34" charset="0"/>
                <a:ea typeface="Calibri" pitchFamily="34" charset="-122"/>
                <a:cs typeface="Calibri" pitchFamily="34" charset="-120"/>
              </a:rPr>
              <a:t> es la pose de {B} respecto de {A}; el marco de referencia es {0} o {W}.</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Matriz de rotación: columnas = ejes del marco girado; Rᵀ·R = I y det R = +1 definen SO(3) (Lynch y Park, p. 70).</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La inversa es gratis: R⁻¹ = Rᵀ (Proposición 3.3).</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Tres usos: representar una orientación, cambiar el marco de un vector y rotar un vector (Lynch y Park, p. 71).</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9 números − 6 ligaduras = 3 grados de libertad → motivan las parametrizaciones de 3 parámetros.</a:t>
            </a:r>
            <a:endParaRPr lang="en-US" sz="1400" dirty="0"/>
          </a:p>
        </p:txBody>
      </p:sp>
      <p:sp>
        <p:nvSpPr>
          <p:cNvPr id="5" name="Shape 3"/>
          <p:cNvSpPr/>
          <p:nvPr/>
        </p:nvSpPr>
        <p:spPr>
          <a:xfrm>
            <a:off x="7223760" y="1463040"/>
            <a:ext cx="4297680" cy="2377440"/>
          </a:xfrm>
          <a:prstGeom prst="roundRect">
            <a:avLst>
              <a:gd name="adj" fmla="val 3077"/>
            </a:avLst>
          </a:prstGeom>
          <a:solidFill>
            <a:srgbClr val="F2F4FB"/>
          </a:solidFill>
          <a:ln/>
        </p:spPr>
        <p:txBody>
          <a:bodyPr/>
          <a:p/>
        </p:txBody>
      </p:sp>
      <p:sp>
        <p:nvSpPr>
          <p:cNvPr id="6" name="Text 4"/>
          <p:cNvSpPr/>
          <p:nvPr/>
        </p:nvSpPr>
        <p:spPr>
          <a:xfrm>
            <a:off x="7424928" y="160934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Demostración en el aula</a:t>
            </a:r>
            <a:endParaRPr lang="en-US" sz="1500" dirty="0"/>
          </a:p>
        </p:txBody>
      </p:sp>
      <p:sp>
        <p:nvSpPr>
          <p:cNvPr id="7" name="Text 5"/>
          <p:cNvSpPr/>
          <p:nvPr/>
        </p:nvSpPr>
        <p:spPr>
          <a:xfrm>
            <a:off x="7424928" y="2103120"/>
            <a:ext cx="3895344" cy="160934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La composición 3D es producto de matrices y no conmuta: girar un libro físico 90° en Z y luego en Y no acaba igual que en el orden inverso. En 2D sí conmuta.</a:t>
            </a:r>
            <a:endParaRPr lang="en-US" sz="1250" dirty="0"/>
          </a:p>
        </p:txBody>
      </p:sp>
      <p:sp>
        <p:nvSpPr>
          <p:cNvPr id="8" name="Shape 6"/>
          <p:cNvSpPr/>
          <p:nvPr/>
        </p:nvSpPr>
        <p:spPr>
          <a:xfrm>
            <a:off x="7223760" y="4023360"/>
            <a:ext cx="4297680" cy="2057400"/>
          </a:xfrm>
          <a:prstGeom prst="roundRect">
            <a:avLst>
              <a:gd name="adj" fmla="val 3556"/>
            </a:avLst>
          </a:prstGeom>
          <a:solidFill>
            <a:srgbClr val="E3F7EC"/>
          </a:solidFill>
          <a:ln/>
        </p:spPr>
        <p:txBody>
          <a:bodyPr/>
          <a:p/>
        </p:txBody>
      </p:sp>
      <p:sp>
        <p:nvSpPr>
          <p:cNvPr id="9" name="Text 7"/>
          <p:cNvSpPr/>
          <p:nvPr/>
        </p:nvSpPr>
        <p:spPr>
          <a:xfrm>
            <a:off x="7424928" y="416966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Leer los subíndices en cadena</a:t>
            </a:r>
            <a:endParaRPr lang="en-US" sz="1500" dirty="0"/>
          </a:p>
        </p:txBody>
      </p:sp>
      <p:sp>
        <p:nvSpPr>
          <p:cNvPr id="10" name="Text 8"/>
          <p:cNvSpPr/>
          <p:nvPr/>
        </p:nvSpPr>
        <p:spPr>
          <a:xfrm>
            <a:off x="7424928" y="4663440"/>
            <a:ext cx="3895344" cy="12893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T</a:t>
            </a:r>
            <a:pPr indent="0" marL="0">
              <a:buNone/>
            </a:pPr>
            <a:r>
              <a:rPr lang="en-US" sz="1250" baseline="-40000" dirty="0">
                <a:solidFill>
                  <a:srgbClr val="1A1A2E"/>
                </a:solidFill>
                <a:latin typeface="Calibri" pitchFamily="34" charset="0"/>
                <a:ea typeface="Calibri" pitchFamily="34" charset="-122"/>
                <a:cs typeface="Calibri" pitchFamily="34" charset="-120"/>
              </a:rPr>
              <a:t>AC</a:t>
            </a:r>
            <a:pPr indent="0" marL="0">
              <a:buNone/>
            </a:pPr>
            <a:r>
              <a:rPr lang="en-US" sz="1250" dirty="0">
                <a:solidFill>
                  <a:srgbClr val="1A1A2E"/>
                </a:solidFill>
                <a:latin typeface="Calibri" pitchFamily="34" charset="0"/>
                <a:ea typeface="Calibri" pitchFamily="34" charset="-122"/>
                <a:cs typeface="Calibri" pitchFamily="34" charset="-120"/>
              </a:rPr>
              <a:t> = T</a:t>
            </a:r>
            <a:pPr indent="0" marL="0">
              <a:buNone/>
            </a:pPr>
            <a:r>
              <a:rPr lang="en-US" sz="1250" baseline="-40000" dirty="0">
                <a:solidFill>
                  <a:srgbClr val="1A1A2E"/>
                </a:solidFill>
                <a:latin typeface="Calibri" pitchFamily="34" charset="0"/>
                <a:ea typeface="Calibri" pitchFamily="34" charset="-122"/>
                <a:cs typeface="Calibri" pitchFamily="34" charset="-120"/>
              </a:rPr>
              <a:t>AB</a:t>
            </a:r>
            <a:pPr indent="0" marL="0">
              <a:buNone/>
            </a:pPr>
            <a:r>
              <a:rPr lang="en-US" sz="1250" dirty="0">
                <a:solidFill>
                  <a:srgbClr val="1A1A2E"/>
                </a:solidFill>
                <a:latin typeface="Calibri" pitchFamily="34" charset="0"/>
                <a:ea typeface="Calibri" pitchFamily="34" charset="-122"/>
                <a:cs typeface="Calibri" pitchFamily="34" charset="-120"/>
              </a:rPr>
              <a:t> · T</a:t>
            </a:r>
            <a:pPr indent="0" marL="0">
              <a:buNone/>
            </a:pPr>
            <a:r>
              <a:rPr lang="en-US" sz="1250" baseline="-40000" dirty="0">
                <a:solidFill>
                  <a:srgbClr val="1A1A2E"/>
                </a:solidFill>
                <a:latin typeface="Calibri" pitchFamily="34" charset="0"/>
                <a:ea typeface="Calibri" pitchFamily="34" charset="-122"/>
                <a:cs typeface="Calibri" pitchFamily="34" charset="-120"/>
              </a:rPr>
              <a:t>BC</a:t>
            </a:r>
            <a:pPr indent="0" marL="0">
              <a:buNone/>
            </a:pPr>
            <a:r>
              <a:rPr lang="en-US" sz="1250" dirty="0">
                <a:solidFill>
                  <a:srgbClr val="1A1A2E"/>
                </a:solidFill>
                <a:latin typeface="Calibri" pitchFamily="34" charset="0"/>
                <a:ea typeface="Calibri" pitchFamily="34" charset="-122"/>
                <a:cs typeface="Calibri" pitchFamily="34" charset="-120"/>
              </a:rPr>
              <a:t>: el subíndice interior «se cancela». Regla mecánica que evita el 80 % de los errores de orden del taller.</a:t>
            </a:r>
            <a:endParaRPr lang="en-US" sz="1250" dirty="0"/>
          </a:p>
        </p:txBody>
      </p:sp>
      <p:sp>
        <p:nvSpPr>
          <p:cNvPr id="12" name="Text 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26-48 · Lynch y Park, 2017, pp. 69-71</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S13 · PARAMETRIZACIONES</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Tres maneras de escribir una orientación</a:t>
            </a:r>
            <a:endParaRPr lang="en-US" sz="3000" dirty="0"/>
          </a:p>
        </p:txBody>
      </p:sp>
      <p:sp>
        <p:nvSpPr>
          <p:cNvPr id="4" name="Shape 2"/>
          <p:cNvSpPr/>
          <p:nvPr/>
        </p:nvSpPr>
        <p:spPr>
          <a:xfrm>
            <a:off x="640080" y="1554480"/>
            <a:ext cx="3474720" cy="3291840"/>
          </a:xfrm>
          <a:prstGeom prst="roundRect">
            <a:avLst>
              <a:gd name="adj" fmla="val 2222"/>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00784"/>
            <a:ext cx="251460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Tres ángulos</a:t>
            </a:r>
            <a:endParaRPr lang="en-US" sz="1400" dirty="0"/>
          </a:p>
        </p:txBody>
      </p:sp>
      <p:sp>
        <p:nvSpPr>
          <p:cNvPr id="8" name="Text 6"/>
          <p:cNvSpPr/>
          <p:nvPr/>
        </p:nvSpPr>
        <p:spPr>
          <a:xfrm>
            <a:off x="841248" y="2331720"/>
            <a:ext cx="3072384" cy="23865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Euler ZYZ: R = Rz(φ)·Ry(θ)·Rz(ψ); RPY (Cardan) con secuencia ZYX en vehículos. 12 secuencias posibles. Problema estructural: bloqueo de cardán cuando dos ejes se alinean (pitch = ±90°), la anécdota del Apolo 13.</a:t>
            </a:r>
            <a:endParaRPr lang="en-US" sz="1150" dirty="0"/>
          </a:p>
        </p:txBody>
      </p:sp>
      <p:sp>
        <p:nvSpPr>
          <p:cNvPr id="9" name="Shape 7"/>
          <p:cNvSpPr/>
          <p:nvPr/>
        </p:nvSpPr>
        <p:spPr>
          <a:xfrm>
            <a:off x="4343400" y="1554480"/>
            <a:ext cx="3474720" cy="3291840"/>
          </a:xfrm>
          <a:prstGeom prst="roundRect">
            <a:avLst>
              <a:gd name="adj" fmla="val 2222"/>
            </a:avLst>
          </a:prstGeom>
          <a:solidFill>
            <a:srgbClr val="F2F4FB"/>
          </a:solidFill>
          <a:ln/>
        </p:spPr>
        <p:txBody>
          <a:bodyPr/>
          <a:p/>
        </p:txBody>
      </p:sp>
      <p:sp>
        <p:nvSpPr>
          <p:cNvPr id="10" name="Shape 8"/>
          <p:cNvSpPr/>
          <p:nvPr/>
        </p:nvSpPr>
        <p:spPr>
          <a:xfrm>
            <a:off x="4526280" y="1737360"/>
            <a:ext cx="457200" cy="457200"/>
          </a:xfrm>
          <a:prstGeom prst="ellipse">
            <a:avLst/>
          </a:prstGeom>
          <a:solidFill>
            <a:srgbClr val="2FD26E"/>
          </a:solidFill>
          <a:ln/>
        </p:spPr>
        <p:txBody>
          <a:bodyPr/>
          <a:p/>
        </p:txBody>
      </p:sp>
      <p:sp>
        <p:nvSpPr>
          <p:cNvPr id="11" name="Text 9"/>
          <p:cNvSpPr/>
          <p:nvPr/>
        </p:nvSpPr>
        <p:spPr>
          <a:xfrm>
            <a:off x="452628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5120640" y="1700784"/>
            <a:ext cx="251460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Eje-ángulo</a:t>
            </a:r>
            <a:endParaRPr lang="en-US" sz="1400" dirty="0"/>
          </a:p>
        </p:txBody>
      </p:sp>
      <p:sp>
        <p:nvSpPr>
          <p:cNvPr id="13" name="Text 11"/>
          <p:cNvSpPr/>
          <p:nvPr/>
        </p:nvSpPr>
        <p:spPr>
          <a:xfrm>
            <a:off x="4544568" y="2331720"/>
            <a:ext cx="3072384" cy="23865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Girar θ alrededor de un eje unitario ŵ: coordenadas exponenciales, con [ŵ] la matriz antisimétrica de ŵ. Fórmula de Rodrigues:</a:t>
            </a:r>
            <a:endParaRPr lang="en-US" sz="1150" dirty="0"/>
          </a:p>
        </p:txBody>
      </p:sp>
      <p:sp>
        <p:nvSpPr>
          <p:cNvPr id="14" name="Shape 12"/>
          <p:cNvSpPr/>
          <p:nvPr/>
        </p:nvSpPr>
        <p:spPr>
          <a:xfrm>
            <a:off x="8046720" y="1554480"/>
            <a:ext cx="3474720" cy="3291840"/>
          </a:xfrm>
          <a:prstGeom prst="roundRect">
            <a:avLst>
              <a:gd name="adj" fmla="val 2222"/>
            </a:avLst>
          </a:prstGeom>
          <a:solidFill>
            <a:srgbClr val="F2F4FB"/>
          </a:solidFill>
          <a:ln/>
        </p:spPr>
        <p:txBody>
          <a:bodyPr/>
          <a:p/>
        </p:txBody>
      </p:sp>
      <p:sp>
        <p:nvSpPr>
          <p:cNvPr id="15" name="Shape 13"/>
          <p:cNvSpPr/>
          <p:nvPr/>
        </p:nvSpPr>
        <p:spPr>
          <a:xfrm>
            <a:off x="8229600" y="1737360"/>
            <a:ext cx="457200" cy="457200"/>
          </a:xfrm>
          <a:prstGeom prst="ellipse">
            <a:avLst/>
          </a:prstGeom>
          <a:solidFill>
            <a:srgbClr val="2FD26E"/>
          </a:solidFill>
          <a:ln/>
        </p:spPr>
        <p:txBody>
          <a:bodyPr/>
          <a:p/>
        </p:txBody>
      </p:sp>
      <p:sp>
        <p:nvSpPr>
          <p:cNvPr id="16" name="Text 14"/>
          <p:cNvSpPr/>
          <p:nvPr/>
        </p:nvSpPr>
        <p:spPr>
          <a:xfrm>
            <a:off x="822960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823960" y="1700784"/>
            <a:ext cx="2514600" cy="502920"/>
          </a:xfrm>
          <a:prstGeom prst="rect">
            <a:avLst/>
          </a:prstGeom>
          <a:noFill/>
          <a:ln/>
        </p:spPr>
        <p:txBody>
          <a:bodyPr wrap="square" lIns="0" tIns="0" rIns="0" bIns="0" rtlCol="0" anchor="ctr"/>
          <a:lstStyle/>
          <a:p>
            <a:pPr indent="0" marL="0">
              <a:buNone/>
            </a:pPr>
            <a:r>
              <a:rPr lang="en-US" sz="1400" b="1" dirty="0">
                <a:solidFill>
                  <a:srgbClr val="1B2A80"/>
                </a:solidFill>
                <a:latin typeface="Calibri" pitchFamily="34" charset="0"/>
                <a:ea typeface="Calibri" pitchFamily="34" charset="-122"/>
                <a:cs typeface="Calibri" pitchFamily="34" charset="-120"/>
              </a:rPr>
              <a:t>Cuaterniones unitarios</a:t>
            </a:r>
            <a:endParaRPr lang="en-US" sz="1400" dirty="0"/>
          </a:p>
        </p:txBody>
      </p:sp>
      <p:sp>
        <p:nvSpPr>
          <p:cNvPr id="18" name="Text 16"/>
          <p:cNvSpPr/>
          <p:nvPr/>
        </p:nvSpPr>
        <p:spPr>
          <a:xfrm>
            <a:off x="8247888" y="2331720"/>
            <a:ext cx="3072384" cy="238658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4 números y una ligadura; parte vectorial ŵ·sin(θ/2). Componen barato y no tienen singularidad: el estándar en robótica, visión, gráficos y navegación.</a:t>
            </a:r>
            <a:endParaRPr lang="en-US" sz="1150" dirty="0"/>
          </a:p>
        </p:txBody>
      </p:sp>
      <p:pic>
        <p:nvPicPr>
          <p:cNvPr id="19" name="Image 0" descr="/home/claude/work/curso_82514/media/eq/rodrigues.png">    </p:cNvPr>
          <p:cNvPicPr>
            <a:picLocks noChangeAspect="1"/>
          </p:cNvPicPr>
          <p:nvPr/>
        </p:nvPicPr>
        <p:blipFill>
          <a:blip r:embed="rId1"/>
          <a:stretch>
            <a:fillRect/>
          </a:stretch>
        </p:blipFill>
        <p:spPr>
          <a:xfrm>
            <a:off x="4526280" y="4224528"/>
            <a:ext cx="3108960" cy="242683"/>
          </a:xfrm>
          <a:prstGeom prst="rect">
            <a:avLst/>
          </a:prstGeom>
        </p:spPr>
      </p:pic>
      <p:sp>
        <p:nvSpPr>
          <p:cNvPr id="20" name="Shape 17"/>
          <p:cNvSpPr/>
          <p:nvPr/>
        </p:nvSpPr>
        <p:spPr>
          <a:xfrm>
            <a:off x="640080" y="5074920"/>
            <a:ext cx="10881360" cy="1005840"/>
          </a:xfrm>
          <a:prstGeom prst="roundRect">
            <a:avLst>
              <a:gd name="adj" fmla="val 7273"/>
            </a:avLst>
          </a:prstGeom>
          <a:solidFill>
            <a:srgbClr val="E3F7EC"/>
          </a:solidFill>
          <a:ln/>
        </p:spPr>
        <p:txBody>
          <a:bodyPr/>
          <a:p/>
        </p:txBody>
      </p:sp>
      <p:sp>
        <p:nvSpPr>
          <p:cNvPr id="21" name="Text 18"/>
          <p:cNvSpPr/>
          <p:nvPr/>
        </p:nvSpPr>
        <p:spPr>
          <a:xfrm>
            <a:off x="841248" y="5184648"/>
            <a:ext cx="10479024" cy="76809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Regla del curso: matrices para operar, ángulos para comunicar con humanos, cuaterniones para interpolar y almacenar. «Todas las representaciones de tres ángulos sufren el bloqueo de cardán» (Corke, p. 53).</a:t>
            </a:r>
            <a:endParaRPr lang="en-US" sz="1250" dirty="0"/>
          </a:p>
        </p:txBody>
      </p:sp>
      <p:sp>
        <p:nvSpPr>
          <p:cNvPr id="23" name="Text 1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48-59 · Lynch y Park, 2017, ap. B, pp. 575-582</a:t>
            </a:r>
            <a:endParaRPr lang="en-US" sz="10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S13 · POSE COMPLETA = ROTACIÓN + TRASLACIÓN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SE(3) y el taller de spatialmath</a:t>
            </a:r>
            <a:endParaRPr lang="en-US" sz="3000" dirty="0"/>
          </a:p>
        </p:txBody>
      </p:sp>
      <p:sp>
        <p:nvSpPr>
          <p:cNvPr id="4" name="Text 2"/>
          <p:cNvSpPr/>
          <p:nvPr/>
        </p:nvSpPr>
        <p:spPr>
          <a:xfrm>
            <a:off x="640080" y="1463040"/>
            <a:ext cx="5486400" cy="2103120"/>
          </a:xfrm>
          <a:prstGeom prst="rect">
            <a:avLst/>
          </a:prstGeom>
          <a:noFill/>
          <a:ln/>
        </p:spPr>
        <p:txBody>
          <a:bodyPr wrap="square" lIns="0" tIns="0" rIns="0" bIns="0" rtlCol="0" anchor="t"/>
          <a:lstStyle/>
          <a:p>
            <a:pPr indent="0" marL="0">
              <a:spcAft>
                <a:spcPts val="400"/>
              </a:spcAft>
              <a:buNone/>
            </a:pPr>
            <a:r>
              <a:rPr lang="en-US" sz="1400" b="1" dirty="0">
                <a:solidFill>
                  <a:srgbClr val="1B2A80"/>
                </a:solidFill>
                <a:latin typeface="Calibri" pitchFamily="34" charset="0"/>
                <a:ea typeface="Calibri" pitchFamily="34" charset="-122"/>
                <a:cs typeface="Calibri" pitchFamily="34" charset="-120"/>
              </a:rPr>
              <a:t>La transformación homogénea</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Matriz 4x4 del grupo SE(3): «muy comúnmente usada en robótica, gráficos y visión» (Corke, p. 62). En 2D: SE(2), matrices 3x3 con p homogéneo.</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Composición por producto; inversa sin resolver sistemas, y verificación numérica obligatoria en el taller: T·T⁻¹ = I.</a:t>
            </a:r>
            <a:endParaRPr lang="en-US" sz="1400" dirty="0"/>
          </a:p>
        </p:txBody>
      </p:sp>
      <p:pic>
        <p:nvPicPr>
          <p:cNvPr id="5" name="Image 0" descr="/home/claude/work/curso_82514/media/eq/se3_T.png">    </p:cNvPr>
          <p:cNvPicPr>
            <a:picLocks noChangeAspect="1"/>
          </p:cNvPicPr>
          <p:nvPr/>
        </p:nvPicPr>
        <p:blipFill>
          <a:blip r:embed="rId1"/>
          <a:stretch>
            <a:fillRect/>
          </a:stretch>
        </p:blipFill>
        <p:spPr>
          <a:xfrm>
            <a:off x="922020" y="3657600"/>
            <a:ext cx="1859280" cy="914400"/>
          </a:xfrm>
          <a:prstGeom prst="rect">
            <a:avLst/>
          </a:prstGeom>
        </p:spPr>
      </p:pic>
      <p:pic>
        <p:nvPicPr>
          <p:cNvPr id="6" name="Image 1" descr="/home/claude/work/curso_82514/media/eq/t_comp.png">    </p:cNvPr>
          <p:cNvPicPr>
            <a:picLocks noChangeAspect="1"/>
          </p:cNvPicPr>
          <p:nvPr/>
        </p:nvPicPr>
        <p:blipFill>
          <a:blip r:embed="rId2"/>
          <a:stretch>
            <a:fillRect/>
          </a:stretch>
        </p:blipFill>
        <p:spPr>
          <a:xfrm>
            <a:off x="3246120" y="3913632"/>
            <a:ext cx="2651760" cy="339457"/>
          </a:xfrm>
          <a:prstGeom prst="rect">
            <a:avLst/>
          </a:prstGeom>
        </p:spPr>
      </p:pic>
      <p:pic>
        <p:nvPicPr>
          <p:cNvPr id="7" name="Image 2" descr="/home/claude/work/curso_82514/media/eq/t_inv.png">    </p:cNvPr>
          <p:cNvPicPr>
            <a:picLocks noChangeAspect="1"/>
          </p:cNvPicPr>
          <p:nvPr/>
        </p:nvPicPr>
        <p:blipFill>
          <a:blip r:embed="rId3"/>
          <a:stretch>
            <a:fillRect/>
          </a:stretch>
        </p:blipFill>
        <p:spPr>
          <a:xfrm>
            <a:off x="1234440" y="4800600"/>
            <a:ext cx="3931920" cy="1106285"/>
          </a:xfrm>
          <a:prstGeom prst="rect">
            <a:avLst/>
          </a:prstGeom>
        </p:spPr>
      </p:pic>
      <p:sp>
        <p:nvSpPr>
          <p:cNvPr id="8" name="Shape 3"/>
          <p:cNvSpPr/>
          <p:nvPr/>
        </p:nvSpPr>
        <p:spPr>
          <a:xfrm>
            <a:off x="6400800" y="1463040"/>
            <a:ext cx="5120640" cy="3200400"/>
          </a:xfrm>
          <a:prstGeom prst="roundRect">
            <a:avLst>
              <a:gd name="adj" fmla="val 2286"/>
            </a:avLst>
          </a:prstGeom>
          <a:solidFill>
            <a:srgbClr val="F2F4FB"/>
          </a:solidFill>
          <a:ln/>
        </p:spPr>
        <p:txBody>
          <a:bodyPr/>
          <a:p/>
        </p:txBody>
      </p:sp>
      <p:sp>
        <p:nvSpPr>
          <p:cNvPr id="9" name="Text 4"/>
          <p:cNvSpPr/>
          <p:nvPr/>
        </p:nvSpPr>
        <p:spPr>
          <a:xfrm>
            <a:off x="6601968" y="1609344"/>
            <a:ext cx="471830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Taller con spatialmath-python · cuaderno 82514_S13</a:t>
            </a:r>
            <a:endParaRPr lang="en-US" sz="1500" dirty="0"/>
          </a:p>
        </p:txBody>
      </p:sp>
      <p:sp>
        <p:nvSpPr>
          <p:cNvPr id="10" name="Text 5"/>
          <p:cNvSpPr/>
          <p:nvPr/>
        </p:nvSpPr>
        <p:spPr>
          <a:xfrm>
            <a:off x="6601968" y="2103120"/>
            <a:ext cx="4718304" cy="24323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R = rot2(0.3); trplot2(R)</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TA = transl2(1, 2) @ trot2(30, unit="deg")</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R = eul2r(0.1, 0.2, 0.3); gamma = tr2eul(R)</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T0 = SE3.Trans([0.4, 0.2, 0]) * SE3.RPY(0, 0, 3)</a:t>
            </a:r>
            <a:endParaRPr lang="en-US" sz="1250" dirty="0"/>
          </a:p>
          <a:p>
            <a:pPr indent="0" marL="0">
              <a:buNone/>
            </a:pPr>
            <a:r>
              <a:rPr lang="en-US" sz="1250" dirty="0">
                <a:solidFill>
                  <a:srgbClr val="1A1A2E"/>
                </a:solidFill>
                <a:latin typeface="Calibri" pitchFamily="34" charset="0"/>
                <a:ea typeface="Calibri" pitchFamily="34" charset="-122"/>
                <a:cs typeface="Calibri" pitchFamily="34" charset="-120"/>
              </a:rPr>
              <a:t>aTb = SE3.Tx(-2) * SE3.Rz(-pi/2) * SE3.Rx(pi/2)</a:t>
            </a:r>
            <a:endParaRPr lang="en-US" sz="1250" dirty="0"/>
          </a:p>
        </p:txBody>
      </p:sp>
      <p:sp>
        <p:nvSpPr>
          <p:cNvPr id="11" name="Shape 6"/>
          <p:cNvSpPr/>
          <p:nvPr/>
        </p:nvSpPr>
        <p:spPr>
          <a:xfrm>
            <a:off x="6400800" y="4846320"/>
            <a:ext cx="5120640" cy="1234440"/>
          </a:xfrm>
          <a:prstGeom prst="roundRect">
            <a:avLst>
              <a:gd name="adj" fmla="val 5926"/>
            </a:avLst>
          </a:prstGeom>
          <a:solidFill>
            <a:srgbClr val="E3F7EC"/>
          </a:solidFill>
          <a:ln/>
        </p:spPr>
        <p:txBody>
          <a:bodyPr/>
          <a:p/>
        </p:txBody>
      </p:sp>
      <p:sp>
        <p:nvSpPr>
          <p:cNvPr id="12" name="Text 7"/>
          <p:cNvSpPr/>
          <p:nvPr/>
        </p:nvSpPr>
        <p:spPr>
          <a:xfrm>
            <a:off x="6601968" y="4992624"/>
            <a:ext cx="471830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Ejercicio guiado</a:t>
            </a:r>
            <a:endParaRPr lang="en-US" sz="1500" dirty="0"/>
          </a:p>
        </p:txBody>
      </p:sp>
      <p:sp>
        <p:nvSpPr>
          <p:cNvPr id="13" name="Text 8"/>
          <p:cNvSpPr/>
          <p:nvPr/>
        </p:nvSpPr>
        <p:spPr>
          <a:xfrm>
            <a:off x="6601968" y="5486400"/>
            <a:ext cx="4718304" cy="4663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Cadena mundo → mesa → pieza → cámara: calcular la pose de la pieza componiendo e invirtiendo transformaciones. Guiado paso a paso, con soluciones, en el cuaderno 82514_S13_Pose_Rotaciones.</a:t>
            </a:r>
            <a:endParaRPr lang="en-US" sz="1200" dirty="0"/>
          </a:p>
        </p:txBody>
      </p:sp>
      <p:sp>
        <p:nvSpPr>
          <p:cNvPr id="15" name="Text 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37-63, 90 y 105 · Lynch y Park, 2017, p. 89</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S13 · EJEMPLO EN CLASE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Ejemplo resuelto: componer poses en 2D</a:t>
            </a:r>
            <a:endParaRPr lang="en-US" sz="3000" dirty="0"/>
          </a:p>
        </p:txBody>
      </p:sp>
      <p:sp>
        <p:nvSpPr>
          <p:cNvPr id="4" name="Shape 2"/>
          <p:cNvSpPr/>
          <p:nvPr/>
        </p:nvSpPr>
        <p:spPr>
          <a:xfrm>
            <a:off x="640080" y="1444752"/>
            <a:ext cx="10881360" cy="841248"/>
          </a:xfrm>
          <a:prstGeom prst="roundRect">
            <a:avLst>
              <a:gd name="adj" fmla="val 8696"/>
            </a:avLst>
          </a:prstGeom>
          <a:solidFill>
            <a:srgbClr val="E3F7EC"/>
          </a:solidFill>
          <a:ln/>
        </p:spPr>
        <p:txBody>
          <a:bodyPr/>
          <a:p/>
        </p:txBody>
      </p:sp>
      <p:sp>
        <p:nvSpPr>
          <p:cNvPr id="5" name="Text 3"/>
          <p:cNvSpPr/>
          <p:nvPr/>
        </p:nvSpPr>
        <p:spPr>
          <a:xfrm>
            <a:off x="841248" y="1554480"/>
            <a:ext cx="10479024" cy="6035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Enunciado. La mesa {M} está en el mundo {W} en (1,0, 0,5) m, girada 90°. La pieza {P} está sobre la mesa en (0,2, 0,1) m, girada −30°. ¿Cuál es la pose de la pieza en el mundo?</a:t>
            </a:r>
            <a:endParaRPr lang="en-US" sz="1250" dirty="0"/>
          </a:p>
        </p:txBody>
      </p:sp>
      <p:sp>
        <p:nvSpPr>
          <p:cNvPr id="6" name="Text 4"/>
          <p:cNvSpPr/>
          <p:nvPr/>
        </p:nvSpPr>
        <p:spPr>
          <a:xfrm>
            <a:off x="640080" y="2514600"/>
            <a:ext cx="10881360" cy="15544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1. Plantear la cadena: mundo → mesa → pieza. Los subíndices interiores se cancelan: la pose buscada compone las dos conocidas.</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2. Girar y sumar: el giro de 90° convierte (0,2, 0,1) en (−0,1, 0,2); sumado a la posición de la mesa da la posición de la pieza. Las orientaciones se suman: 90° − 30° = 60°.</a:t>
            </a:r>
            <a:endParaRPr lang="en-US" sz="1300" dirty="0"/>
          </a:p>
        </p:txBody>
      </p:sp>
      <p:pic>
        <p:nvPicPr>
          <p:cNvPr id="7" name="Image 0" descr="/home/claude/work/curso_82514/media/eq/ej_comp.png">    </p:cNvPr>
          <p:cNvPicPr>
            <a:picLocks noChangeAspect="1"/>
          </p:cNvPicPr>
          <p:nvPr/>
        </p:nvPicPr>
        <p:blipFill>
          <a:blip r:embed="rId1"/>
          <a:stretch>
            <a:fillRect/>
          </a:stretch>
        </p:blipFill>
        <p:spPr>
          <a:xfrm>
            <a:off x="1005840" y="4160520"/>
            <a:ext cx="10149840" cy="765785"/>
          </a:xfrm>
          <a:prstGeom prst="rect">
            <a:avLst/>
          </a:prstGeom>
        </p:spPr>
      </p:pic>
      <p:sp>
        <p:nvSpPr>
          <p:cNvPr id="8" name="Shape 5"/>
          <p:cNvSpPr/>
          <p:nvPr/>
        </p:nvSpPr>
        <p:spPr>
          <a:xfrm>
            <a:off x="640080" y="5257800"/>
            <a:ext cx="10881360" cy="868680"/>
          </a:xfrm>
          <a:prstGeom prst="roundRect">
            <a:avLst>
              <a:gd name="adj" fmla="val 8421"/>
            </a:avLst>
          </a:prstGeom>
          <a:solidFill>
            <a:srgbClr val="F2F4FB"/>
          </a:solidFill>
          <a:ln/>
        </p:spPr>
        <p:txBody>
          <a:bodyPr/>
          <a:p/>
        </p:txBody>
      </p:sp>
      <p:sp>
        <p:nvSpPr>
          <p:cNvPr id="9" name="Text 6"/>
          <p:cNvSpPr/>
          <p:nvPr/>
        </p:nvSpPr>
        <p:spPr>
          <a:xfrm>
            <a:off x="841248" y="5367528"/>
            <a:ext cx="10479024" cy="63093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Comprobación en el cuaderno 82514_S13: SE2(1.0, 0.5, 90, unit='deg') * SE2(0.2, 0.1, -30, unit='deg'). El resultado imprime (0,9, 0,7) y 60°.</a:t>
            </a:r>
            <a:endParaRPr lang="en-US" sz="1200" dirty="0"/>
          </a:p>
        </p:txBody>
      </p:sp>
      <p:sp>
        <p:nvSpPr>
          <p:cNvPr id="10" name="Text 7"/>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Ejemplo guiado en el cuaderno 82514_S13_Pose_Rotaciones</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S14</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Cinemática directa</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El problema FK · ETS · Denavit-Hartenberg · producto de exponenciales</a:t>
            </a:r>
            <a:endParaRPr lang="en-US" sz="16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S14 · DE LAS ARTICULACIONES A LA POSE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Tres convenciones para la misma FK</a:t>
            </a:r>
            <a:endParaRPr lang="en-US" sz="3000" dirty="0"/>
          </a:p>
        </p:txBody>
      </p:sp>
      <p:sp>
        <p:nvSpPr>
          <p:cNvPr id="4" name="Shape 2"/>
          <p:cNvSpPr/>
          <p:nvPr/>
        </p:nvSpPr>
        <p:spPr>
          <a:xfrm>
            <a:off x="640080" y="1463040"/>
            <a:ext cx="10881360" cy="731520"/>
          </a:xfrm>
          <a:prstGeom prst="roundRect">
            <a:avLst>
              <a:gd name="adj" fmla="val 10000"/>
            </a:avLst>
          </a:prstGeom>
          <a:solidFill>
            <a:srgbClr val="E3F7EC"/>
          </a:solidFill>
          <a:ln/>
        </p:spPr>
        <p:txBody>
          <a:bodyPr/>
          <a:p/>
        </p:txBody>
      </p:sp>
      <p:sp>
        <p:nvSpPr>
          <p:cNvPr id="5" name="Text 3"/>
          <p:cNvSpPr/>
          <p:nvPr/>
        </p:nvSpPr>
        <p:spPr>
          <a:xfrm>
            <a:off x="841248" y="1572768"/>
            <a:ext cx="10479024" cy="49377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FK: «el cálculo de la posición y orientación del marco del efector a partir de sus coordenadas articulares» (Lynch y Park, p. 137). Siempre existe y es única, el problema difícil será el inverso (S16). Para el 2R plano:</a:t>
            </a:r>
            <a:endParaRPr lang="en-US" sz="1150" dirty="0"/>
          </a:p>
        </p:txBody>
      </p:sp>
      <p:pic>
        <p:nvPicPr>
          <p:cNvPr id="6" name="Image 0" descr="/home/claude/work/curso_82514/media/eq/fk2r.png">    </p:cNvPr>
          <p:cNvPicPr>
            <a:picLocks noChangeAspect="1"/>
          </p:cNvPicPr>
          <p:nvPr/>
        </p:nvPicPr>
        <p:blipFill>
          <a:blip r:embed="rId1"/>
          <a:stretch>
            <a:fillRect/>
          </a:stretch>
        </p:blipFill>
        <p:spPr>
          <a:xfrm>
            <a:off x="2011680" y="2304288"/>
            <a:ext cx="8138160" cy="316258"/>
          </a:xfrm>
          <a:prstGeom prst="rect">
            <a:avLst/>
          </a:prstGeom>
        </p:spPr>
      </p:pic>
      <p:sp>
        <p:nvSpPr>
          <p:cNvPr id="7" name="Shape 4"/>
          <p:cNvSpPr/>
          <p:nvPr/>
        </p:nvSpPr>
        <p:spPr>
          <a:xfrm>
            <a:off x="640080" y="2834640"/>
            <a:ext cx="3474720" cy="2487168"/>
          </a:xfrm>
          <a:prstGeom prst="roundRect">
            <a:avLst>
              <a:gd name="adj" fmla="val 2941"/>
            </a:avLst>
          </a:prstGeom>
          <a:solidFill>
            <a:srgbClr val="F2F4FB"/>
          </a:solidFill>
          <a:ln/>
        </p:spPr>
        <p:txBody>
          <a:bodyPr/>
          <a:p/>
        </p:txBody>
      </p:sp>
      <p:sp>
        <p:nvSpPr>
          <p:cNvPr id="8" name="Shape 5"/>
          <p:cNvSpPr/>
          <p:nvPr/>
        </p:nvSpPr>
        <p:spPr>
          <a:xfrm>
            <a:off x="822960" y="3017520"/>
            <a:ext cx="457200" cy="457200"/>
          </a:xfrm>
          <a:prstGeom prst="ellipse">
            <a:avLst/>
          </a:prstGeom>
          <a:solidFill>
            <a:srgbClr val="2FD26E"/>
          </a:solidFill>
          <a:ln/>
        </p:spPr>
        <p:txBody>
          <a:bodyPr/>
          <a:p/>
        </p:txBody>
      </p:sp>
      <p:sp>
        <p:nvSpPr>
          <p:cNvPr id="9" name="Text 6"/>
          <p:cNvSpPr/>
          <p:nvPr/>
        </p:nvSpPr>
        <p:spPr>
          <a:xfrm>
            <a:off x="822960" y="301752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10" name="Text 7"/>
          <p:cNvSpPr/>
          <p:nvPr/>
        </p:nvSpPr>
        <p:spPr>
          <a:xfrm>
            <a:off x="1417320" y="298094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ETS (Corke)</a:t>
            </a:r>
            <a:endParaRPr lang="en-US" sz="1350" dirty="0"/>
          </a:p>
        </p:txBody>
      </p:sp>
      <p:sp>
        <p:nvSpPr>
          <p:cNvPr id="11" name="Text 8"/>
          <p:cNvSpPr/>
          <p:nvPr/>
        </p:nvSpPr>
        <p:spPr>
          <a:xfrm>
            <a:off x="841248" y="3611880"/>
            <a:ext cx="3072384" cy="1581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La pose como secuencia de transformaciones elementales que se lee directamente de la geometría: E = rz(q0) ⊕ tx(a1). El 6R general acaba en una muñeca ZYZ. Ideal para entender.</a:t>
            </a:r>
            <a:endParaRPr lang="en-US" sz="1100" dirty="0"/>
          </a:p>
        </p:txBody>
      </p:sp>
      <p:sp>
        <p:nvSpPr>
          <p:cNvPr id="12" name="Shape 9"/>
          <p:cNvSpPr/>
          <p:nvPr/>
        </p:nvSpPr>
        <p:spPr>
          <a:xfrm>
            <a:off x="4343400" y="2834640"/>
            <a:ext cx="3474720" cy="2487168"/>
          </a:xfrm>
          <a:prstGeom prst="roundRect">
            <a:avLst>
              <a:gd name="adj" fmla="val 2941"/>
            </a:avLst>
          </a:prstGeom>
          <a:solidFill>
            <a:srgbClr val="F2F4FB"/>
          </a:solidFill>
          <a:ln/>
        </p:spPr>
        <p:txBody>
          <a:bodyPr/>
          <a:p/>
        </p:txBody>
      </p:sp>
      <p:sp>
        <p:nvSpPr>
          <p:cNvPr id="13" name="Shape 10"/>
          <p:cNvSpPr/>
          <p:nvPr/>
        </p:nvSpPr>
        <p:spPr>
          <a:xfrm>
            <a:off x="4526280" y="3017520"/>
            <a:ext cx="457200" cy="457200"/>
          </a:xfrm>
          <a:prstGeom prst="ellipse">
            <a:avLst/>
          </a:prstGeom>
          <a:solidFill>
            <a:srgbClr val="2FD26E"/>
          </a:solidFill>
          <a:ln/>
        </p:spPr>
        <p:txBody>
          <a:bodyPr/>
          <a:p/>
        </p:txBody>
      </p:sp>
      <p:sp>
        <p:nvSpPr>
          <p:cNvPr id="14" name="Text 11"/>
          <p:cNvSpPr/>
          <p:nvPr/>
        </p:nvSpPr>
        <p:spPr>
          <a:xfrm>
            <a:off x="4526280" y="301752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5120640" y="298094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Denavit-Hartenberg</a:t>
            </a:r>
            <a:endParaRPr lang="en-US" sz="1350" dirty="0"/>
          </a:p>
        </p:txBody>
      </p:sp>
      <p:sp>
        <p:nvSpPr>
          <p:cNvPr id="16" name="Text 13"/>
          <p:cNvSpPr/>
          <p:nvPr/>
        </p:nvSpPr>
        <p:spPr>
          <a:xfrm>
            <a:off x="4544568" y="3611880"/>
            <a:ext cx="3072384" cy="1581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4 parámetros por eslabón (θⱼ, dⱼ, aⱼ, αⱼ) en una tabla compacta: «la manera de compartir modelos desde los años 60». Cada fila = rz ⊕ tz ⊕ tx ⊕ rx. Ojo con la numeración 0/1.</a:t>
            </a:r>
            <a:endParaRPr lang="en-US" sz="1100" dirty="0"/>
          </a:p>
        </p:txBody>
      </p:sp>
      <p:sp>
        <p:nvSpPr>
          <p:cNvPr id="17" name="Shape 14"/>
          <p:cNvSpPr/>
          <p:nvPr/>
        </p:nvSpPr>
        <p:spPr>
          <a:xfrm>
            <a:off x="8046720" y="2834640"/>
            <a:ext cx="3474720" cy="2487168"/>
          </a:xfrm>
          <a:prstGeom prst="roundRect">
            <a:avLst>
              <a:gd name="adj" fmla="val 2941"/>
            </a:avLst>
          </a:prstGeom>
          <a:solidFill>
            <a:srgbClr val="F2F4FB"/>
          </a:solidFill>
          <a:ln/>
        </p:spPr>
        <p:txBody>
          <a:bodyPr/>
          <a:p/>
        </p:txBody>
      </p:sp>
      <p:sp>
        <p:nvSpPr>
          <p:cNvPr id="18" name="Shape 15"/>
          <p:cNvSpPr/>
          <p:nvPr/>
        </p:nvSpPr>
        <p:spPr>
          <a:xfrm>
            <a:off x="8229600" y="3017520"/>
            <a:ext cx="457200" cy="457200"/>
          </a:xfrm>
          <a:prstGeom prst="ellipse">
            <a:avLst/>
          </a:prstGeom>
          <a:solidFill>
            <a:srgbClr val="2FD26E"/>
          </a:solidFill>
          <a:ln/>
        </p:spPr>
        <p:txBody>
          <a:bodyPr/>
          <a:p/>
        </p:txBody>
      </p:sp>
      <p:sp>
        <p:nvSpPr>
          <p:cNvPr id="19" name="Text 16"/>
          <p:cNvSpPr/>
          <p:nvPr/>
        </p:nvSpPr>
        <p:spPr>
          <a:xfrm>
            <a:off x="8229600" y="301752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20" name="Text 17"/>
          <p:cNvSpPr/>
          <p:nvPr/>
        </p:nvSpPr>
        <p:spPr>
          <a:xfrm>
            <a:off x="8823960" y="298094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PoE (Lynch y Park)</a:t>
            </a:r>
            <a:endParaRPr lang="en-US" sz="1350" dirty="0"/>
          </a:p>
        </p:txBody>
      </p:sp>
      <p:sp>
        <p:nvSpPr>
          <p:cNvPr id="21" name="Text 18"/>
          <p:cNvSpPr/>
          <p:nvPr/>
        </p:nvSpPr>
        <p:spPr>
          <a:xfrm>
            <a:off x="8247888" y="3611880"/>
            <a:ext cx="3072384" cy="1581912"/>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 = pose del efector en configuración cero; S</a:t>
            </a:r>
            <a:pPr indent="0" marL="0">
              <a:buNone/>
            </a:pPr>
            <a:r>
              <a:rPr lang="en-US" sz="1100" baseline="-40000" dirty="0">
                <a:solidFill>
                  <a:srgbClr val="1A1A2E"/>
                </a:solidFill>
                <a:latin typeface="Calibri" pitchFamily="34" charset="0"/>
                <a:ea typeface="Calibri" pitchFamily="34" charset="-122"/>
                <a:cs typeface="Calibri" pitchFamily="34" charset="-120"/>
              </a:rPr>
              <a:t>i</a:t>
            </a:r>
            <a:pPr indent="0" marL="0">
              <a:buNone/>
            </a:pPr>
            <a:r>
              <a:rPr lang="en-US" sz="1100" dirty="0">
                <a:solidFill>
                  <a:srgbClr val="1A1A2E"/>
                </a:solidFill>
                <a:latin typeface="Calibri" pitchFamily="34" charset="0"/>
                <a:ea typeface="Calibri" pitchFamily="34" charset="-122"/>
                <a:cs typeface="Calibri" pitchFamily="34" charset="-120"/>
              </a:rPr>
              <a:t> = eje helicoidal de la articulación i. «No hay que definir marcos de eslabón». La base del análisis de velocidad (S17):</a:t>
            </a:r>
            <a:endParaRPr lang="en-US" sz="1100" dirty="0"/>
          </a:p>
        </p:txBody>
      </p:sp>
      <p:pic>
        <p:nvPicPr>
          <p:cNvPr id="22" name="Image 1" descr="/home/claude/work/curso_82514/media/eq/poe.png">    </p:cNvPr>
          <p:cNvPicPr>
            <a:picLocks noChangeAspect="1"/>
          </p:cNvPicPr>
          <p:nvPr/>
        </p:nvPicPr>
        <p:blipFill>
          <a:blip r:embed="rId2"/>
          <a:stretch>
            <a:fillRect/>
          </a:stretch>
        </p:blipFill>
        <p:spPr>
          <a:xfrm>
            <a:off x="8183880" y="4828032"/>
            <a:ext cx="3063240" cy="268263"/>
          </a:xfrm>
          <a:prstGeom prst="rect">
            <a:avLst/>
          </a:prstGeom>
        </p:spPr>
      </p:pic>
      <p:sp>
        <p:nvSpPr>
          <p:cNvPr id="23" name="Shape 19"/>
          <p:cNvSpPr/>
          <p:nvPr/>
        </p:nvSpPr>
        <p:spPr>
          <a:xfrm>
            <a:off x="640080" y="5504688"/>
            <a:ext cx="10881360" cy="731520"/>
          </a:xfrm>
          <a:prstGeom prst="roundRect">
            <a:avLst>
              <a:gd name="adj" fmla="val 10000"/>
            </a:avLst>
          </a:prstGeom>
          <a:solidFill>
            <a:srgbClr val="F2F4FB"/>
          </a:solidFill>
          <a:ln/>
        </p:spPr>
        <p:txBody>
          <a:bodyPr/>
          <a:p/>
        </p:txBody>
      </p:sp>
      <p:sp>
        <p:nvSpPr>
          <p:cNvPr id="24" name="Text 20"/>
          <p:cNvSpPr/>
          <p:nvPr/>
        </p:nvSpPr>
        <p:spPr>
          <a:xfrm>
            <a:off x="841248" y="5614416"/>
            <a:ext cx="10479024" cy="49377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Ejercicio por parejas: para el 2R, escribir (i) la ETS, (ii) la tabla DH y (iii) M, S1 y S2 del PoE; comprobar que las tres dan la misma T(q) en q = (30°, 40°): t = (1.21, 1.44), orientación 70° (Corke, p. 258).</a:t>
            </a:r>
            <a:endParaRPr lang="en-US" sz="1150" dirty="0"/>
          </a:p>
        </p:txBody>
      </p:sp>
      <p:sp>
        <p:nvSpPr>
          <p:cNvPr id="26" name="Text 2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255-275 · Lynch y Park, 2017, pp. 137-142</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S14 · EJEMPLO EN CLASE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Ejemplo resuelto: FK del 2R con números</a:t>
            </a:r>
            <a:endParaRPr lang="en-US" sz="3000" dirty="0"/>
          </a:p>
        </p:txBody>
      </p:sp>
      <p:sp>
        <p:nvSpPr>
          <p:cNvPr id="4" name="Shape 2"/>
          <p:cNvSpPr/>
          <p:nvPr/>
        </p:nvSpPr>
        <p:spPr>
          <a:xfrm>
            <a:off x="640080" y="1444752"/>
            <a:ext cx="10881360" cy="841248"/>
          </a:xfrm>
          <a:prstGeom prst="roundRect">
            <a:avLst>
              <a:gd name="adj" fmla="val 8696"/>
            </a:avLst>
          </a:prstGeom>
          <a:solidFill>
            <a:srgbClr val="E3F7EC"/>
          </a:solidFill>
          <a:ln/>
        </p:spPr>
        <p:txBody>
          <a:bodyPr/>
          <a:p/>
        </p:txBody>
      </p:sp>
      <p:sp>
        <p:nvSpPr>
          <p:cNvPr id="5" name="Text 3"/>
          <p:cNvSpPr/>
          <p:nvPr/>
        </p:nvSpPr>
        <p:spPr>
          <a:xfrm>
            <a:off x="841248" y="1554480"/>
            <a:ext cx="10479024" cy="6035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Enunciado. Un 2R plano tiene a₁ = 0,35 m y a₂ = 0,2 m. Para q = (30°, 60°): posición y orientación del efector, tabla DH y espacio de trabajo.</a:t>
            </a:r>
            <a:endParaRPr lang="en-US" sz="1250" dirty="0"/>
          </a:p>
        </p:txBody>
      </p:sp>
      <p:sp>
        <p:nvSpPr>
          <p:cNvPr id="6" name="Text 4"/>
          <p:cNvSpPr/>
          <p:nvPr/>
        </p:nvSpPr>
        <p:spPr>
          <a:xfrm>
            <a:off x="640080" y="2487168"/>
            <a:ext cx="10881360" cy="5486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1. Posición por suma de proyecciones (el segundo eslabón sale con el ángulo acumulado q₁ + q₂ = 90°):</a:t>
            </a:r>
            <a:endParaRPr lang="en-US" sz="1300" dirty="0"/>
          </a:p>
        </p:txBody>
      </p:sp>
      <p:pic>
        <p:nvPicPr>
          <p:cNvPr id="7" name="Image 0" descr="/home/claude/work/curso_82514/media/eq/ej_fk.png">    </p:cNvPr>
          <p:cNvPicPr>
            <a:picLocks noChangeAspect="1"/>
          </p:cNvPicPr>
          <p:nvPr/>
        </p:nvPicPr>
        <p:blipFill>
          <a:blip r:embed="rId1"/>
          <a:stretch>
            <a:fillRect/>
          </a:stretch>
        </p:blipFill>
        <p:spPr>
          <a:xfrm>
            <a:off x="914400" y="3063240"/>
            <a:ext cx="10332720" cy="270307"/>
          </a:xfrm>
          <a:prstGeom prst="rect">
            <a:avLst/>
          </a:prstGeom>
        </p:spPr>
      </p:pic>
      <p:sp>
        <p:nvSpPr>
          <p:cNvPr id="8" name="Text 5"/>
          <p:cNvSpPr/>
          <p:nvPr/>
        </p:nvSpPr>
        <p:spPr>
          <a:xfrm>
            <a:off x="640080" y="3794760"/>
            <a:ext cx="10881360" cy="219456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2. Orientación: φ = q₁ + q₂ = 90°. La pose completa del efector es (0,303, 0,375, 90°).</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3. Tabla DH (dos filas): θ₁ = q₁, d = 0, a = 0,35, α = 0 · θ₂ = q₂, d = 0, a = 0,2, α = 0.</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4. Espacio de trabajo: anillo entre a₁ − a₂ = 0,15 m y a₁ + a₂ = 0,55 m. Un punto a 0,6 m del origen es inalcanzable; uno a 0,1 m también, por el hueco interior.</a:t>
            </a:r>
            <a:endParaRPr lang="en-US" sz="1300" dirty="0"/>
          </a:p>
        </p:txBody>
      </p:sp>
      <p:sp>
        <p:nvSpPr>
          <p:cNvPr id="9"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Misma estructura que la parte C del parcial 1, con otros números · cuaderno 82514_S14</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S15</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Taller: FK de un 6R en Python</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Robotics Toolbox · PUMA 560 e IRB140 · validación con el ABB del laboratorio</a:t>
            </a:r>
            <a:endParaRPr lang="en-US" sz="16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S15 · TALLER ROBOTICS TOOLBOX</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Del modelo de libro al robot del laboratorio</a:t>
            </a:r>
            <a:endParaRPr lang="en-US" sz="3000" dirty="0"/>
          </a:p>
        </p:txBody>
      </p:sp>
      <p:sp>
        <p:nvSpPr>
          <p:cNvPr id="4" name="Text 2"/>
          <p:cNvSpPr/>
          <p:nvPr/>
        </p:nvSpPr>
        <p:spPr>
          <a:xfrm>
            <a:off x="640080" y="1463040"/>
            <a:ext cx="6309360" cy="4846320"/>
          </a:xfrm>
          <a:prstGeom prst="rect">
            <a:avLst/>
          </a:prstGeom>
          <a:noFill/>
          <a:ln/>
        </p:spPr>
        <p:txBody>
          <a:bodyPr wrap="square" lIns="0" tIns="0" rIns="0" bIns="0" rtlCol="0" anchor="t"/>
          <a:lstStyle/>
          <a:p>
            <a:pPr indent="0" marL="0">
              <a:spcAft>
                <a:spcPts val="400"/>
              </a:spcAft>
              <a:buNone/>
            </a:pPr>
            <a:r>
              <a:rPr lang="en-US" sz="1350" b="1" dirty="0">
                <a:solidFill>
                  <a:srgbClr val="1B2A80"/>
                </a:solidFill>
                <a:latin typeface="Calibri" pitchFamily="34" charset="0"/>
                <a:ea typeface="Calibri" pitchFamily="34" charset="-122"/>
                <a:cs typeface="Calibri" pitchFamily="34" charset="-120"/>
              </a:rPr>
              <a:t>Las cuatro llamadas del taller</a:t>
            </a:r>
            <a:endParaRPr lang="en-US" sz="1350" dirty="0"/>
          </a:p>
          <a:p>
            <a:pPr marL="177800" indent="-1778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puma = models.DH.Puma560(), el arquetipo: «el primer robot industrial moderno» (Corke, p. 261); irb140 = models.DH.IRB140().</a:t>
            </a:r>
            <a:endParaRPr lang="en-US" sz="1350" dirty="0"/>
          </a:p>
          <a:p>
            <a:pPr marL="177800" indent="-1778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Configuraciones con nombre: qr y qz son propiedades del robot; pueden añadirse otras.</a:t>
            </a:r>
            <a:endParaRPr lang="en-US" sz="1350" dirty="0"/>
          </a:p>
          <a:p>
            <a:pPr marL="177800" indent="-1778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irb140.fkine(irb140.qr).printline("rpy/xyz") → t = (0.005, 0, 0.332), rpy = (0, −90, −90)°.</a:t>
            </a:r>
            <a:endParaRPr lang="en-US" sz="1350" dirty="0"/>
          </a:p>
          <a:p>
            <a:pPr marL="177800" indent="-1778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teach: deslizadores por articulación con la pose del efector en vivo, localizar la muñeca esférica.</a:t>
            </a:r>
            <a:endParaRPr lang="en-US" sz="1350" dirty="0"/>
          </a:p>
          <a:p>
            <a:pPr marL="177800" indent="-1778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Trampa clásica DH: el «efector» del modelo es el centro de la muñeca, dentro del robot; la brida real exige añadir la transformación de herramienta (Corke, p. 267).</a:t>
            </a:r>
            <a:endParaRPr lang="en-US" sz="1350" dirty="0"/>
          </a:p>
        </p:txBody>
      </p:sp>
      <p:sp>
        <p:nvSpPr>
          <p:cNvPr id="5" name="Shape 3"/>
          <p:cNvSpPr/>
          <p:nvPr/>
        </p:nvSpPr>
        <p:spPr>
          <a:xfrm>
            <a:off x="7223760" y="1463040"/>
            <a:ext cx="4297680" cy="2834640"/>
          </a:xfrm>
          <a:prstGeom prst="roundRect">
            <a:avLst>
              <a:gd name="adj" fmla="val 2581"/>
            </a:avLst>
          </a:prstGeom>
          <a:solidFill>
            <a:srgbClr val="F2F4FB"/>
          </a:solidFill>
          <a:ln/>
        </p:spPr>
        <p:txBody>
          <a:bodyPr/>
          <a:p/>
        </p:txBody>
      </p:sp>
      <p:sp>
        <p:nvSpPr>
          <p:cNvPr id="6" name="Text 4"/>
          <p:cNvSpPr/>
          <p:nvPr/>
        </p:nvSpPr>
        <p:spPr>
          <a:xfrm>
            <a:off x="7424928" y="160934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Contra el ABB del laboratorio</a:t>
            </a:r>
            <a:endParaRPr lang="en-US" sz="1500" dirty="0"/>
          </a:p>
        </p:txBody>
      </p:sp>
      <p:sp>
        <p:nvSpPr>
          <p:cNvPr id="7" name="Text 5"/>
          <p:cNvSpPr/>
          <p:nvPr/>
        </p:nvSpPr>
        <p:spPr>
          <a:xfrm>
            <a:off x="7424928" y="2103120"/>
            <a:ext cx="3895344" cy="206654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Leer en el controlador la pose de la brida y las coordenadas articulares e introducirlas en el modelo de la toolbox. Discutir las discrepancias: herramienta montada, base desplazada y convención de ángulos del controlador.</a:t>
            </a:r>
            <a:endParaRPr lang="en-US" sz="1250" dirty="0"/>
          </a:p>
        </p:txBody>
      </p:sp>
      <p:sp>
        <p:nvSpPr>
          <p:cNvPr id="8" name="Shape 6"/>
          <p:cNvSpPr/>
          <p:nvPr/>
        </p:nvSpPr>
        <p:spPr>
          <a:xfrm>
            <a:off x="7223760" y="4480560"/>
            <a:ext cx="4297680" cy="1600200"/>
          </a:xfrm>
          <a:prstGeom prst="roundRect">
            <a:avLst>
              <a:gd name="adj" fmla="val 4571"/>
            </a:avLst>
          </a:prstGeom>
          <a:solidFill>
            <a:srgbClr val="E3F7EC"/>
          </a:solidFill>
          <a:ln/>
        </p:spPr>
        <p:txBody>
          <a:bodyPr/>
          <a:p/>
        </p:txBody>
      </p:sp>
      <p:sp>
        <p:nvSpPr>
          <p:cNvPr id="9" name="Text 7"/>
          <p:cNvSpPr/>
          <p:nvPr/>
        </p:nvSpPr>
        <p:spPr>
          <a:xfrm>
            <a:off x="7424928" y="462686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Mini-reto para casa</a:t>
            </a:r>
            <a:endParaRPr lang="en-US" sz="1500" dirty="0"/>
          </a:p>
        </p:txBody>
      </p:sp>
      <p:sp>
        <p:nvSpPr>
          <p:cNvPr id="10" name="Text 8"/>
          <p:cNvSpPr/>
          <p:nvPr/>
        </p:nvSpPr>
        <p:spPr>
          <a:xfrm>
            <a:off x="7424928" y="5120640"/>
            <a:ext cx="3895344" cy="8321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Usando solo teach, tocar un punto objetivo con el efector del puma. Anotar cuántos intentos requiere, la motivación directa de la IK de S16.</a:t>
            </a:r>
            <a:endParaRPr lang="en-US" sz="1250" dirty="0"/>
          </a:p>
        </p:txBody>
      </p:sp>
      <p:sp>
        <p:nvSpPr>
          <p:cNvPr id="12" name="Text 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261-281</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S16</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Cinemática inversa</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2R analítico · desacoplo con muñeca esférica · ocho soluciones · Newton-Raphson · taller</a:t>
            </a:r>
            <a:endParaRPr lang="en-US" sz="16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S16 · FORMA CERRADA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IK analítica: del 2R a las ocho soluciones</a:t>
            </a:r>
            <a:endParaRPr lang="en-US" sz="3000" dirty="0"/>
          </a:p>
        </p:txBody>
      </p:sp>
      <p:sp>
        <p:nvSpPr>
          <p:cNvPr id="4" name="Text 2"/>
          <p:cNvSpPr/>
          <p:nvPr/>
        </p:nvSpPr>
        <p:spPr>
          <a:xfrm>
            <a:off x="640080" y="1463040"/>
            <a:ext cx="6309360" cy="4846320"/>
          </a:xfrm>
          <a:prstGeom prst="rect">
            <a:avLst/>
          </a:prstGeom>
          <a:noFill/>
          <a:ln/>
        </p:spPr>
        <p:txBody>
          <a:bodyPr wrap="square" lIns="0" tIns="0" rIns="0" bIns="0" rtlCol="0" anchor="t"/>
          <a:lstStyle/>
          <a:p>
            <a:pPr indent="0" marL="0">
              <a:spcAft>
                <a:spcPts val="400"/>
              </a:spcAft>
              <a:buNone/>
            </a:pPr>
            <a:r>
              <a:rPr lang="en-US" sz="1400" b="1" dirty="0">
                <a:solidFill>
                  <a:srgbClr val="1B2A80"/>
                </a:solidFill>
                <a:latin typeface="Calibri" pitchFamily="34" charset="0"/>
                <a:ea typeface="Calibri" pitchFamily="34" charset="-122"/>
                <a:cs typeface="Calibri" pitchFamily="34" charset="-120"/>
              </a:rPr>
              <a:t>2R plano en pizarra</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Ley de cosenos para el codo, atan2 de dos argumentos para el hombro (conserva el cuadrante); dos ramas: codo arriba / codo abajo.</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6R industrial: condición de forma cerrada = muñeca esférica (tres ejes que se cortan en un punto).</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Desacoplo: la posición del centro de muñeca depende solo de q1-q3; la orientación restante la resuelven q4-q6 (extraer Euler ZYX).</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Con offset de hombro: lefty/righty × codo arriba/abajo = 4 soluciones de posición; × muñeca volteada o no = 8 en total (Corke, p. 282).</a:t>
            </a:r>
            <a:endParaRPr lang="en-US" sz="1400" dirty="0"/>
          </a:p>
        </p:txBody>
      </p:sp>
      <p:sp>
        <p:nvSpPr>
          <p:cNvPr id="5" name="Shape 3"/>
          <p:cNvSpPr/>
          <p:nvPr/>
        </p:nvSpPr>
        <p:spPr>
          <a:xfrm>
            <a:off x="7223760" y="1463040"/>
            <a:ext cx="4297680" cy="2606040"/>
          </a:xfrm>
          <a:prstGeom prst="roundRect">
            <a:avLst>
              <a:gd name="adj" fmla="val 2807"/>
            </a:avLst>
          </a:prstGeom>
          <a:solidFill>
            <a:srgbClr val="F2F4FB"/>
          </a:solidFill>
          <a:ln/>
        </p:spPr>
        <p:txBody>
          <a:bodyPr/>
          <a:p/>
        </p:txBody>
      </p:sp>
      <p:sp>
        <p:nvSpPr>
          <p:cNvPr id="6" name="Text 4"/>
          <p:cNvSpPr/>
          <p:nvPr/>
        </p:nvSpPr>
        <p:spPr>
          <a:xfrm>
            <a:off x="7424928" y="160934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Casos degenerados</a:t>
            </a:r>
            <a:endParaRPr lang="en-US" sz="1500" dirty="0"/>
          </a:p>
        </p:txBody>
      </p:sp>
      <p:sp>
        <p:nvSpPr>
          <p:cNvPr id="7" name="Text 5"/>
          <p:cNvSpPr/>
          <p:nvPr/>
        </p:nvSpPr>
        <p:spPr>
          <a:xfrm>
            <a:off x="7424928" y="2103120"/>
            <a:ext cx="3895344" cy="183794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Pose fuera de alcance → sin solución. Objetivo con px = py = 0 → infinitas soluciones de theta1. Y «por límites articulares y colisiones no las ocho soluciones son físicamente alcanzables».</a:t>
            </a:r>
            <a:endParaRPr lang="en-US" sz="1250" dirty="0"/>
          </a:p>
        </p:txBody>
      </p:sp>
      <p:sp>
        <p:nvSpPr>
          <p:cNvPr id="8" name="Shape 6"/>
          <p:cNvSpPr/>
          <p:nvPr/>
        </p:nvSpPr>
        <p:spPr>
          <a:xfrm>
            <a:off x="7223760" y="4251960"/>
            <a:ext cx="4297680" cy="1828800"/>
          </a:xfrm>
          <a:prstGeom prst="roundRect">
            <a:avLst>
              <a:gd name="adj" fmla="val 4000"/>
            </a:avLst>
          </a:prstGeom>
          <a:solidFill>
            <a:srgbClr val="E3F7EC"/>
          </a:solidFill>
          <a:ln/>
        </p:spPr>
        <p:txBody>
          <a:bodyPr/>
          <a:p/>
        </p:txBody>
      </p:sp>
      <p:sp>
        <p:nvSpPr>
          <p:cNvPr id="9" name="Text 7"/>
          <p:cNvSpPr/>
          <p:nvPr/>
        </p:nvSpPr>
        <p:spPr>
          <a:xfrm>
            <a:off x="7424928" y="439826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Regla de oficio</a:t>
            </a:r>
            <a:endParaRPr lang="en-US" sz="1500" dirty="0"/>
          </a:p>
        </p:txBody>
      </p:sp>
      <p:sp>
        <p:nvSpPr>
          <p:cNvPr id="10" name="Text 8"/>
          <p:cNvSpPr/>
          <p:nvPr/>
        </p:nvSpPr>
        <p:spPr>
          <a:xfrm>
            <a:off x="7424928" y="4892040"/>
            <a:ext cx="3895344" cy="10607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Siempre atan2(y, x), nunca arcotangentes de cociente: la regla reaparece en todas las soluciones analíticas.</a:t>
            </a:r>
            <a:endParaRPr lang="en-US" sz="1250" dirty="0"/>
          </a:p>
        </p:txBody>
      </p:sp>
      <p:sp>
        <p:nvSpPr>
          <p:cNvPr id="12" name="Text 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Lynch y Park, 2017, pp. 220-225 · Corke, 2023, pp. 281-282</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S16 · EJEMPLO EN CLASE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Ejemplo resuelto: la IK y sus dos ramas</a:t>
            </a:r>
            <a:endParaRPr lang="en-US" sz="3000" dirty="0"/>
          </a:p>
        </p:txBody>
      </p:sp>
      <p:sp>
        <p:nvSpPr>
          <p:cNvPr id="4" name="Shape 2"/>
          <p:cNvSpPr/>
          <p:nvPr/>
        </p:nvSpPr>
        <p:spPr>
          <a:xfrm>
            <a:off x="640080" y="1444752"/>
            <a:ext cx="10881360" cy="731520"/>
          </a:xfrm>
          <a:prstGeom prst="roundRect">
            <a:avLst>
              <a:gd name="adj" fmla="val 10000"/>
            </a:avLst>
          </a:prstGeom>
          <a:solidFill>
            <a:srgbClr val="E3F7EC"/>
          </a:solidFill>
          <a:ln/>
        </p:spPr>
        <p:txBody>
          <a:bodyPr/>
          <a:p/>
        </p:txBody>
      </p:sp>
      <p:sp>
        <p:nvSpPr>
          <p:cNvPr id="5" name="Text 3"/>
          <p:cNvSpPr/>
          <p:nvPr/>
        </p:nvSpPr>
        <p:spPr>
          <a:xfrm>
            <a:off x="841248" y="1554480"/>
            <a:ext cx="10479024" cy="49377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Enunciado. El mismo 2R (a₁ = 0,35 m, a₂ = 0,2 m) debe alcanzar el punto P = (0,4, 0,2) m. Calcular las dos soluciones articulares.</a:t>
            </a:r>
            <a:endParaRPr lang="en-US" sz="1250" dirty="0"/>
          </a:p>
        </p:txBody>
      </p:sp>
      <p:sp>
        <p:nvSpPr>
          <p:cNvPr id="6" name="Text 4"/>
          <p:cNvSpPr/>
          <p:nvPr/>
        </p:nvSpPr>
        <p:spPr>
          <a:xfrm>
            <a:off x="640080" y="2331720"/>
            <a:ext cx="10881360" cy="5029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1. Ley de los cosenos para el codo (P está a 0,447 m del origen, dentro del anillo):</a:t>
            </a:r>
            <a:endParaRPr lang="en-US" sz="1300" dirty="0"/>
          </a:p>
        </p:txBody>
      </p:sp>
      <p:pic>
        <p:nvPicPr>
          <p:cNvPr id="7" name="Image 0" descr="/home/claude/work/curso_82514/media/eq/ej_c2.png">    </p:cNvPr>
          <p:cNvPicPr>
            <a:picLocks noChangeAspect="1"/>
          </p:cNvPicPr>
          <p:nvPr/>
        </p:nvPicPr>
        <p:blipFill>
          <a:blip r:embed="rId1"/>
          <a:stretch>
            <a:fillRect/>
          </a:stretch>
        </p:blipFill>
        <p:spPr>
          <a:xfrm>
            <a:off x="2292471" y="2852928"/>
            <a:ext cx="7576579" cy="713232"/>
          </a:xfrm>
          <a:prstGeom prst="rect">
            <a:avLst/>
          </a:prstGeom>
        </p:spPr>
      </p:pic>
      <p:sp>
        <p:nvSpPr>
          <p:cNvPr id="8" name="Text 5"/>
          <p:cNvSpPr/>
          <p:nvPr/>
        </p:nvSpPr>
        <p:spPr>
          <a:xfrm>
            <a:off x="640080" y="3730752"/>
            <a:ext cx="10881360" cy="5029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2. El hombro con atan2 (nunca la arcotangente del cociente: pierde el cuadrante):</a:t>
            </a:r>
            <a:endParaRPr lang="en-US" sz="1300" dirty="0"/>
          </a:p>
        </p:txBody>
      </p:sp>
      <p:pic>
        <p:nvPicPr>
          <p:cNvPr id="9" name="Image 1" descr="/home/claude/work/curso_82514/media/eq/ej_q1.png">    </p:cNvPr>
          <p:cNvPicPr>
            <a:picLocks noChangeAspect="1"/>
          </p:cNvPicPr>
          <p:nvPr/>
        </p:nvPicPr>
        <p:blipFill>
          <a:blip r:embed="rId2"/>
          <a:stretch>
            <a:fillRect/>
          </a:stretch>
        </p:blipFill>
        <p:spPr>
          <a:xfrm>
            <a:off x="1463040" y="4224528"/>
            <a:ext cx="8595360" cy="389821"/>
          </a:xfrm>
          <a:prstGeom prst="rect">
            <a:avLst/>
          </a:prstGeom>
        </p:spPr>
      </p:pic>
      <p:sp>
        <p:nvSpPr>
          <p:cNvPr id="10" name="Shape 6"/>
          <p:cNvSpPr/>
          <p:nvPr/>
        </p:nvSpPr>
        <p:spPr>
          <a:xfrm>
            <a:off x="640080" y="4892040"/>
            <a:ext cx="5394960" cy="1188720"/>
          </a:xfrm>
          <a:prstGeom prst="roundRect">
            <a:avLst>
              <a:gd name="adj" fmla="val 6154"/>
            </a:avLst>
          </a:prstGeom>
          <a:solidFill>
            <a:srgbClr val="F2F4FB"/>
          </a:solidFill>
          <a:ln/>
        </p:spPr>
        <p:txBody>
          <a:bodyPr/>
          <a:p/>
        </p:txBody>
      </p:sp>
      <p:sp>
        <p:nvSpPr>
          <p:cNvPr id="11" name="Text 7"/>
          <p:cNvSpPr/>
          <p:nvPr/>
        </p:nvSpPr>
        <p:spPr>
          <a:xfrm>
            <a:off x="841248" y="503834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Codo abajo (q₂ = +74,5°)</a:t>
            </a:r>
            <a:endParaRPr lang="en-US" sz="1500" dirty="0"/>
          </a:p>
        </p:txBody>
      </p:sp>
      <p:sp>
        <p:nvSpPr>
          <p:cNvPr id="12" name="Text 8"/>
          <p:cNvSpPr/>
          <p:nvPr/>
        </p:nvSpPr>
        <p:spPr>
          <a:xfrm>
            <a:off x="841248" y="5532120"/>
            <a:ext cx="4992624" cy="4206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q₁ = 1,0°. La FK devuelve (0,4, 0,2): verificado.</a:t>
            </a:r>
            <a:endParaRPr lang="en-US" sz="1200" dirty="0"/>
          </a:p>
        </p:txBody>
      </p:sp>
      <p:sp>
        <p:nvSpPr>
          <p:cNvPr id="13" name="Shape 9"/>
          <p:cNvSpPr/>
          <p:nvPr/>
        </p:nvSpPr>
        <p:spPr>
          <a:xfrm>
            <a:off x="6263640" y="4892040"/>
            <a:ext cx="5257800" cy="1188720"/>
          </a:xfrm>
          <a:prstGeom prst="roundRect">
            <a:avLst>
              <a:gd name="adj" fmla="val 6154"/>
            </a:avLst>
          </a:prstGeom>
          <a:solidFill>
            <a:srgbClr val="F2F4FB"/>
          </a:solidFill>
          <a:ln/>
        </p:spPr>
        <p:txBody>
          <a:bodyPr/>
          <a:p/>
        </p:txBody>
      </p:sp>
      <p:sp>
        <p:nvSpPr>
          <p:cNvPr id="14" name="Text 10"/>
          <p:cNvSpPr/>
          <p:nvPr/>
        </p:nvSpPr>
        <p:spPr>
          <a:xfrm>
            <a:off x="6464808" y="5038344"/>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Codo arriba (q₂ = −74,5°)</a:t>
            </a:r>
            <a:endParaRPr lang="en-US" sz="1500" dirty="0"/>
          </a:p>
        </p:txBody>
      </p:sp>
      <p:sp>
        <p:nvSpPr>
          <p:cNvPr id="15" name="Text 11"/>
          <p:cNvSpPr/>
          <p:nvPr/>
        </p:nvSpPr>
        <p:spPr>
          <a:xfrm>
            <a:off x="6464808" y="5532120"/>
            <a:ext cx="4855464" cy="42062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q₁ = 52,1°. La FK también devuelve (0,4, 0,2): las dos ramas son válidas.</a:t>
            </a:r>
            <a:endParaRPr lang="en-US" sz="1200" dirty="0"/>
          </a:p>
        </p:txBody>
      </p:sp>
      <p:sp>
        <p:nvSpPr>
          <p:cNvPr id="16" name="Text 12"/>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Misma estructura que la parte D del parcial 1, con otros números · cuaderno 82514_S16</a:t>
            </a:r>
            <a:endParaRPr lang="en-US" sz="10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S16 · CUANDO NO HAY FORMA CERRADA</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IK numérica y taller con la toolbox</a:t>
            </a:r>
            <a:endParaRPr lang="en-US" sz="3000" dirty="0"/>
          </a:p>
        </p:txBody>
      </p:sp>
      <p:sp>
        <p:nvSpPr>
          <p:cNvPr id="4" name="Shape 2"/>
          <p:cNvSpPr/>
          <p:nvPr/>
        </p:nvSpPr>
        <p:spPr>
          <a:xfrm>
            <a:off x="640080" y="1554480"/>
            <a:ext cx="2542032" cy="1554480"/>
          </a:xfrm>
          <a:prstGeom prst="roundRect">
            <a:avLst>
              <a:gd name="adj" fmla="val 4706"/>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00784"/>
            <a:ext cx="1581912"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Semilla q0</a:t>
            </a:r>
            <a:endParaRPr lang="en-US" sz="1300" dirty="0"/>
          </a:p>
        </p:txBody>
      </p:sp>
      <p:sp>
        <p:nvSpPr>
          <p:cNvPr id="8" name="Text 6"/>
          <p:cNvSpPr/>
          <p:nvPr/>
        </p:nvSpPr>
        <p:spPr>
          <a:xfrm>
            <a:off x="841248" y="2331720"/>
            <a:ext cx="2139696" cy="6492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elección inicial (o aleatoria)</a:t>
            </a:r>
            <a:endParaRPr lang="en-US" sz="1100" dirty="0"/>
          </a:p>
        </p:txBody>
      </p:sp>
      <p:sp>
        <p:nvSpPr>
          <p:cNvPr id="9" name="Text 7"/>
          <p:cNvSpPr/>
          <p:nvPr/>
        </p:nvSpPr>
        <p:spPr>
          <a:xfrm>
            <a:off x="3163824" y="2057400"/>
            <a:ext cx="292608" cy="457200"/>
          </a:xfrm>
          <a:prstGeom prst="rect">
            <a:avLst/>
          </a:prstGeom>
          <a:noFill/>
          <a:ln/>
        </p:spPr>
        <p:txBody>
          <a:bodyPr wrap="square" lIns="0" tIns="0" rIns="0" bIns="0" rtlCol="0" anchor="ctr"/>
          <a:lstStyle/>
          <a:p>
            <a:pPr algn="ctr" indent="0" marL="0">
              <a:buNone/>
            </a:pPr>
            <a:r>
              <a:rPr lang="en-US" sz="1600" b="1" dirty="0">
                <a:solidFill>
                  <a:srgbClr val="1FA355"/>
                </a:solidFill>
              </a:rPr>
              <a:t>→</a:t>
            </a:r>
            <a:endParaRPr lang="en-US" sz="1600" dirty="0"/>
          </a:p>
        </p:txBody>
      </p:sp>
      <p:sp>
        <p:nvSpPr>
          <p:cNvPr id="10" name="Shape 8"/>
          <p:cNvSpPr/>
          <p:nvPr/>
        </p:nvSpPr>
        <p:spPr>
          <a:xfrm>
            <a:off x="3451860" y="1554480"/>
            <a:ext cx="2542032" cy="1554480"/>
          </a:xfrm>
          <a:prstGeom prst="roundRect">
            <a:avLst>
              <a:gd name="adj" fmla="val 4706"/>
            </a:avLst>
          </a:prstGeom>
          <a:solidFill>
            <a:srgbClr val="F2F4FB"/>
          </a:solidFill>
          <a:ln/>
        </p:spPr>
        <p:txBody>
          <a:bodyPr/>
          <a:p/>
        </p:txBody>
      </p:sp>
      <p:sp>
        <p:nvSpPr>
          <p:cNvPr id="11" name="Shape 9"/>
          <p:cNvSpPr/>
          <p:nvPr/>
        </p:nvSpPr>
        <p:spPr>
          <a:xfrm>
            <a:off x="3634740" y="1737360"/>
            <a:ext cx="457200" cy="457200"/>
          </a:xfrm>
          <a:prstGeom prst="ellipse">
            <a:avLst/>
          </a:prstGeom>
          <a:solidFill>
            <a:srgbClr val="2FD26E"/>
          </a:solidFill>
          <a:ln/>
        </p:spPr>
        <p:txBody>
          <a:bodyPr/>
          <a:p/>
        </p:txBody>
      </p:sp>
      <p:sp>
        <p:nvSpPr>
          <p:cNvPr id="12" name="Text 10"/>
          <p:cNvSpPr/>
          <p:nvPr/>
        </p:nvSpPr>
        <p:spPr>
          <a:xfrm>
            <a:off x="363474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229100" y="1700784"/>
            <a:ext cx="1581912"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Error</a:t>
            </a:r>
            <a:endParaRPr lang="en-US" sz="1300" dirty="0"/>
          </a:p>
        </p:txBody>
      </p:sp>
      <p:sp>
        <p:nvSpPr>
          <p:cNvPr id="14" name="Text 12"/>
          <p:cNvSpPr/>
          <p:nvPr/>
        </p:nvSpPr>
        <p:spPr>
          <a:xfrm>
            <a:off x="3653028" y="2331720"/>
            <a:ext cx="2139696" cy="6492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g(q) = xd − f(q)</a:t>
            </a:r>
            <a:endParaRPr lang="en-US" sz="1100" dirty="0"/>
          </a:p>
        </p:txBody>
      </p:sp>
      <p:sp>
        <p:nvSpPr>
          <p:cNvPr id="15" name="Text 13"/>
          <p:cNvSpPr/>
          <p:nvPr/>
        </p:nvSpPr>
        <p:spPr>
          <a:xfrm>
            <a:off x="5975604" y="2057400"/>
            <a:ext cx="292608" cy="457200"/>
          </a:xfrm>
          <a:prstGeom prst="rect">
            <a:avLst/>
          </a:prstGeom>
          <a:noFill/>
          <a:ln/>
        </p:spPr>
        <p:txBody>
          <a:bodyPr wrap="square" lIns="0" tIns="0" rIns="0" bIns="0" rtlCol="0" anchor="ctr"/>
          <a:lstStyle/>
          <a:p>
            <a:pPr algn="ctr" indent="0" marL="0">
              <a:buNone/>
            </a:pPr>
            <a:r>
              <a:rPr lang="en-US" sz="1600" b="1" dirty="0">
                <a:solidFill>
                  <a:srgbClr val="1FA355"/>
                </a:solidFill>
              </a:rPr>
              <a:t>→</a:t>
            </a:r>
            <a:endParaRPr lang="en-US" sz="1600" dirty="0"/>
          </a:p>
        </p:txBody>
      </p:sp>
      <p:sp>
        <p:nvSpPr>
          <p:cNvPr id="16" name="Shape 14"/>
          <p:cNvSpPr/>
          <p:nvPr/>
        </p:nvSpPr>
        <p:spPr>
          <a:xfrm>
            <a:off x="6263640" y="1554480"/>
            <a:ext cx="2542032" cy="1554480"/>
          </a:xfrm>
          <a:prstGeom prst="roundRect">
            <a:avLst>
              <a:gd name="adj" fmla="val 4706"/>
            </a:avLst>
          </a:prstGeom>
          <a:solidFill>
            <a:srgbClr val="F2F4FB"/>
          </a:solidFill>
          <a:ln/>
        </p:spPr>
        <p:txBody>
          <a:bodyPr/>
          <a:p/>
        </p:txBody>
      </p:sp>
      <p:sp>
        <p:nvSpPr>
          <p:cNvPr id="17" name="Shape 15"/>
          <p:cNvSpPr/>
          <p:nvPr/>
        </p:nvSpPr>
        <p:spPr>
          <a:xfrm>
            <a:off x="6446520" y="1737360"/>
            <a:ext cx="457200" cy="457200"/>
          </a:xfrm>
          <a:prstGeom prst="ellipse">
            <a:avLst/>
          </a:prstGeom>
          <a:solidFill>
            <a:srgbClr val="2FD26E"/>
          </a:solidFill>
          <a:ln/>
        </p:spPr>
        <p:txBody>
          <a:bodyPr/>
          <a:p/>
        </p:txBody>
      </p:sp>
      <p:sp>
        <p:nvSpPr>
          <p:cNvPr id="18" name="Text 16"/>
          <p:cNvSpPr/>
          <p:nvPr/>
        </p:nvSpPr>
        <p:spPr>
          <a:xfrm>
            <a:off x="644652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7040880" y="1700784"/>
            <a:ext cx="1581912"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Paso de Newton</a:t>
            </a:r>
            <a:endParaRPr lang="en-US" sz="1300" dirty="0"/>
          </a:p>
        </p:txBody>
      </p:sp>
      <p:sp>
        <p:nvSpPr>
          <p:cNvPr id="20" name="Text 18"/>
          <p:cNvSpPr/>
          <p:nvPr/>
        </p:nvSpPr>
        <p:spPr>
          <a:xfrm>
            <a:off x="6464808" y="2331720"/>
            <a:ext cx="2139696" cy="6492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linealizar con J y usar su pseudoinversa</a:t>
            </a:r>
            <a:endParaRPr lang="en-US" sz="1100" dirty="0"/>
          </a:p>
        </p:txBody>
      </p:sp>
      <p:sp>
        <p:nvSpPr>
          <p:cNvPr id="21" name="Text 19"/>
          <p:cNvSpPr/>
          <p:nvPr/>
        </p:nvSpPr>
        <p:spPr>
          <a:xfrm>
            <a:off x="8787384" y="2057400"/>
            <a:ext cx="292608" cy="457200"/>
          </a:xfrm>
          <a:prstGeom prst="rect">
            <a:avLst/>
          </a:prstGeom>
          <a:noFill/>
          <a:ln/>
        </p:spPr>
        <p:txBody>
          <a:bodyPr wrap="square" lIns="0" tIns="0" rIns="0" bIns="0" rtlCol="0" anchor="ctr"/>
          <a:lstStyle/>
          <a:p>
            <a:pPr algn="ctr" indent="0" marL="0">
              <a:buNone/>
            </a:pPr>
            <a:r>
              <a:rPr lang="en-US" sz="1600" b="1" dirty="0">
                <a:solidFill>
                  <a:srgbClr val="1FA355"/>
                </a:solidFill>
              </a:rPr>
              <a:t>→</a:t>
            </a:r>
            <a:endParaRPr lang="en-US" sz="1600" dirty="0"/>
          </a:p>
        </p:txBody>
      </p:sp>
      <p:sp>
        <p:nvSpPr>
          <p:cNvPr id="22" name="Shape 20"/>
          <p:cNvSpPr/>
          <p:nvPr/>
        </p:nvSpPr>
        <p:spPr>
          <a:xfrm>
            <a:off x="9075420" y="1554480"/>
            <a:ext cx="2542032" cy="1554480"/>
          </a:xfrm>
          <a:prstGeom prst="roundRect">
            <a:avLst>
              <a:gd name="adj" fmla="val 4706"/>
            </a:avLst>
          </a:prstGeom>
          <a:solidFill>
            <a:srgbClr val="F2F4FB"/>
          </a:solidFill>
          <a:ln/>
        </p:spPr>
        <p:txBody>
          <a:bodyPr/>
          <a:p/>
        </p:txBody>
      </p:sp>
      <p:sp>
        <p:nvSpPr>
          <p:cNvPr id="23" name="Shape 21"/>
          <p:cNvSpPr/>
          <p:nvPr/>
        </p:nvSpPr>
        <p:spPr>
          <a:xfrm>
            <a:off x="9258300" y="1737360"/>
            <a:ext cx="457200" cy="457200"/>
          </a:xfrm>
          <a:prstGeom prst="ellipse">
            <a:avLst/>
          </a:prstGeom>
          <a:solidFill>
            <a:srgbClr val="2FD26E"/>
          </a:solidFill>
          <a:ln/>
        </p:spPr>
        <p:txBody>
          <a:bodyPr/>
          <a:p/>
        </p:txBody>
      </p:sp>
      <p:sp>
        <p:nvSpPr>
          <p:cNvPr id="24" name="Text 22"/>
          <p:cNvSpPr/>
          <p:nvPr/>
        </p:nvSpPr>
        <p:spPr>
          <a:xfrm>
            <a:off x="925830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9852660" y="1700784"/>
            <a:ext cx="1581912"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Parada</a:t>
            </a:r>
            <a:endParaRPr lang="en-US" sz="1300" dirty="0"/>
          </a:p>
        </p:txBody>
      </p:sp>
      <p:sp>
        <p:nvSpPr>
          <p:cNvPr id="26" name="Text 24"/>
          <p:cNvSpPr/>
          <p:nvPr/>
        </p:nvSpPr>
        <p:spPr>
          <a:xfrm>
            <a:off x="9276588" y="2331720"/>
            <a:ext cx="2139696" cy="64922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tolerancia (100 μm en pocas iteraciones)</a:t>
            </a:r>
            <a:endParaRPr lang="en-US" sz="1100" dirty="0"/>
          </a:p>
        </p:txBody>
      </p:sp>
      <p:sp>
        <p:nvSpPr>
          <p:cNvPr id="27" name="Shape 25"/>
          <p:cNvSpPr/>
          <p:nvPr/>
        </p:nvSpPr>
        <p:spPr>
          <a:xfrm>
            <a:off x="640080" y="3429000"/>
            <a:ext cx="5394960" cy="2606040"/>
          </a:xfrm>
          <a:prstGeom prst="roundRect">
            <a:avLst>
              <a:gd name="adj" fmla="val 2807"/>
            </a:avLst>
          </a:prstGeom>
          <a:solidFill>
            <a:srgbClr val="F2F4FB"/>
          </a:solidFill>
          <a:ln/>
        </p:spPr>
        <p:txBody>
          <a:bodyPr/>
          <a:p/>
        </p:txBody>
      </p:sp>
      <p:sp>
        <p:nvSpPr>
          <p:cNvPr id="28" name="Text 26"/>
          <p:cNvSpPr/>
          <p:nvPr/>
        </p:nvSpPr>
        <p:spPr>
          <a:xfrm>
            <a:off x="841248" y="357530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Analítica: ikine_a</a:t>
            </a:r>
            <a:endParaRPr lang="en-US" sz="1500" dirty="0"/>
          </a:p>
        </p:txBody>
      </p:sp>
      <p:sp>
        <p:nvSpPr>
          <p:cNvPr id="29" name="Text 27"/>
          <p:cNvSpPr/>
          <p:nvPr/>
        </p:nvSpPr>
        <p:spPr>
          <a:xfrm>
            <a:off x="841248" y="4069080"/>
            <a:ext cx="4992624" cy="18379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sol = puma.ikine_a(T) y verificar siempre con puma.fkine(sol.q). Explorar las 8 ramas con las banderas "l"/"r", "u"/"d", "f"/"n". Fallos con diagnóstico: ikine_a(SE3.Tx(3)) → success=False, «fuera de alcance»; con q4 = 0 los ejes 3 y 5 se alinean y solo queda determinada la suma q3 + q5.</a:t>
            </a:r>
            <a:endParaRPr lang="en-US" sz="1150" dirty="0"/>
          </a:p>
        </p:txBody>
      </p:sp>
      <p:sp>
        <p:nvSpPr>
          <p:cNvPr id="30" name="Shape 28"/>
          <p:cNvSpPr/>
          <p:nvPr/>
        </p:nvSpPr>
        <p:spPr>
          <a:xfrm>
            <a:off x="6263640" y="3429000"/>
            <a:ext cx="5257800" cy="2606040"/>
          </a:xfrm>
          <a:prstGeom prst="roundRect">
            <a:avLst>
              <a:gd name="adj" fmla="val 2807"/>
            </a:avLst>
          </a:prstGeom>
          <a:solidFill>
            <a:srgbClr val="F2F4FB"/>
          </a:solidFill>
          <a:ln/>
        </p:spPr>
        <p:txBody>
          <a:bodyPr/>
          <a:p/>
        </p:txBody>
      </p:sp>
      <p:sp>
        <p:nvSpPr>
          <p:cNvPr id="31" name="Text 29"/>
          <p:cNvSpPr/>
          <p:nvPr/>
        </p:nvSpPr>
        <p:spPr>
          <a:xfrm>
            <a:off x="6464808" y="3575304"/>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Numérica: ikine_LM</a:t>
            </a:r>
            <a:endParaRPr lang="en-US" sz="1500" dirty="0"/>
          </a:p>
        </p:txBody>
      </p:sp>
      <p:sp>
        <p:nvSpPr>
          <p:cNvPr id="32" name="Text 30"/>
          <p:cNvSpPr/>
          <p:nvPr/>
        </p:nvSpPr>
        <p:spPr>
          <a:xfrm>
            <a:off x="6464808" y="4069080"/>
            <a:ext cx="4855464" cy="183794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sol = puma.ikine_LM(T, q0=...): converge a la rama que dicta la semilla; sin semilla, valores iniciales aleatorios. Puede fallar o saltar de rama cerca de singularidades.</a:t>
            </a:r>
            <a:endParaRPr lang="en-US" sz="1150" dirty="0"/>
          </a:p>
          <a:p>
            <a:pPr indent="0" marL="0">
              <a:buNone/>
            </a:pPr>
            <a:endParaRPr lang="en-US" sz="1150" dirty="0"/>
          </a:p>
          <a:p>
            <a:pPr indent="0" marL="0">
              <a:buNone/>
            </a:pPr>
            <a:r>
              <a:rPr lang="en-US" sz="1150" dirty="0">
                <a:solidFill>
                  <a:srgbClr val="1A1A2E"/>
                </a:solidFill>
                <a:latin typeface="Calibri" pitchFamily="34" charset="0"/>
                <a:ea typeface="Calibri" pitchFamily="34" charset="-122"/>
                <a:cs typeface="Calibri" pitchFamily="34" charset="-120"/>
              </a:rPr>
              <a:t>Síntesis por parejas: obtener las 8 soluciones para un punto de la mesa, descartar las no alcanzables y elegir razonadamente.</a:t>
            </a:r>
            <a:endParaRPr lang="en-US" sz="1150" dirty="0"/>
          </a:p>
        </p:txBody>
      </p:sp>
      <p:sp>
        <p:nvSpPr>
          <p:cNvPr id="34" name="Text 3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Lynch y Park, 2017, pp. 226-232 · Corke, 2023, pp. 282-283</a:t>
            </a:r>
            <a:endParaRPr lang="en-US" sz="10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S17</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Jacobiano y cinemática diferencial</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ẋ = J(q)·q̇ · columnas con significado · velocidad resuelta</a:t>
            </a:r>
            <a:endParaRPr lang="en-US" sz="16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S17–S19 · FIGURA Y ANIMACIÓN</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El 2R, en movimiento</a:t>
            </a:r>
            <a:endParaRPr lang="en-US" sz="3000" dirty="0"/>
          </a:p>
        </p:txBody>
      </p:sp>
      <p:pic>
        <p:nvPicPr>
          <p:cNvPr id="4" name="Image 0" descr="/home/claude/work/curso_82514/media/figs/b4_workspace_elipses.png">    </p:cNvPr>
          <p:cNvPicPr>
            <a:picLocks noChangeAspect="1"/>
          </p:cNvPicPr>
          <p:nvPr/>
        </p:nvPicPr>
        <p:blipFill>
          <a:blip r:embed="rId1"/>
          <a:stretch>
            <a:fillRect/>
          </a:stretch>
        </p:blipFill>
        <p:spPr>
          <a:xfrm>
            <a:off x="704471" y="1371600"/>
            <a:ext cx="5266178" cy="4572000"/>
          </a:xfrm>
          <a:prstGeom prst="rect">
            <a:avLst/>
          </a:prstGeom>
        </p:spPr>
      </p:pic>
      <p:sp>
        <p:nvSpPr>
          <p:cNvPr id="5" name="Text 2"/>
          <p:cNvSpPr/>
          <p:nvPr/>
        </p:nvSpPr>
        <p:spPr>
          <a:xfrm>
            <a:off x="640080" y="5980176"/>
            <a:ext cx="539496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Espacio de trabajo y elipses de manipulabilidad en tres posturas</a:t>
            </a:r>
            <a:endParaRPr lang="en-US" sz="1050" dirty="0"/>
          </a:p>
        </p:txBody>
      </p:sp>
      <p:pic>
        <p:nvPicPr>
          <p:cNvPr id="6" name="Image 1" descr="/home/claude/work/curso_82514/media/gifs/b4_trayectoria.gif">    </p:cNvPr>
          <p:cNvPicPr>
            <a:picLocks noChangeAspect="1"/>
          </p:cNvPicPr>
          <p:nvPr/>
        </p:nvPicPr>
        <p:blipFill>
          <a:blip r:embed="rId2"/>
          <a:stretch>
            <a:fillRect/>
          </a:stretch>
        </p:blipFill>
        <p:spPr>
          <a:xfrm>
            <a:off x="6407834" y="1371600"/>
            <a:ext cx="4923692" cy="4572000"/>
          </a:xfrm>
          <a:prstGeom prst="rect">
            <a:avLst/>
          </a:prstGeom>
        </p:spPr>
      </p:pic>
      <p:sp>
        <p:nvSpPr>
          <p:cNvPr id="7" name="Text 3"/>
          <p:cNvSpPr/>
          <p:nvPr/>
        </p:nvSpPr>
        <p:spPr>
          <a:xfrm>
            <a:off x="6263640" y="5980176"/>
            <a:ext cx="5212080" cy="292608"/>
          </a:xfrm>
          <a:prstGeom prst="rect">
            <a:avLst/>
          </a:prstGeom>
          <a:noFill/>
          <a:ln/>
        </p:spPr>
        <p:txBody>
          <a:bodyPr wrap="square" lIns="0" tIns="0" rIns="0" bIns="0" rtlCol="0" anchor="ctr"/>
          <a:lstStyle/>
          <a:p>
            <a:pPr algn="ctr" indent="0" marL="0">
              <a:buNone/>
            </a:pPr>
            <a:r>
              <a:rPr lang="en-US" sz="1050" dirty="0">
                <a:solidFill>
                  <a:srgbClr val="595959"/>
                </a:solidFill>
                <a:latin typeface="Calibri" pitchFamily="34" charset="0"/>
                <a:ea typeface="Calibri" pitchFamily="34" charset="-122"/>
                <a:cs typeface="Calibri" pitchFamily="34" charset="-120"/>
              </a:rPr>
              <a:t>Trayectoria quíntica en espacio articular: la punta no describe una recta</a:t>
            </a:r>
            <a:endParaRPr lang="en-US" sz="1050" dirty="0"/>
          </a:p>
        </p:txBody>
      </p:sp>
      <p:sp>
        <p:nvSpPr>
          <p:cNvPr id="8" name="Text 4"/>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Figuras y animación propias del curso (cuadernos S17–S19)</a:t>
            </a:r>
            <a:endParaRPr lang="en-US" sz="10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S17 · CINEMÁTICA DIFERENCIAL</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El jacobiano: la matriz que todo lo conecta</a:t>
            </a:r>
            <a:endParaRPr lang="en-US" sz="3000" dirty="0"/>
          </a:p>
        </p:txBody>
      </p:sp>
      <p:pic>
        <p:nvPicPr>
          <p:cNvPr id="4" name="Image 0" descr="/home/claude/work/curso_82514/media/eq/jac.png">    </p:cNvPr>
          <p:cNvPicPr>
            <a:picLocks noChangeAspect="1"/>
          </p:cNvPicPr>
          <p:nvPr/>
        </p:nvPicPr>
        <p:blipFill>
          <a:blip r:embed="rId1"/>
          <a:stretch>
            <a:fillRect/>
          </a:stretch>
        </p:blipFill>
        <p:spPr>
          <a:xfrm>
            <a:off x="914400" y="1463040"/>
            <a:ext cx="2468880" cy="578554"/>
          </a:xfrm>
          <a:prstGeom prst="rect">
            <a:avLst/>
          </a:prstGeom>
        </p:spPr>
      </p:pic>
      <p:sp>
        <p:nvSpPr>
          <p:cNvPr id="5" name="Text 2"/>
          <p:cNvSpPr/>
          <p:nvPr/>
        </p:nvSpPr>
        <p:spPr>
          <a:xfrm>
            <a:off x="640080" y="2331720"/>
            <a:ext cx="6309360" cy="39319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«J(q), de dimensión m x n, se llama el jacobiano»: la sensibilidad lineal de la velocidad del efector a la velocidad articular; depende de la configuración q (Lynch y Park, p. 171).</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Columna i = velocidad del efector cuando solo la articulación i se mueve a velocidad unidad, dibujarlas en el 2R en dos posturas.</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En 3D la velocidad es 6D (lineal + angular): J es 6 x n; jacob0 la expresa en el marco del mundo, jacobe en el del efector (útil con sensores de fuerza).</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Jacobiano analítico: expresar la orientación en tasas RPY añade una singularidad de representación, otra vez el coste de los tres ángulos.</a:t>
            </a:r>
            <a:endParaRPr lang="en-US" sz="1300" dirty="0"/>
          </a:p>
        </p:txBody>
      </p:sp>
      <p:sp>
        <p:nvSpPr>
          <p:cNvPr id="6" name="Shape 3"/>
          <p:cNvSpPr/>
          <p:nvPr/>
        </p:nvSpPr>
        <p:spPr>
          <a:xfrm>
            <a:off x="7223760" y="1463040"/>
            <a:ext cx="4297680" cy="2377440"/>
          </a:xfrm>
          <a:prstGeom prst="roundRect">
            <a:avLst>
              <a:gd name="adj" fmla="val 3077"/>
            </a:avLst>
          </a:prstGeom>
          <a:solidFill>
            <a:srgbClr val="F2F4FB"/>
          </a:solidFill>
          <a:ln/>
        </p:spPr>
        <p:txBody>
          <a:bodyPr/>
          <a:p/>
        </p:txBody>
      </p:sp>
      <p:sp>
        <p:nvSpPr>
          <p:cNvPr id="7" name="Text 4"/>
          <p:cNvSpPr/>
          <p:nvPr/>
        </p:nvSpPr>
        <p:spPr>
          <a:xfrm>
            <a:off x="7424928" y="160934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Aviso que estructura S18</a:t>
            </a:r>
            <a:endParaRPr lang="en-US" sz="1500" dirty="0"/>
          </a:p>
        </p:txBody>
      </p:sp>
      <p:sp>
        <p:nvSpPr>
          <p:cNvPr id="8" name="Text 5"/>
          <p:cNvSpPr/>
          <p:nvPr/>
        </p:nvSpPr>
        <p:spPr>
          <a:xfrm>
            <a:off x="7424928" y="2103120"/>
            <a:ext cx="3895344" cy="160934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Cuando las columnas se alinean (brazo estirado), hay direcciones en las que el efector no puede moverse: el jacobiano pierde rango.</a:t>
            </a:r>
            <a:endParaRPr lang="en-US" sz="1250" dirty="0"/>
          </a:p>
        </p:txBody>
      </p:sp>
      <p:sp>
        <p:nvSpPr>
          <p:cNvPr id="9" name="Shape 6"/>
          <p:cNvSpPr/>
          <p:nvPr/>
        </p:nvSpPr>
        <p:spPr>
          <a:xfrm>
            <a:off x="7223760" y="4023360"/>
            <a:ext cx="4297680" cy="2057400"/>
          </a:xfrm>
          <a:prstGeom prst="roundRect">
            <a:avLst>
              <a:gd name="adj" fmla="val 3556"/>
            </a:avLst>
          </a:prstGeom>
          <a:solidFill>
            <a:srgbClr val="E3F7EC"/>
          </a:solidFill>
          <a:ln/>
        </p:spPr>
        <p:txBody>
          <a:bodyPr/>
          <a:p/>
        </p:txBody>
      </p:sp>
      <p:sp>
        <p:nvSpPr>
          <p:cNvPr id="10" name="Text 7"/>
          <p:cNvSpPr/>
          <p:nvPr/>
        </p:nvSpPr>
        <p:spPr>
          <a:xfrm>
            <a:off x="7424928" y="416966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Demo con el UR5</a:t>
            </a:r>
            <a:endParaRPr lang="en-US" sz="1500" dirty="0"/>
          </a:p>
        </p:txBody>
      </p:sp>
      <p:sp>
        <p:nvSpPr>
          <p:cNvPr id="11" name="Text 8"/>
          <p:cNvSpPr/>
          <p:nvPr/>
        </p:nvSpPr>
        <p:spPr>
          <a:xfrm>
            <a:off x="7424928" y="4663440"/>
            <a:ext cx="3895344" cy="128930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J = robot.jacob0(q) sobre el modelo del libro: comparar columnas en configuraciones distintas y verificar la dependencia de q.</a:t>
            </a:r>
            <a:endParaRPr lang="en-US" sz="1250" dirty="0"/>
          </a:p>
        </p:txBody>
      </p:sp>
      <p:sp>
        <p:nvSpPr>
          <p:cNvPr id="13" name="Text 9"/>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Lynch y Park, 2017, pp. 171-173 · Corke, 2023, pp. 310-312</a:t>
            </a:r>
            <a:endParaRPr lang="en-US" sz="10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S17 · EJEMPLO EN CLASE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Ejemplo resuelto: jacobiano y velocidades</a:t>
            </a:r>
            <a:endParaRPr lang="en-US" sz="3000" dirty="0"/>
          </a:p>
        </p:txBody>
      </p:sp>
      <p:sp>
        <p:nvSpPr>
          <p:cNvPr id="4" name="Shape 2"/>
          <p:cNvSpPr/>
          <p:nvPr/>
        </p:nvSpPr>
        <p:spPr>
          <a:xfrm>
            <a:off x="640080" y="1444752"/>
            <a:ext cx="10881360" cy="731520"/>
          </a:xfrm>
          <a:prstGeom prst="roundRect">
            <a:avLst>
              <a:gd name="adj" fmla="val 10000"/>
            </a:avLst>
          </a:prstGeom>
          <a:solidFill>
            <a:srgbClr val="E3F7EC"/>
          </a:solidFill>
          <a:ln/>
        </p:spPr>
        <p:txBody>
          <a:bodyPr/>
          <a:p/>
        </p:txBody>
      </p:sp>
      <p:sp>
        <p:nvSpPr>
          <p:cNvPr id="5" name="Text 3"/>
          <p:cNvSpPr/>
          <p:nvPr/>
        </p:nvSpPr>
        <p:spPr>
          <a:xfrm>
            <a:off x="841248" y="1554480"/>
            <a:ext cx="10479024" cy="49377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Enunciado. En la rama codo abajo del ejemplo de S16 (q₁ = 1,0°, q₂ = 74,5°), calcular J y det J, y las velocidades articulares para mover el efector a v = (0,1, 0) m/s.</a:t>
            </a:r>
            <a:endParaRPr lang="en-US" sz="1250" dirty="0"/>
          </a:p>
        </p:txBody>
      </p:sp>
      <p:sp>
        <p:nvSpPr>
          <p:cNvPr id="6" name="Text 4"/>
          <p:cNvSpPr/>
          <p:nvPr/>
        </p:nvSpPr>
        <p:spPr>
          <a:xfrm>
            <a:off x="640080" y="2331720"/>
            <a:ext cx="10881360" cy="5029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1. Evaluar el jacobiano en la configuración (derivadas de la FK) y su determinante:</a:t>
            </a:r>
            <a:endParaRPr lang="en-US" sz="1300" dirty="0"/>
          </a:p>
        </p:txBody>
      </p:sp>
      <p:pic>
        <p:nvPicPr>
          <p:cNvPr id="7" name="Image 0" descr="/home/claude/work/curso_82514/media/eq/ej_J.png">    </p:cNvPr>
          <p:cNvPicPr>
            <a:picLocks noChangeAspect="1"/>
          </p:cNvPicPr>
          <p:nvPr/>
        </p:nvPicPr>
        <p:blipFill>
          <a:blip r:embed="rId1"/>
          <a:stretch>
            <a:fillRect/>
          </a:stretch>
        </p:blipFill>
        <p:spPr>
          <a:xfrm>
            <a:off x="2045589" y="2834640"/>
            <a:ext cx="8070342" cy="777240"/>
          </a:xfrm>
          <a:prstGeom prst="rect">
            <a:avLst/>
          </a:prstGeom>
        </p:spPr>
      </p:pic>
      <p:sp>
        <p:nvSpPr>
          <p:cNvPr id="8" name="Text 5"/>
          <p:cNvSpPr/>
          <p:nvPr/>
        </p:nvSpPr>
        <p:spPr>
          <a:xfrm>
            <a:off x="640080" y="3840480"/>
            <a:ext cx="10881360" cy="21031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2. Resolver q̇ = J⁻¹·v: q̇ = (0,074, −0,593) rad/s, es decir, 4,3 °/s el hombro y −34,0 °/s el codo.</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Lectura física: mover el efector a solo 10 cm/s exige 34 grados por segundo en el codo. Cerca de la singularidad esa demanda se dispara: es el aviso de S18.</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Referencia de escala: det J = 0,067 m², cerca de su máximo posible a₁·a₂ = 0,07: configuración cómoda, lejos de singularidad.</a:t>
            </a:r>
            <a:endParaRPr lang="en-US" sz="1300" dirty="0"/>
          </a:p>
        </p:txBody>
      </p:sp>
      <p:sp>
        <p:nvSpPr>
          <p:cNvPr id="9" name="Text 6"/>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Cuaderno 82514_S17 · la demo con jacob0 usa estos mismos números</a:t>
            </a:r>
            <a:endParaRPr lang="en-US" sz="10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S17 · MOVER EN CARTESIANO SIN IK</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Control de velocidad resuelta</a:t>
            </a:r>
            <a:endParaRPr lang="en-US" sz="3000" dirty="0"/>
          </a:p>
        </p:txBody>
      </p:sp>
      <p:sp>
        <p:nvSpPr>
          <p:cNvPr id="4" name="Shape 2"/>
          <p:cNvSpPr/>
          <p:nvPr/>
        </p:nvSpPr>
        <p:spPr>
          <a:xfrm>
            <a:off x="640080" y="1554480"/>
            <a:ext cx="2542032" cy="1691640"/>
          </a:xfrm>
          <a:prstGeom prst="roundRect">
            <a:avLst>
              <a:gd name="adj" fmla="val 4324"/>
            </a:avLst>
          </a:prstGeom>
          <a:solidFill>
            <a:srgbClr val="F2F4FB"/>
          </a:solidFill>
          <a:ln/>
        </p:spPr>
        <p:txBody>
          <a:bodyPr/>
          <a:p/>
        </p:txBody>
      </p:sp>
      <p:sp>
        <p:nvSpPr>
          <p:cNvPr id="5" name="Shape 3"/>
          <p:cNvSpPr/>
          <p:nvPr/>
        </p:nvSpPr>
        <p:spPr>
          <a:xfrm>
            <a:off x="822960" y="1737360"/>
            <a:ext cx="457200" cy="457200"/>
          </a:xfrm>
          <a:prstGeom prst="ellipse">
            <a:avLst/>
          </a:prstGeom>
          <a:solidFill>
            <a:srgbClr val="2FD26E"/>
          </a:solidFill>
          <a:ln/>
        </p:spPr>
        <p:txBody>
          <a:bodyPr/>
          <a:p/>
        </p:txBody>
      </p:sp>
      <p:sp>
        <p:nvSpPr>
          <p:cNvPr id="6" name="Text 4"/>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00784"/>
            <a:ext cx="1581912" cy="502920"/>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Velocidad deseada</a:t>
            </a:r>
            <a:endParaRPr lang="en-US" sz="1250" dirty="0"/>
          </a:p>
        </p:txBody>
      </p:sp>
      <p:sp>
        <p:nvSpPr>
          <p:cNvPr id="8" name="Text 6"/>
          <p:cNvSpPr/>
          <p:nvPr/>
        </p:nvSpPr>
        <p:spPr>
          <a:xfrm>
            <a:off x="841248" y="2331720"/>
            <a:ext cx="2139696" cy="78638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ν del efector (6D), p. ej. línea recta a velocidad constante</a:t>
            </a:r>
            <a:endParaRPr lang="en-US" sz="1100" dirty="0"/>
          </a:p>
        </p:txBody>
      </p:sp>
      <p:sp>
        <p:nvSpPr>
          <p:cNvPr id="9" name="Text 7"/>
          <p:cNvSpPr/>
          <p:nvPr/>
        </p:nvSpPr>
        <p:spPr>
          <a:xfrm>
            <a:off x="3163824" y="2103120"/>
            <a:ext cx="292608" cy="457200"/>
          </a:xfrm>
          <a:prstGeom prst="rect">
            <a:avLst/>
          </a:prstGeom>
          <a:noFill/>
          <a:ln/>
        </p:spPr>
        <p:txBody>
          <a:bodyPr wrap="square" lIns="0" tIns="0" rIns="0" bIns="0" rtlCol="0" anchor="ctr"/>
          <a:lstStyle/>
          <a:p>
            <a:pPr algn="ctr" indent="0" marL="0">
              <a:buNone/>
            </a:pPr>
            <a:r>
              <a:rPr lang="en-US" sz="1600" b="1" dirty="0">
                <a:solidFill>
                  <a:srgbClr val="1FA355"/>
                </a:solidFill>
              </a:rPr>
              <a:t>→</a:t>
            </a:r>
            <a:endParaRPr lang="en-US" sz="1600" dirty="0"/>
          </a:p>
        </p:txBody>
      </p:sp>
      <p:sp>
        <p:nvSpPr>
          <p:cNvPr id="10" name="Shape 8"/>
          <p:cNvSpPr/>
          <p:nvPr/>
        </p:nvSpPr>
        <p:spPr>
          <a:xfrm>
            <a:off x="3451860" y="1554480"/>
            <a:ext cx="2542032" cy="1691640"/>
          </a:xfrm>
          <a:prstGeom prst="roundRect">
            <a:avLst>
              <a:gd name="adj" fmla="val 4324"/>
            </a:avLst>
          </a:prstGeom>
          <a:solidFill>
            <a:srgbClr val="F2F4FB"/>
          </a:solidFill>
          <a:ln/>
        </p:spPr>
        <p:txBody>
          <a:bodyPr/>
          <a:p/>
        </p:txBody>
      </p:sp>
      <p:sp>
        <p:nvSpPr>
          <p:cNvPr id="11" name="Shape 9"/>
          <p:cNvSpPr/>
          <p:nvPr/>
        </p:nvSpPr>
        <p:spPr>
          <a:xfrm>
            <a:off x="3634740" y="1737360"/>
            <a:ext cx="457200" cy="457200"/>
          </a:xfrm>
          <a:prstGeom prst="ellipse">
            <a:avLst/>
          </a:prstGeom>
          <a:solidFill>
            <a:srgbClr val="2FD26E"/>
          </a:solidFill>
          <a:ln/>
        </p:spPr>
        <p:txBody>
          <a:bodyPr/>
          <a:p/>
        </p:txBody>
      </p:sp>
      <p:sp>
        <p:nvSpPr>
          <p:cNvPr id="12" name="Text 10"/>
          <p:cNvSpPr/>
          <p:nvPr/>
        </p:nvSpPr>
        <p:spPr>
          <a:xfrm>
            <a:off x="363474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229100" y="1700784"/>
            <a:ext cx="1581912" cy="502920"/>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Invertir J</a:t>
            </a:r>
            <a:endParaRPr lang="en-US" sz="1250" dirty="0"/>
          </a:p>
        </p:txBody>
      </p:sp>
      <p:sp>
        <p:nvSpPr>
          <p:cNvPr id="14" name="Text 12"/>
          <p:cNvSpPr/>
          <p:nvPr/>
        </p:nvSpPr>
        <p:spPr>
          <a:xfrm>
            <a:off x="3653028" y="2331720"/>
            <a:ext cx="2139696" cy="78638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q̇ = J⁻¹(q)·ν en cada instante</a:t>
            </a:r>
            <a:endParaRPr lang="en-US" sz="1100" dirty="0"/>
          </a:p>
        </p:txBody>
      </p:sp>
      <p:sp>
        <p:nvSpPr>
          <p:cNvPr id="15" name="Text 13"/>
          <p:cNvSpPr/>
          <p:nvPr/>
        </p:nvSpPr>
        <p:spPr>
          <a:xfrm>
            <a:off x="5975604" y="2103120"/>
            <a:ext cx="292608" cy="457200"/>
          </a:xfrm>
          <a:prstGeom prst="rect">
            <a:avLst/>
          </a:prstGeom>
          <a:noFill/>
          <a:ln/>
        </p:spPr>
        <p:txBody>
          <a:bodyPr wrap="square" lIns="0" tIns="0" rIns="0" bIns="0" rtlCol="0" anchor="ctr"/>
          <a:lstStyle/>
          <a:p>
            <a:pPr algn="ctr" indent="0" marL="0">
              <a:buNone/>
            </a:pPr>
            <a:r>
              <a:rPr lang="en-US" sz="1600" b="1" dirty="0">
                <a:solidFill>
                  <a:srgbClr val="1FA355"/>
                </a:solidFill>
              </a:rPr>
              <a:t>→</a:t>
            </a:r>
            <a:endParaRPr lang="en-US" sz="1600" dirty="0"/>
          </a:p>
        </p:txBody>
      </p:sp>
      <p:sp>
        <p:nvSpPr>
          <p:cNvPr id="16" name="Shape 14"/>
          <p:cNvSpPr/>
          <p:nvPr/>
        </p:nvSpPr>
        <p:spPr>
          <a:xfrm>
            <a:off x="6263640" y="1554480"/>
            <a:ext cx="2542032" cy="1691640"/>
          </a:xfrm>
          <a:prstGeom prst="roundRect">
            <a:avLst>
              <a:gd name="adj" fmla="val 4324"/>
            </a:avLst>
          </a:prstGeom>
          <a:solidFill>
            <a:srgbClr val="F2F4FB"/>
          </a:solidFill>
          <a:ln/>
        </p:spPr>
        <p:txBody>
          <a:bodyPr/>
          <a:p/>
        </p:txBody>
      </p:sp>
      <p:sp>
        <p:nvSpPr>
          <p:cNvPr id="17" name="Shape 15"/>
          <p:cNvSpPr/>
          <p:nvPr/>
        </p:nvSpPr>
        <p:spPr>
          <a:xfrm>
            <a:off x="6446520" y="1737360"/>
            <a:ext cx="457200" cy="457200"/>
          </a:xfrm>
          <a:prstGeom prst="ellipse">
            <a:avLst/>
          </a:prstGeom>
          <a:solidFill>
            <a:srgbClr val="2FD26E"/>
          </a:solidFill>
          <a:ln/>
        </p:spPr>
        <p:txBody>
          <a:bodyPr/>
          <a:p/>
        </p:txBody>
      </p:sp>
      <p:sp>
        <p:nvSpPr>
          <p:cNvPr id="18" name="Text 16"/>
          <p:cNvSpPr/>
          <p:nvPr/>
        </p:nvSpPr>
        <p:spPr>
          <a:xfrm>
            <a:off x="644652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7040880" y="1700784"/>
            <a:ext cx="1581912" cy="502920"/>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Integrar</a:t>
            </a:r>
            <a:endParaRPr lang="en-US" sz="1250" dirty="0"/>
          </a:p>
        </p:txBody>
      </p:sp>
      <p:sp>
        <p:nvSpPr>
          <p:cNvPr id="20" name="Text 18"/>
          <p:cNvSpPr/>
          <p:nvPr/>
        </p:nvSpPr>
        <p:spPr>
          <a:xfrm>
            <a:off x="6464808" y="2331720"/>
            <a:ext cx="2139696" cy="78638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q(t+Δt) = q(t) + q̇·Δt</a:t>
            </a:r>
            <a:endParaRPr lang="en-US" sz="1100" dirty="0"/>
          </a:p>
        </p:txBody>
      </p:sp>
      <p:sp>
        <p:nvSpPr>
          <p:cNvPr id="21" name="Text 19"/>
          <p:cNvSpPr/>
          <p:nvPr/>
        </p:nvSpPr>
        <p:spPr>
          <a:xfrm>
            <a:off x="8787384" y="2103120"/>
            <a:ext cx="292608" cy="457200"/>
          </a:xfrm>
          <a:prstGeom prst="rect">
            <a:avLst/>
          </a:prstGeom>
          <a:noFill/>
          <a:ln/>
        </p:spPr>
        <p:txBody>
          <a:bodyPr wrap="square" lIns="0" tIns="0" rIns="0" bIns="0" rtlCol="0" anchor="ctr"/>
          <a:lstStyle/>
          <a:p>
            <a:pPr algn="ctr" indent="0" marL="0">
              <a:buNone/>
            </a:pPr>
            <a:r>
              <a:rPr lang="en-US" sz="1600" b="1" dirty="0">
                <a:solidFill>
                  <a:srgbClr val="1FA355"/>
                </a:solidFill>
              </a:rPr>
              <a:t>→</a:t>
            </a:r>
            <a:endParaRPr lang="en-US" sz="1600" dirty="0"/>
          </a:p>
        </p:txBody>
      </p:sp>
      <p:sp>
        <p:nvSpPr>
          <p:cNvPr id="22" name="Shape 20"/>
          <p:cNvSpPr/>
          <p:nvPr/>
        </p:nvSpPr>
        <p:spPr>
          <a:xfrm>
            <a:off x="9075420" y="1554480"/>
            <a:ext cx="2542032" cy="1691640"/>
          </a:xfrm>
          <a:prstGeom prst="roundRect">
            <a:avLst>
              <a:gd name="adj" fmla="val 4324"/>
            </a:avLst>
          </a:prstGeom>
          <a:solidFill>
            <a:srgbClr val="F2F4FB"/>
          </a:solidFill>
          <a:ln/>
        </p:spPr>
        <p:txBody>
          <a:bodyPr/>
          <a:p/>
        </p:txBody>
      </p:sp>
      <p:sp>
        <p:nvSpPr>
          <p:cNvPr id="23" name="Shape 21"/>
          <p:cNvSpPr/>
          <p:nvPr/>
        </p:nvSpPr>
        <p:spPr>
          <a:xfrm>
            <a:off x="9258300" y="1737360"/>
            <a:ext cx="457200" cy="457200"/>
          </a:xfrm>
          <a:prstGeom prst="ellipse">
            <a:avLst/>
          </a:prstGeom>
          <a:solidFill>
            <a:srgbClr val="2FD26E"/>
          </a:solidFill>
          <a:ln/>
        </p:spPr>
        <p:txBody>
          <a:bodyPr/>
          <a:p/>
        </p:txBody>
      </p:sp>
      <p:sp>
        <p:nvSpPr>
          <p:cNvPr id="24" name="Text 22"/>
          <p:cNvSpPr/>
          <p:nvPr/>
        </p:nvSpPr>
        <p:spPr>
          <a:xfrm>
            <a:off x="9258300" y="173736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9852660" y="1700784"/>
            <a:ext cx="1581912" cy="502920"/>
          </a:xfrm>
          <a:prstGeom prst="rect">
            <a:avLst/>
          </a:prstGeom>
          <a:noFill/>
          <a:ln/>
        </p:spPr>
        <p:txBody>
          <a:bodyPr wrap="square" lIns="0" tIns="0" rIns="0" bIns="0" rtlCol="0" anchor="ctr"/>
          <a:lstStyle/>
          <a:p>
            <a:pPr indent="0" marL="0">
              <a:buNone/>
            </a:pPr>
            <a:r>
              <a:rPr lang="en-US" sz="1250" b="1" dirty="0">
                <a:solidFill>
                  <a:srgbClr val="1B2A80"/>
                </a:solidFill>
                <a:latin typeface="Calibri" pitchFamily="34" charset="0"/>
                <a:ea typeface="Calibri" pitchFamily="34" charset="-122"/>
                <a:cs typeface="Calibri" pitchFamily="34" charset="-120"/>
              </a:rPr>
              <a:t>Repetir</a:t>
            </a:r>
            <a:endParaRPr lang="en-US" sz="1250" dirty="0"/>
          </a:p>
        </p:txBody>
      </p:sp>
      <p:sp>
        <p:nvSpPr>
          <p:cNvPr id="26" name="Text 24"/>
          <p:cNvSpPr/>
          <p:nvPr/>
        </p:nvSpPr>
        <p:spPr>
          <a:xfrm>
            <a:off x="9276588" y="2331720"/>
            <a:ext cx="2139696" cy="786384"/>
          </a:xfrm>
          <a:prstGeom prst="rect">
            <a:avLst/>
          </a:prstGeom>
          <a:noFill/>
          <a:ln/>
        </p:spPr>
        <p:txBody>
          <a:bodyPr wrap="square" lIns="0" tIns="0" rIns="0" bIns="0" rtlCol="0" anchor="ctr"/>
          <a:lstStyle/>
          <a:p>
            <a:pPr indent="0" marL="0">
              <a:buNone/>
            </a:pPr>
            <a:r>
              <a:rPr lang="en-US" sz="1100" dirty="0">
                <a:solidFill>
                  <a:srgbClr val="1A1A2E"/>
                </a:solidFill>
                <a:latin typeface="Calibri" pitchFamily="34" charset="0"/>
                <a:ea typeface="Calibri" pitchFamily="34" charset="-122"/>
                <a:cs typeface="Calibri" pitchFamily="34" charset="-120"/>
              </a:rPr>
              <a:t>J(q) cambia con la configuración: recalcular en cada paso</a:t>
            </a:r>
            <a:endParaRPr lang="en-US" sz="1100" dirty="0"/>
          </a:p>
        </p:txBody>
      </p:sp>
      <p:sp>
        <p:nvSpPr>
          <p:cNvPr id="27" name="Shape 25"/>
          <p:cNvSpPr/>
          <p:nvPr/>
        </p:nvSpPr>
        <p:spPr>
          <a:xfrm>
            <a:off x="640080" y="3566160"/>
            <a:ext cx="5394960" cy="2468880"/>
          </a:xfrm>
          <a:prstGeom prst="roundRect">
            <a:avLst>
              <a:gd name="adj" fmla="val 2963"/>
            </a:avLst>
          </a:prstGeom>
          <a:solidFill>
            <a:srgbClr val="F2F4FB"/>
          </a:solidFill>
          <a:ln/>
        </p:spPr>
        <p:txBody>
          <a:bodyPr/>
          <a:p/>
        </p:txBody>
      </p:sp>
      <p:sp>
        <p:nvSpPr>
          <p:cNvPr id="28" name="Text 26"/>
          <p:cNvSpPr/>
          <p:nvPr/>
        </p:nvSpPr>
        <p:spPr>
          <a:xfrm>
            <a:off x="841248" y="3712464"/>
            <a:ext cx="49926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Por qué importa</a:t>
            </a:r>
            <a:endParaRPr lang="en-US" sz="1500" dirty="0"/>
          </a:p>
        </p:txBody>
      </p:sp>
      <p:sp>
        <p:nvSpPr>
          <p:cNvPr id="29" name="Text 27"/>
          <p:cNvSpPr/>
          <p:nvPr/>
        </p:nvSpPr>
        <p:spPr>
          <a:xfrm>
            <a:off x="841248" y="4206240"/>
            <a:ext cx="4992624" cy="17007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«La esencia del control de movimiento de velocidad resuelta, un algoritmo simple y elegante que genera movimiento del efector a velocidad constante sin requerir cinemática inversa» (Corke, p. 313).</a:t>
            </a:r>
            <a:endParaRPr lang="en-US" sz="1250" dirty="0"/>
          </a:p>
        </p:txBody>
      </p:sp>
      <p:sp>
        <p:nvSpPr>
          <p:cNvPr id="30" name="Shape 28"/>
          <p:cNvSpPr/>
          <p:nvPr/>
        </p:nvSpPr>
        <p:spPr>
          <a:xfrm>
            <a:off x="6263640" y="3566160"/>
            <a:ext cx="5257800" cy="2468880"/>
          </a:xfrm>
          <a:prstGeom prst="roundRect">
            <a:avLst>
              <a:gd name="adj" fmla="val 2963"/>
            </a:avLst>
          </a:prstGeom>
          <a:solidFill>
            <a:srgbClr val="E3F7EC"/>
          </a:solidFill>
          <a:ln/>
        </p:spPr>
        <p:txBody>
          <a:bodyPr/>
          <a:p/>
        </p:txBody>
      </p:sp>
      <p:sp>
        <p:nvSpPr>
          <p:cNvPr id="31" name="Text 29"/>
          <p:cNvSpPr/>
          <p:nvPr/>
        </p:nvSpPr>
        <p:spPr>
          <a:xfrm>
            <a:off x="6464808" y="3712464"/>
            <a:ext cx="485546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Letra pequeña</a:t>
            </a:r>
            <a:endParaRPr lang="en-US" sz="1500" dirty="0"/>
          </a:p>
        </p:txBody>
      </p:sp>
      <p:sp>
        <p:nvSpPr>
          <p:cNvPr id="32" name="Text 30"/>
          <p:cNvSpPr/>
          <p:nvPr/>
        </p:nvSpPr>
        <p:spPr>
          <a:xfrm>
            <a:off x="6464808" y="4206240"/>
            <a:ext cx="4855464" cy="17007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La integración en lazo abierto deriva: se corrige cerrando el lazo con la pose real. Y el algoritmo exige J invertible, qué pasa cuando no lo es se responde en S18.</a:t>
            </a:r>
            <a:endParaRPr lang="en-US" sz="1250" dirty="0"/>
          </a:p>
        </p:txBody>
      </p:sp>
      <p:sp>
        <p:nvSpPr>
          <p:cNvPr id="34" name="Text 31"/>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Corke, 2023, pp. 313-314</a:t>
            </a:r>
            <a:endParaRPr lang="en-US" sz="10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S18</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Singularidades y manipulabilidad</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Pérdida de rango · casos clásicos del 6R · elipsoide · medida de Yoshikawa</a:t>
            </a:r>
            <a:endParaRPr lang="en-US" sz="16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S18 · GEOMETRÍA DEL MOVIMIENTO POSIBLE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Singularidades y elipsoide de manipulabilidad</a:t>
            </a:r>
            <a:endParaRPr lang="en-US" sz="3000" dirty="0"/>
          </a:p>
        </p:txBody>
      </p:sp>
      <p:sp>
        <p:nvSpPr>
          <p:cNvPr id="4" name="Text 2"/>
          <p:cNvSpPr/>
          <p:nvPr/>
        </p:nvSpPr>
        <p:spPr>
          <a:xfrm>
            <a:off x="640080" y="1463040"/>
            <a:ext cx="6309360" cy="4846320"/>
          </a:xfrm>
          <a:prstGeom prst="rect">
            <a:avLst/>
          </a:prstGeom>
          <a:noFill/>
          <a:ln/>
        </p:spPr>
        <p:txBody>
          <a:bodyPr wrap="square" lIns="0" tIns="0" rIns="0" bIns="0" rtlCol="0" anchor="t"/>
          <a:lstStyle/>
          <a:p>
            <a:pPr indent="0" marL="0">
              <a:spcAft>
                <a:spcPts val="400"/>
              </a:spcAft>
              <a:buNone/>
            </a:pPr>
            <a:r>
              <a:rPr lang="en-US" sz="1400" b="1" dirty="0">
                <a:solidFill>
                  <a:srgbClr val="1B2A80"/>
                </a:solidFill>
                <a:latin typeface="Calibri" pitchFamily="34" charset="0"/>
                <a:ea typeface="Calibri" pitchFamily="34" charset="-122"/>
                <a:cs typeface="Calibri" pitchFamily="34" charset="-120"/>
              </a:rPr>
              <a:t>Singularidad cinemática</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Postura en la que el efector «pierde la capacidad de moverse instantáneamente en una o más direcciones»: J(q) deja de tener rango máximo (Lynch y Park, p. 191).</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No depende del marco elegido: es un hecho del robot, no de la descripción.</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Casos clásicos 6R: dos ejes rotativos colineales (muñeca con q4 = 0), tres ejes paralelos coplanarios (codo estirado), cuatro ejes concurrentes.</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En la práctica: cerca de la singularidad, velocidades cartesianas modestas exigen velocidades articulares enormes; los controladores industriales frenan o abortan.</a:t>
            </a:r>
            <a:endParaRPr lang="en-US" sz="1400" dirty="0"/>
          </a:p>
        </p:txBody>
      </p:sp>
      <p:sp>
        <p:nvSpPr>
          <p:cNvPr id="5" name="Shape 3"/>
          <p:cNvSpPr/>
          <p:nvPr/>
        </p:nvSpPr>
        <p:spPr>
          <a:xfrm>
            <a:off x="7223760" y="1463040"/>
            <a:ext cx="4297680" cy="2651760"/>
          </a:xfrm>
          <a:prstGeom prst="roundRect">
            <a:avLst>
              <a:gd name="adj" fmla="val 2759"/>
            </a:avLst>
          </a:prstGeom>
          <a:solidFill>
            <a:srgbClr val="F2F4FB"/>
          </a:solidFill>
          <a:ln/>
        </p:spPr>
        <p:txBody>
          <a:bodyPr/>
          <a:p/>
        </p:txBody>
      </p:sp>
      <p:sp>
        <p:nvSpPr>
          <p:cNvPr id="6" name="Text 4"/>
          <p:cNvSpPr/>
          <p:nvPr/>
        </p:nvSpPr>
        <p:spPr>
          <a:xfrm>
            <a:off x="7424928" y="160934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Elipsoide de manipulabilidad</a:t>
            </a:r>
            <a:endParaRPr lang="en-US" sz="1500" dirty="0"/>
          </a:p>
        </p:txBody>
      </p:sp>
      <p:sp>
        <p:nvSpPr>
          <p:cNvPr id="7" name="Text 5"/>
          <p:cNvSpPr/>
          <p:nvPr/>
        </p:nvSpPr>
        <p:spPr>
          <a:xfrm>
            <a:off x="7424928" y="2103120"/>
            <a:ext cx="3895344" cy="188366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La esfera unidad de velocidades articulares, mapeada por J, se convierte en un elipsoide de velocidades del efector. Casi esfera → postura isótropa; radios dispares → cerca de singular; en la singularidad «colapsa a un segmento».</a:t>
            </a:r>
            <a:endParaRPr lang="en-US" sz="1200" dirty="0"/>
          </a:p>
        </p:txBody>
      </p:sp>
      <p:sp>
        <p:nvSpPr>
          <p:cNvPr id="8" name="Shape 6"/>
          <p:cNvSpPr/>
          <p:nvPr/>
        </p:nvSpPr>
        <p:spPr>
          <a:xfrm>
            <a:off x="7223760" y="4297680"/>
            <a:ext cx="4297680" cy="1783080"/>
          </a:xfrm>
          <a:prstGeom prst="roundRect">
            <a:avLst>
              <a:gd name="adj" fmla="val 4103"/>
            </a:avLst>
          </a:prstGeom>
          <a:solidFill>
            <a:srgbClr val="E3F7EC"/>
          </a:solidFill>
          <a:ln/>
        </p:spPr>
        <p:txBody>
          <a:bodyPr/>
          <a:p/>
        </p:txBody>
      </p:sp>
      <p:sp>
        <p:nvSpPr>
          <p:cNvPr id="9" name="Text 7"/>
          <p:cNvSpPr/>
          <p:nvPr/>
        </p:nvSpPr>
        <p:spPr>
          <a:xfrm>
            <a:off x="7424928" y="444398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Medida de Yoshikawa</a:t>
            </a:r>
            <a:endParaRPr lang="en-US" sz="1500" dirty="0"/>
          </a:p>
        </p:txBody>
      </p:sp>
      <p:sp>
        <p:nvSpPr>
          <p:cNvPr id="10" name="Text 8"/>
          <p:cNvSpPr/>
          <p:nvPr/>
        </p:nvSpPr>
        <p:spPr>
          <a:xfrm>
            <a:off x="7424928" y="4937760"/>
            <a:ext cx="3895344" cy="1014984"/>
          </a:xfrm>
          <a:prstGeom prst="rect">
            <a:avLst/>
          </a:prstGeom>
          <a:noFill/>
          <a:ln/>
        </p:spPr>
        <p:txBody>
          <a:bodyPr wrap="square" lIns="0" tIns="0" rIns="0" bIns="0" rtlCol="0" anchor="ctr"/>
          <a:lstStyle/>
          <a:p>
            <a:pPr indent="0" marL="0">
              <a:buNone/>
            </a:pPr>
            <a:endParaRPr lang="en-US" sz="1100" dirty="0"/>
          </a:p>
        </p:txBody>
      </p:sp>
      <p:pic>
        <p:nvPicPr>
          <p:cNvPr id="11" name="Image 0" descr="/home/claude/work/curso_82514/media/eq/yoshikawa.png">    </p:cNvPr>
          <p:cNvPicPr>
            <a:picLocks noChangeAspect="1"/>
          </p:cNvPicPr>
          <p:nvPr/>
        </p:nvPicPr>
        <p:blipFill>
          <a:blip r:embed="rId1"/>
          <a:stretch>
            <a:fillRect/>
          </a:stretch>
        </p:blipFill>
        <p:spPr>
          <a:xfrm>
            <a:off x="7680960" y="4882896"/>
            <a:ext cx="3383280" cy="370432"/>
          </a:xfrm>
          <a:prstGeom prst="rect">
            <a:avLst/>
          </a:prstGeom>
        </p:spPr>
      </p:pic>
      <p:sp>
        <p:nvSpPr>
          <p:cNvPr id="12" name="Text 9"/>
          <p:cNvSpPr/>
          <p:nvPr/>
        </p:nvSpPr>
        <p:spPr>
          <a:xfrm>
            <a:off x="7424928" y="5522976"/>
            <a:ext cx="3895344" cy="502920"/>
          </a:xfrm>
          <a:prstGeom prst="rect">
            <a:avLst/>
          </a:prstGeom>
          <a:noFill/>
          <a:ln/>
        </p:spPr>
        <p:txBody>
          <a:bodyPr wrap="square" lIns="0" tIns="0" rIns="0" bIns="0" rtlCol="0" anchor="ctr"/>
          <a:lstStyle/>
          <a:p>
            <a:pPr algn="ctr" indent="0" marL="0">
              <a:buNone/>
            </a:pPr>
            <a:r>
              <a:rPr lang="en-US" sz="1050" dirty="0">
                <a:solidFill>
                  <a:srgbClr val="1A1A2E"/>
                </a:solidFill>
                <a:latin typeface="Calibri" pitchFamily="34" charset="0"/>
                <a:ea typeface="Calibri" pitchFamily="34" charset="-122"/>
                <a:cs typeface="Calibri" pitchFamily="34" charset="-120"/>
              </a:rPr>
              <a:t>Proporcional al volumen del elipsoide. Aviso: mide volumen, no isotropía.</a:t>
            </a:r>
            <a:endParaRPr lang="en-US" sz="1050" dirty="0"/>
          </a:p>
        </p:txBody>
      </p:sp>
      <p:sp>
        <p:nvSpPr>
          <p:cNvPr id="14" name="Text 10"/>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Lynch y Park, 2017, pp. 173-174 y 191-195 · Corke, 2023, pp. 316-319 y 328</a:t>
            </a:r>
            <a:endParaRPr lang="en-US" sz="10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80"/>
        </a:solidFill>
      </p:bgPr>
    </p:bg>
    <p:spTree>
      <p:nvGrpSpPr>
        <p:cNvPr id="1" name=""/>
        <p:cNvGrpSpPr/>
        <p:nvPr/>
      </p:nvGrpSpPr>
      <p:grpSpPr>
        <a:xfrm>
          <a:off x="0" y="0"/>
          <a:ext cx="0" cy="0"/>
          <a:chOff x="0" y="0"/>
          <a:chExt cx="0" cy="0"/>
        </a:xfrm>
      </p:grpSpPr>
      <p:sp>
        <p:nvSpPr>
          <p:cNvPr id="2" name="Shape 0"/>
          <p:cNvSpPr/>
          <p:nvPr/>
        </p:nvSpPr>
        <p:spPr>
          <a:xfrm>
            <a:off x="-18288" y="2834640"/>
            <a:ext cx="5852160" cy="4041648"/>
          </a:xfrm>
          <a:prstGeom prst="rtTriangle">
            <a:avLst/>
          </a:prstGeom>
          <a:solidFill>
            <a:srgbClr val="2E3FA3"/>
          </a:solidFill>
          <a:ln/>
        </p:spPr>
        <p:txBody>
          <a:bodyPr/>
          <a:p/>
        </p:txBody>
      </p:sp>
      <p:sp>
        <p:nvSpPr>
          <p:cNvPr id="3" name="Shape 1"/>
          <p:cNvSpPr/>
          <p:nvPr/>
        </p:nvSpPr>
        <p:spPr>
          <a:xfrm>
            <a:off x="-18288" y="4846320"/>
            <a:ext cx="2926080" cy="2029968"/>
          </a:xfrm>
          <a:prstGeom prst="rtTriangle">
            <a:avLst/>
          </a:prstGeom>
          <a:solidFill>
            <a:srgbClr val="2FD26E"/>
          </a:solidFill>
          <a:ln/>
        </p:spPr>
        <p:txBody>
          <a:bodyPr/>
          <a:p/>
        </p:txBody>
      </p:sp>
      <p:sp>
        <p:nvSpPr>
          <p:cNvPr id="4" name="Shape 2"/>
          <p:cNvSpPr/>
          <p:nvPr/>
        </p:nvSpPr>
        <p:spPr>
          <a:xfrm>
            <a:off x="685800" y="1051560"/>
            <a:ext cx="1051560" cy="1051560"/>
          </a:xfrm>
          <a:prstGeom prst="ellipse">
            <a:avLst/>
          </a:prstGeom>
          <a:solidFill>
            <a:srgbClr val="2FD26E"/>
          </a:solidFill>
          <a:ln/>
        </p:spPr>
        <p:txBody>
          <a:bodyPr/>
          <a:p/>
        </p:txBody>
      </p:sp>
      <p:sp>
        <p:nvSpPr>
          <p:cNvPr id="5" name="Text 3"/>
          <p:cNvSpPr/>
          <p:nvPr/>
        </p:nvSpPr>
        <p:spPr>
          <a:xfrm>
            <a:off x="685800" y="1051560"/>
            <a:ext cx="1051560" cy="1051560"/>
          </a:xfrm>
          <a:prstGeom prst="rect">
            <a:avLst/>
          </a:prstGeom>
          <a:noFill/>
          <a:ln/>
        </p:spPr>
        <p:txBody>
          <a:bodyPr wrap="square" lIns="0" tIns="0" rIns="0" bIns="0" rtlCol="0" anchor="ctr"/>
          <a:lstStyle/>
          <a:p>
            <a:pPr algn="ctr" indent="0" marL="0">
              <a:buNone/>
            </a:pPr>
            <a:r>
              <a:rPr lang="en-US" sz="3000" b="1" dirty="0">
                <a:solidFill>
                  <a:srgbClr val="1B2A80"/>
                </a:solidFill>
                <a:latin typeface="Calibri" pitchFamily="34" charset="0"/>
                <a:ea typeface="Calibri" pitchFamily="34" charset="-122"/>
                <a:cs typeface="Calibri" pitchFamily="34" charset="-120"/>
              </a:rPr>
              <a:t>S19</a:t>
            </a:r>
            <a:endParaRPr lang="en-US" sz="3000" dirty="0"/>
          </a:p>
        </p:txBody>
      </p:sp>
      <p:sp>
        <p:nvSpPr>
          <p:cNvPr id="6" name="Text 4"/>
          <p:cNvSpPr/>
          <p:nvPr/>
        </p:nvSpPr>
        <p:spPr>
          <a:xfrm>
            <a:off x="2011680" y="914400"/>
            <a:ext cx="9418320" cy="137160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Estática, trayectorias y cierre</a:t>
            </a:r>
            <a:endParaRPr lang="en-US" sz="3400" dirty="0"/>
          </a:p>
        </p:txBody>
      </p:sp>
      <p:sp>
        <p:nvSpPr>
          <p:cNvPr id="7" name="Text 5"/>
          <p:cNvSpPr/>
          <p:nvPr/>
        </p:nvSpPr>
        <p:spPr>
          <a:xfrm>
            <a:off x="2057400" y="2286000"/>
            <a:ext cx="8961120" cy="822960"/>
          </a:xfrm>
          <a:prstGeom prst="rect">
            <a:avLst/>
          </a:prstGeom>
          <a:noFill/>
          <a:ln/>
        </p:spPr>
        <p:txBody>
          <a:bodyPr wrap="square" lIns="0" tIns="0" rIns="0" bIns="0" rtlCol="0" anchor="ctr"/>
          <a:lstStyle/>
          <a:p>
            <a:pPr indent="0" marL="0">
              <a:buNone/>
            </a:pPr>
            <a:r>
              <a:rPr lang="en-US" sz="1600" dirty="0">
                <a:solidFill>
                  <a:srgbClr val="C9D2F5"/>
                </a:solidFill>
                <a:latin typeface="Calibri" pitchFamily="34" charset="0"/>
                <a:ea typeface="Calibri" pitchFamily="34" charset="-122"/>
                <a:cs typeface="Calibri" pitchFamily="34" charset="-120"/>
              </a:rPr>
              <a:t>τ = Jᵀ·F · dualidad fuerza-velocidad · leyes temporales · repaso y cuestionario B4</a:t>
            </a:r>
            <a:endParaRPr lang="en-US" sz="1600" dirty="0"/>
          </a:p>
        </p:txBody>
      </p:sp>
      <p:pic>
        <p:nvPicPr>
          <p:cNvPr id="8" name="Image 0" descr="/home/claude/work/curso_82514/media/fotos/b4_paletizado.png">    </p:cNvPr>
          <p:cNvPicPr>
            <a:picLocks noChangeAspect="1"/>
          </p:cNvPicPr>
          <p:nvPr/>
        </p:nvPicPr>
        <p:blipFill>
          <a:blip r:embed="rId1"/>
          <a:stretch>
            <a:fillRect/>
          </a:stretch>
        </p:blipFill>
        <p:spPr>
          <a:xfrm>
            <a:off x="7818120" y="3216443"/>
            <a:ext cx="3749040" cy="2564810"/>
          </a:xfrm>
          <a:prstGeom prst="rect">
            <a:avLst/>
          </a:prstGeom>
        </p:spPr>
      </p:pic>
      <p:sp>
        <p:nvSpPr>
          <p:cNvPr id="9" name="Shape 6"/>
          <p:cNvSpPr/>
          <p:nvPr/>
        </p:nvSpPr>
        <p:spPr>
          <a:xfrm>
            <a:off x="7818120" y="5781253"/>
            <a:ext cx="3749040" cy="54864"/>
          </a:xfrm>
          <a:prstGeom prst="rect">
            <a:avLst/>
          </a:prstGeom>
          <a:solidFill>
            <a:srgbClr val="2FD26E"/>
          </a:solidFill>
          <a:ln/>
        </p:spPr>
        <p:txBody>
          <a:bodyPr/>
          <a:p/>
        </p:txBody>
      </p:sp>
      <p:sp>
        <p:nvSpPr>
          <p:cNvPr id="10" name="Text 7"/>
          <p:cNvSpPr/>
          <p:nvPr/>
        </p:nvSpPr>
        <p:spPr>
          <a:xfrm>
            <a:off x="7589520" y="5909269"/>
            <a:ext cx="4160520" cy="502920"/>
          </a:xfrm>
          <a:prstGeom prst="rect">
            <a:avLst/>
          </a:prstGeom>
          <a:noFill/>
          <a:ln/>
        </p:spPr>
        <p:txBody>
          <a:bodyPr wrap="square" lIns="0" tIns="0" rIns="0" bIns="0" rtlCol="0" anchor="ctr"/>
          <a:lstStyle/>
          <a:p>
            <a:pPr algn="ctr" indent="0" marL="0">
              <a:buNone/>
            </a:pPr>
            <a:r>
              <a:rPr lang="en-US" sz="1000" dirty="0">
                <a:solidFill>
                  <a:srgbClr val="C9D2F5"/>
                </a:solidFill>
                <a:latin typeface="Calibri" pitchFamily="34" charset="0"/>
                <a:ea typeface="Calibri" pitchFamily="34" charset="-122"/>
                <a:cs typeface="Calibri" pitchFamily="34" charset="-120"/>
              </a:rPr>
              <a:t>Paletizado: trayectorias punto a punto con carga</a:t>
            </a:r>
            <a:endParaRPr lang="en-US" sz="1000" dirty="0"/>
          </a:p>
        </p:txBody>
      </p:sp>
      <p:sp>
        <p:nvSpPr>
          <p:cNvPr id="11" name="Text 8"/>
          <p:cNvSpPr/>
          <p:nvPr/>
        </p:nvSpPr>
        <p:spPr>
          <a:xfrm>
            <a:off x="6675120" y="6528816"/>
            <a:ext cx="5074920" cy="228600"/>
          </a:xfrm>
          <a:prstGeom prst="rect">
            <a:avLst/>
          </a:prstGeom>
          <a:noFill/>
          <a:ln/>
        </p:spPr>
        <p:txBody>
          <a:bodyPr wrap="square" lIns="0" tIns="0" rIns="0" bIns="0" rtlCol="0" anchor="ctr"/>
          <a:lstStyle/>
          <a:p>
            <a:pPr algn="r" indent="0" marL="0">
              <a:buNone/>
            </a:pPr>
            <a:r>
              <a:rPr lang="en-US" sz="800" dirty="0">
                <a:solidFill>
                  <a:srgbClr val="8A97D8"/>
                </a:solidFill>
                <a:latin typeface="Calibri" pitchFamily="34" charset="0"/>
                <a:ea typeface="Calibri" pitchFamily="34" charset="-122"/>
                <a:cs typeface="Calibri" pitchFamily="34" charset="-120"/>
              </a:rPr>
              <a:t>Foto: CollaborativePalletizer CC BY-SA 4.0 · Wikimedia Commons</a:t>
            </a:r>
            <a:endParaRPr lang="en-US" sz="8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S19 · FUERZAS SIN MOVIMIENTO</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Estática: τ = Jᵀ·F y la dualidad</a:t>
            </a:r>
            <a:endParaRPr lang="en-US" sz="3000" dirty="0"/>
          </a:p>
        </p:txBody>
      </p:sp>
      <p:sp>
        <p:nvSpPr>
          <p:cNvPr id="4" name="Text 2"/>
          <p:cNvSpPr/>
          <p:nvPr/>
        </p:nvSpPr>
        <p:spPr>
          <a:xfrm>
            <a:off x="640080" y="1463040"/>
            <a:ext cx="6309360" cy="1463040"/>
          </a:xfrm>
          <a:prstGeom prst="rect">
            <a:avLst/>
          </a:prstGeom>
          <a:noFill/>
          <a:ln/>
        </p:spPr>
        <p:txBody>
          <a:bodyPr wrap="square" lIns="0" tIns="0" rIns="0" bIns="0" rtlCol="0" anchor="t"/>
          <a:lstStyle/>
          <a:p>
            <a:pPr indent="0" marL="0">
              <a:spcAft>
                <a:spcPts val="400"/>
              </a:spcAft>
              <a:buNone/>
            </a:pPr>
            <a:r>
              <a:rPr lang="en-US" sz="1400" b="1" dirty="0">
                <a:solidFill>
                  <a:srgbClr val="1B2A80"/>
                </a:solidFill>
                <a:latin typeface="Calibri" pitchFamily="34" charset="0"/>
                <a:ea typeface="Calibri" pitchFamily="34" charset="-122"/>
                <a:cs typeface="Calibri" pitchFamily="34" charset="-120"/>
              </a:rPr>
              <a:t>Derivación por conservación de potencia</a:t>
            </a:r>
            <a:endParaRPr lang="en-US" sz="14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La potencia en el efector iguala la articular; exigiendo validez para todo q̇ (Lynch y Park, p. 175):</a:t>
            </a:r>
            <a:endParaRPr lang="en-US" sz="1400" dirty="0"/>
          </a:p>
        </p:txBody>
      </p:sp>
      <p:pic>
        <p:nvPicPr>
          <p:cNvPr id="5" name="Image 0" descr="/home/claude/work/curso_82514/media/eq/est_deriv.png">    </p:cNvPr>
          <p:cNvPicPr>
            <a:picLocks noChangeAspect="1"/>
          </p:cNvPicPr>
          <p:nvPr/>
        </p:nvPicPr>
        <p:blipFill>
          <a:blip r:embed="rId1"/>
          <a:stretch>
            <a:fillRect/>
          </a:stretch>
        </p:blipFill>
        <p:spPr>
          <a:xfrm>
            <a:off x="777240" y="2999232"/>
            <a:ext cx="6035040" cy="514935"/>
          </a:xfrm>
          <a:prstGeom prst="rect">
            <a:avLst/>
          </a:prstGeom>
        </p:spPr>
      </p:pic>
      <p:sp>
        <p:nvSpPr>
          <p:cNvPr id="6" name="Text 3"/>
          <p:cNvSpPr/>
          <p:nvPr/>
        </p:nvSpPr>
        <p:spPr>
          <a:xfrm>
            <a:off x="640080" y="3840480"/>
            <a:ext cx="6309360" cy="22860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Versión 6D con torsores (wrenches): w = (fx, fy, fz, mx, my, mz) y Q = Jᵀ(q)·w.</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«La traspuesta del jacobiano nunca puede ser singular» (Corke, p. 325): la estática funciona incluso donde la cinemática diferencial falla.</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Aplicación exprés: par de hombro para sostener 10 N con el brazo extendido → dimensionado de actuadores de B3.</a:t>
            </a:r>
            <a:endParaRPr lang="en-US" sz="1300" dirty="0"/>
          </a:p>
        </p:txBody>
      </p:sp>
      <p:sp>
        <p:nvSpPr>
          <p:cNvPr id="7" name="Shape 4"/>
          <p:cNvSpPr/>
          <p:nvPr/>
        </p:nvSpPr>
        <p:spPr>
          <a:xfrm>
            <a:off x="7223760" y="1463040"/>
            <a:ext cx="4297680" cy="2651760"/>
          </a:xfrm>
          <a:prstGeom prst="roundRect">
            <a:avLst>
              <a:gd name="adj" fmla="val 2759"/>
            </a:avLst>
          </a:prstGeom>
          <a:solidFill>
            <a:srgbClr val="F2F4FB"/>
          </a:solidFill>
          <a:ln/>
        </p:spPr>
        <p:txBody>
          <a:bodyPr/>
          <a:p/>
        </p:txBody>
      </p:sp>
      <p:sp>
        <p:nvSpPr>
          <p:cNvPr id="8" name="Text 5"/>
          <p:cNvSpPr/>
          <p:nvPr/>
        </p:nvSpPr>
        <p:spPr>
          <a:xfrm>
            <a:off x="7424928" y="160934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Dualidad fuerza-velocidad</a:t>
            </a:r>
            <a:endParaRPr lang="en-US" sz="1500" dirty="0"/>
          </a:p>
        </p:txBody>
      </p:sp>
      <p:sp>
        <p:nvSpPr>
          <p:cNvPr id="9" name="Text 6"/>
          <p:cNvSpPr/>
          <p:nvPr/>
        </p:nvSpPr>
        <p:spPr>
          <a:xfrm>
            <a:off x="7424928" y="2103120"/>
            <a:ext cx="3895344" cy="188366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El elipsoide de fuerza tiene los mismos ejes que el de velocidad y semiejes recíprocos: donde es fácil generar velocidad es difícil generar fuerza, y viceversa.</a:t>
            </a:r>
            <a:endParaRPr lang="en-US" sz="1250" dirty="0"/>
          </a:p>
        </p:txBody>
      </p:sp>
      <p:sp>
        <p:nvSpPr>
          <p:cNvPr id="10" name="Shape 7"/>
          <p:cNvSpPr/>
          <p:nvPr/>
        </p:nvSpPr>
        <p:spPr>
          <a:xfrm>
            <a:off x="7223760" y="4297680"/>
            <a:ext cx="4297680" cy="1783080"/>
          </a:xfrm>
          <a:prstGeom prst="roundRect">
            <a:avLst>
              <a:gd name="adj" fmla="val 4103"/>
            </a:avLst>
          </a:prstGeom>
          <a:solidFill>
            <a:srgbClr val="E3F7EC"/>
          </a:solidFill>
          <a:ln/>
        </p:spPr>
        <p:txBody>
          <a:bodyPr/>
          <a:p/>
        </p:txBody>
      </p:sp>
      <p:sp>
        <p:nvSpPr>
          <p:cNvPr id="11" name="Text 8"/>
          <p:cNvSpPr/>
          <p:nvPr/>
        </p:nvSpPr>
        <p:spPr>
          <a:xfrm>
            <a:off x="7424928" y="4443984"/>
            <a:ext cx="389534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El ejemplo somático</a:t>
            </a:r>
            <a:endParaRPr lang="en-US" sz="1500" dirty="0"/>
          </a:p>
        </p:txBody>
      </p:sp>
      <p:sp>
        <p:nvSpPr>
          <p:cNvPr id="12" name="Text 9"/>
          <p:cNvSpPr/>
          <p:nvPr/>
        </p:nvSpPr>
        <p:spPr>
          <a:xfrm>
            <a:off x="7424928" y="4937760"/>
            <a:ext cx="3895344" cy="1014984"/>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Sostener una maleta pesada con el brazo colgando recto: velocidad nula, fuerza máxima, el brazo humano trabaja en su singularidad.</a:t>
            </a:r>
            <a:endParaRPr lang="en-US" sz="1250" dirty="0"/>
          </a:p>
        </p:txBody>
      </p:sp>
      <p:sp>
        <p:nvSpPr>
          <p:cNvPr id="14" name="Text 10"/>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Lynch y Park, 2017, pp. 174-177 · Corke, 2023, pp. 324-325</a:t>
            </a:r>
            <a:endParaRPr lang="en-US" sz="10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S19 · EJEMPLO EN CLASE</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Ejemplo resuelto: pares estáticos</a:t>
            </a:r>
            <a:endParaRPr lang="en-US" sz="3000" dirty="0"/>
          </a:p>
        </p:txBody>
      </p:sp>
      <p:sp>
        <p:nvSpPr>
          <p:cNvPr id="4" name="Shape 2"/>
          <p:cNvSpPr/>
          <p:nvPr/>
        </p:nvSpPr>
        <p:spPr>
          <a:xfrm>
            <a:off x="640080" y="1444752"/>
            <a:ext cx="10881360" cy="731520"/>
          </a:xfrm>
          <a:prstGeom prst="roundRect">
            <a:avLst>
              <a:gd name="adj" fmla="val 10000"/>
            </a:avLst>
          </a:prstGeom>
          <a:solidFill>
            <a:srgbClr val="E3F7EC"/>
          </a:solidFill>
          <a:ln/>
        </p:spPr>
        <p:txBody>
          <a:bodyPr/>
          <a:p/>
        </p:txBody>
      </p:sp>
      <p:sp>
        <p:nvSpPr>
          <p:cNvPr id="5" name="Text 3"/>
          <p:cNvSpPr/>
          <p:nvPr/>
        </p:nvSpPr>
        <p:spPr>
          <a:xfrm>
            <a:off x="841248" y="1554480"/>
            <a:ext cx="10479024" cy="493776"/>
          </a:xfrm>
          <a:prstGeom prst="rect">
            <a:avLst/>
          </a:prstGeom>
          <a:noFill/>
          <a:ln/>
        </p:spPr>
        <p:txBody>
          <a:bodyPr wrap="square" lIns="0" tIns="0" rIns="0" bIns="0" rtlCol="0" anchor="ctr"/>
          <a:lstStyle/>
          <a:p>
            <a:pPr indent="0" marL="0">
              <a:buNone/>
            </a:pPr>
            <a:r>
              <a:rPr lang="en-US" sz="1250" dirty="0">
                <a:solidFill>
                  <a:srgbClr val="1A1A2E"/>
                </a:solidFill>
                <a:latin typeface="Calibri" pitchFamily="34" charset="0"/>
                <a:ea typeface="Calibri" pitchFamily="34" charset="-122"/>
                <a:cs typeface="Calibri" pitchFamily="34" charset="-120"/>
              </a:rPr>
              <a:t>Enunciado. En la configuración del ejemplo (q₁ = 1,0°, q₂ = 74,5°), el efector debe empujar hacia arriba con F = (0, 10) N. ¿Qué pares soportan las articulaciones?</a:t>
            </a:r>
            <a:endParaRPr lang="en-US" sz="1250" dirty="0"/>
          </a:p>
        </p:txBody>
      </p:sp>
      <p:sp>
        <p:nvSpPr>
          <p:cNvPr id="6" name="Text 4"/>
          <p:cNvSpPr/>
          <p:nvPr/>
        </p:nvSpPr>
        <p:spPr>
          <a:xfrm>
            <a:off x="640080" y="2331720"/>
            <a:ext cx="10881360" cy="50292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1. La estática usa el MISMO jacobiano de S17, traspuesto: no hay que derivar nada nuevo.</a:t>
            </a:r>
            <a:endParaRPr lang="en-US" sz="1300" dirty="0"/>
          </a:p>
        </p:txBody>
      </p:sp>
      <p:pic>
        <p:nvPicPr>
          <p:cNvPr id="7" name="Image 0" descr="/home/claude/work/curso_82514/media/eq/ej_tau.png">    </p:cNvPr>
          <p:cNvPicPr>
            <a:picLocks noChangeAspect="1"/>
          </p:cNvPicPr>
          <p:nvPr/>
        </p:nvPicPr>
        <p:blipFill>
          <a:blip r:embed="rId1"/>
          <a:stretch>
            <a:fillRect/>
          </a:stretch>
        </p:blipFill>
        <p:spPr>
          <a:xfrm>
            <a:off x="2209895" y="2852928"/>
            <a:ext cx="6370130" cy="777240"/>
          </a:xfrm>
          <a:prstGeom prst="rect">
            <a:avLst/>
          </a:prstGeom>
        </p:spPr>
      </p:pic>
      <p:sp>
        <p:nvSpPr>
          <p:cNvPr id="8" name="Text 5"/>
          <p:cNvSpPr/>
          <p:nvPr/>
        </p:nvSpPr>
        <p:spPr>
          <a:xfrm>
            <a:off x="640080" y="3840480"/>
            <a:ext cx="10881360" cy="155448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Paso 2. Lectura: el hombro soporta 4,0 N·m y el codo solo 0,5 N·m, porque en esta postura el segundo eslabón queda casi vertical bajo la fuerza.</a:t>
            </a:r>
            <a:endParaRPr lang="en-US" sz="1300" dirty="0"/>
          </a:p>
          <a:p>
            <a:pPr marL="177800" indent="-1778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Caso límite para dimensionar (B3): con el brazo estirado (q = 0), sostener los mismos 10 N exige τ_hombro = 0,55 · 10 = 5,5 N·m y τ_codo = 0,2 · 10 = 2,0 N·m: el peor caso del catálogo de motores.</a:t>
            </a:r>
            <a:endParaRPr lang="en-US" sz="1300" dirty="0"/>
          </a:p>
        </p:txBody>
      </p:sp>
      <p:sp>
        <p:nvSpPr>
          <p:cNvPr id="9" name="Shape 6"/>
          <p:cNvSpPr/>
          <p:nvPr/>
        </p:nvSpPr>
        <p:spPr>
          <a:xfrm>
            <a:off x="640080" y="5486400"/>
            <a:ext cx="10881360" cy="640080"/>
          </a:xfrm>
          <a:prstGeom prst="roundRect">
            <a:avLst>
              <a:gd name="adj" fmla="val 11429"/>
            </a:avLst>
          </a:prstGeom>
          <a:solidFill>
            <a:srgbClr val="E3F7EC"/>
          </a:solidFill>
          <a:ln/>
        </p:spPr>
        <p:txBody>
          <a:bodyPr/>
          <a:p/>
        </p:txBody>
      </p:sp>
      <p:sp>
        <p:nvSpPr>
          <p:cNvPr id="10" name="Text 7"/>
          <p:cNvSpPr/>
          <p:nvPr/>
        </p:nvSpPr>
        <p:spPr>
          <a:xfrm>
            <a:off x="841248" y="5596128"/>
            <a:ext cx="10479024" cy="40233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La dualidad en una frase: donde el elipsoide de velocidad es corto, el de fuerza es largo. Empujar es barato justo donde moverse es caro.</a:t>
            </a:r>
            <a:endParaRPr lang="en-US" sz="1200" dirty="0"/>
          </a:p>
        </p:txBody>
      </p:sp>
      <p:sp>
        <p:nvSpPr>
          <p:cNvPr id="11" name="Text 8"/>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Misma estructura que la parte D del parcial 1, con otros números · cuaderno 82514_S19</a:t>
            </a:r>
            <a:endParaRPr lang="en-US" sz="100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S19 · DEL PUNTO A AL PUNTO B</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Trayectorias: caminos y leyes temporales</a:t>
            </a:r>
            <a:endParaRPr lang="en-US" sz="3000" dirty="0"/>
          </a:p>
        </p:txBody>
      </p:sp>
      <p:sp>
        <p:nvSpPr>
          <p:cNvPr id="4" name="Shape 2"/>
          <p:cNvSpPr/>
          <p:nvPr/>
        </p:nvSpPr>
        <p:spPr>
          <a:xfrm>
            <a:off x="640080" y="1463040"/>
            <a:ext cx="10881360" cy="731520"/>
          </a:xfrm>
          <a:prstGeom prst="roundRect">
            <a:avLst>
              <a:gd name="adj" fmla="val 10000"/>
            </a:avLst>
          </a:prstGeom>
          <a:solidFill>
            <a:srgbClr val="E3F7EC"/>
          </a:solidFill>
          <a:ln/>
        </p:spPr>
        <p:txBody>
          <a:bodyPr/>
          <a:p/>
        </p:txBody>
      </p:sp>
      <p:sp>
        <p:nvSpPr>
          <p:cNvPr id="5" name="Text 3"/>
          <p:cNvSpPr/>
          <p:nvPr/>
        </p:nvSpPr>
        <p:spPr>
          <a:xfrm>
            <a:off x="841248" y="1572768"/>
            <a:ext cx="10479024" cy="493776"/>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«Una trayectoria consiste en un camino (geometría pura) y una ley temporal (time scaling) que fija los instantes» (Lynch y Park, p. 325); s(t): [0, T] → [0, 1].</a:t>
            </a:r>
            <a:endParaRPr lang="en-US" sz="1200" dirty="0"/>
          </a:p>
        </p:txBody>
      </p:sp>
      <p:sp>
        <p:nvSpPr>
          <p:cNvPr id="6" name="Shape 4"/>
          <p:cNvSpPr/>
          <p:nvPr/>
        </p:nvSpPr>
        <p:spPr>
          <a:xfrm>
            <a:off x="640080" y="2377440"/>
            <a:ext cx="3474720" cy="2331720"/>
          </a:xfrm>
          <a:prstGeom prst="roundRect">
            <a:avLst>
              <a:gd name="adj" fmla="val 3137"/>
            </a:avLst>
          </a:prstGeom>
          <a:solidFill>
            <a:srgbClr val="F2F4FB"/>
          </a:solidFill>
          <a:ln/>
        </p:spPr>
        <p:txBody>
          <a:bodyPr/>
          <a:p/>
        </p:txBody>
      </p:sp>
      <p:sp>
        <p:nvSpPr>
          <p:cNvPr id="7" name="Shape 5"/>
          <p:cNvSpPr/>
          <p:nvPr/>
        </p:nvSpPr>
        <p:spPr>
          <a:xfrm>
            <a:off x="822960" y="2560320"/>
            <a:ext cx="457200" cy="457200"/>
          </a:xfrm>
          <a:prstGeom prst="ellipse">
            <a:avLst/>
          </a:prstGeom>
          <a:solidFill>
            <a:srgbClr val="2FD26E"/>
          </a:solidFill>
          <a:ln/>
        </p:spPr>
        <p:txBody>
          <a:bodyPr/>
          <a:p/>
        </p:txBody>
      </p:sp>
      <p:sp>
        <p:nvSpPr>
          <p:cNvPr id="8" name="Text 6"/>
          <p:cNvSpPr/>
          <p:nvPr/>
        </p:nvSpPr>
        <p:spPr>
          <a:xfrm>
            <a:off x="822960" y="256032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1417320" y="252374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Cúbico</a:t>
            </a:r>
            <a:endParaRPr lang="en-US" sz="1350" dirty="0"/>
          </a:p>
        </p:txBody>
      </p:sp>
      <p:sp>
        <p:nvSpPr>
          <p:cNvPr id="10" name="Text 8"/>
          <p:cNvSpPr/>
          <p:nvPr/>
        </p:nvSpPr>
        <p:spPr>
          <a:xfrm>
            <a:off x="841248" y="3154680"/>
            <a:ext cx="3072384" cy="142646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s(t) = a₀ + a₁·t + a₂·t² + a₃·t³ con velocidad nula en los extremos. Defecto: aceleración discontinua en 0 y T, tirones (jerk infinito).</a:t>
            </a:r>
            <a:endParaRPr lang="en-US" sz="1150" dirty="0"/>
          </a:p>
        </p:txBody>
      </p:sp>
      <p:sp>
        <p:nvSpPr>
          <p:cNvPr id="11" name="Shape 9"/>
          <p:cNvSpPr/>
          <p:nvPr/>
        </p:nvSpPr>
        <p:spPr>
          <a:xfrm>
            <a:off x="4343400" y="2377440"/>
            <a:ext cx="3474720" cy="2331720"/>
          </a:xfrm>
          <a:prstGeom prst="roundRect">
            <a:avLst>
              <a:gd name="adj" fmla="val 3137"/>
            </a:avLst>
          </a:prstGeom>
          <a:solidFill>
            <a:srgbClr val="F2F4FB"/>
          </a:solidFill>
          <a:ln/>
        </p:spPr>
        <p:txBody>
          <a:bodyPr/>
          <a:p/>
        </p:txBody>
      </p:sp>
      <p:sp>
        <p:nvSpPr>
          <p:cNvPr id="12" name="Shape 10"/>
          <p:cNvSpPr/>
          <p:nvPr/>
        </p:nvSpPr>
        <p:spPr>
          <a:xfrm>
            <a:off x="4526280" y="2560320"/>
            <a:ext cx="457200" cy="457200"/>
          </a:xfrm>
          <a:prstGeom prst="ellipse">
            <a:avLst/>
          </a:prstGeom>
          <a:solidFill>
            <a:srgbClr val="2FD26E"/>
          </a:solidFill>
          <a:ln/>
        </p:spPr>
        <p:txBody>
          <a:bodyPr/>
          <a:p/>
        </p:txBody>
      </p:sp>
      <p:sp>
        <p:nvSpPr>
          <p:cNvPr id="13" name="Text 11"/>
          <p:cNvSpPr/>
          <p:nvPr/>
        </p:nvSpPr>
        <p:spPr>
          <a:xfrm>
            <a:off x="4526280" y="256032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5120640" y="252374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Quíntico</a:t>
            </a:r>
            <a:endParaRPr lang="en-US" sz="1350" dirty="0"/>
          </a:p>
        </p:txBody>
      </p:sp>
      <p:sp>
        <p:nvSpPr>
          <p:cNvPr id="15" name="Text 13"/>
          <p:cNvSpPr/>
          <p:nvPr/>
        </p:nvSpPr>
        <p:spPr>
          <a:xfrm>
            <a:off x="4544568" y="3154680"/>
            <a:ext cx="3072384" cy="142646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Seis coeficientes: impone también las aceleraciones de contorno (sistema lineal 6x6). Movimiento más suave; «se usa comúnmente».</a:t>
            </a:r>
            <a:endParaRPr lang="en-US" sz="1150" dirty="0"/>
          </a:p>
        </p:txBody>
      </p:sp>
      <p:sp>
        <p:nvSpPr>
          <p:cNvPr id="16" name="Shape 14"/>
          <p:cNvSpPr/>
          <p:nvPr/>
        </p:nvSpPr>
        <p:spPr>
          <a:xfrm>
            <a:off x="8046720" y="2377440"/>
            <a:ext cx="3474720" cy="2331720"/>
          </a:xfrm>
          <a:prstGeom prst="roundRect">
            <a:avLst>
              <a:gd name="adj" fmla="val 3137"/>
            </a:avLst>
          </a:prstGeom>
          <a:solidFill>
            <a:srgbClr val="F2F4FB"/>
          </a:solidFill>
          <a:ln/>
        </p:spPr>
        <p:txBody>
          <a:bodyPr/>
          <a:p/>
        </p:txBody>
      </p:sp>
      <p:sp>
        <p:nvSpPr>
          <p:cNvPr id="17" name="Shape 15"/>
          <p:cNvSpPr/>
          <p:nvPr/>
        </p:nvSpPr>
        <p:spPr>
          <a:xfrm>
            <a:off x="8229600" y="2560320"/>
            <a:ext cx="457200" cy="457200"/>
          </a:xfrm>
          <a:prstGeom prst="ellipse">
            <a:avLst/>
          </a:prstGeom>
          <a:solidFill>
            <a:srgbClr val="2FD26E"/>
          </a:solidFill>
          <a:ln/>
        </p:spPr>
        <p:txBody>
          <a:bodyPr/>
          <a:p/>
        </p:txBody>
      </p:sp>
      <p:sp>
        <p:nvSpPr>
          <p:cNvPr id="18" name="Text 16"/>
          <p:cNvSpPr/>
          <p:nvPr/>
        </p:nvSpPr>
        <p:spPr>
          <a:xfrm>
            <a:off x="8229600" y="256032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8823960" y="2523744"/>
            <a:ext cx="2514600" cy="502920"/>
          </a:xfrm>
          <a:prstGeom prst="rect">
            <a:avLst/>
          </a:prstGeom>
          <a:noFill/>
          <a:ln/>
        </p:spPr>
        <p:txBody>
          <a:bodyPr wrap="square" lIns="0" tIns="0" rIns="0" bIns="0" rtlCol="0" anchor="ctr"/>
          <a:lstStyle/>
          <a:p>
            <a:pPr indent="0" marL="0">
              <a:buNone/>
            </a:pPr>
            <a:r>
              <a:rPr lang="en-US" sz="1350" b="1" dirty="0">
                <a:solidFill>
                  <a:srgbClr val="1B2A80"/>
                </a:solidFill>
                <a:latin typeface="Calibri" pitchFamily="34" charset="0"/>
                <a:ea typeface="Calibri" pitchFamily="34" charset="-122"/>
                <a:cs typeface="Calibri" pitchFamily="34" charset="-120"/>
              </a:rPr>
              <a:t>Trapezoidal (LSPB)</a:t>
            </a:r>
            <a:endParaRPr lang="en-US" sz="1350" dirty="0"/>
          </a:p>
        </p:txBody>
      </p:sp>
      <p:sp>
        <p:nvSpPr>
          <p:cNvPr id="20" name="Text 18"/>
          <p:cNvSpPr/>
          <p:nvPr/>
        </p:nvSpPr>
        <p:spPr>
          <a:xfrm>
            <a:off x="8247888" y="3154680"/>
            <a:ext cx="3072384" cy="142646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«Muy común en control de motores»: aceleración constante, crucero, deceleración. Aprovecha mejor los límites del accionamiento; si v²/a &gt; 1 degenera en triángulo bang-bang.</a:t>
            </a:r>
            <a:endParaRPr lang="en-US" sz="1150" dirty="0"/>
          </a:p>
        </p:txBody>
      </p:sp>
      <p:sp>
        <p:nvSpPr>
          <p:cNvPr id="21" name="Shape 19"/>
          <p:cNvSpPr/>
          <p:nvPr/>
        </p:nvSpPr>
        <p:spPr>
          <a:xfrm>
            <a:off x="640080" y="4937760"/>
            <a:ext cx="10881360" cy="1143000"/>
          </a:xfrm>
          <a:prstGeom prst="roundRect">
            <a:avLst>
              <a:gd name="adj" fmla="val 6400"/>
            </a:avLst>
          </a:prstGeom>
          <a:solidFill>
            <a:srgbClr val="F2F4FB"/>
          </a:solidFill>
          <a:ln/>
        </p:spPr>
        <p:txBody>
          <a:bodyPr/>
          <a:p/>
        </p:txBody>
      </p:sp>
      <p:sp>
        <p:nvSpPr>
          <p:cNvPr id="22" name="Text 20"/>
          <p:cNvSpPr/>
          <p:nvPr/>
        </p:nvSpPr>
        <p:spPr>
          <a:xfrm>
            <a:off x="841248" y="5084064"/>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Taller: articular frente a cartesiano</a:t>
            </a:r>
            <a:endParaRPr lang="en-US" sz="1500" dirty="0"/>
          </a:p>
        </p:txBody>
      </p:sp>
      <p:sp>
        <p:nvSpPr>
          <p:cNvPr id="23" name="Text 21"/>
          <p:cNvSpPr/>
          <p:nvPr/>
        </p:nvSpPr>
        <p:spPr>
          <a:xfrm>
            <a:off x="841248" y="5577840"/>
            <a:ext cx="10479024" cy="374904"/>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jtraj(q1, q2, t): suave para los motores, la punta no describe recta. ctraj(TE1, TE2, t) + IK: recta perfecta, pero puede exigir mucho a las articulaciones, en el ejemplo del libro m(q) cae casi a cero hacia t = 1.3 s por la singularidad de muñeca.</a:t>
            </a:r>
            <a:endParaRPr lang="en-US" sz="1150" dirty="0"/>
          </a:p>
        </p:txBody>
      </p:sp>
      <p:sp>
        <p:nvSpPr>
          <p:cNvPr id="25" name="Text 22"/>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Lynch y Park, 2017, pp. 325-333 · Corke, 2023, pp. 98-100 y 286-289</a:t>
            </a:r>
            <a:endParaRPr lang="en-US" sz="10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47472"/>
            <a:ext cx="10881360" cy="274320"/>
          </a:xfrm>
          <a:prstGeom prst="rect">
            <a:avLst/>
          </a:prstGeom>
          <a:noFill/>
          <a:ln/>
        </p:spPr>
        <p:txBody>
          <a:bodyPr wrap="square" lIns="0" tIns="0" rIns="0" bIns="0" rtlCol="0" anchor="ctr"/>
          <a:lstStyle/>
          <a:p>
            <a:pPr indent="0" marL="0">
              <a:buNone/>
            </a:pPr>
            <a:r>
              <a:rPr lang="en-US" sz="1200" b="1" spc="200" kern="0" dirty="0">
                <a:solidFill>
                  <a:srgbClr val="1FA355"/>
                </a:solidFill>
                <a:latin typeface="Calibri" pitchFamily="34" charset="0"/>
                <a:ea typeface="Calibri" pitchFamily="34" charset="-122"/>
                <a:cs typeface="Calibri" pitchFamily="34" charset="-120"/>
              </a:rPr>
              <a:t>S19 · REPASO Y CUESTIONARIO B4</a:t>
            </a:r>
            <a:endParaRPr lang="en-US" sz="1200" dirty="0"/>
          </a:p>
        </p:txBody>
      </p:sp>
      <p:sp>
        <p:nvSpPr>
          <p:cNvPr id="3" name="Text 1"/>
          <p:cNvSpPr/>
          <p:nvPr/>
        </p:nvSpPr>
        <p:spPr>
          <a:xfrm>
            <a:off x="640080" y="566928"/>
            <a:ext cx="10881360" cy="685800"/>
          </a:xfrm>
          <a:prstGeom prst="rect">
            <a:avLst/>
          </a:prstGeom>
          <a:noFill/>
          <a:ln/>
        </p:spPr>
        <p:txBody>
          <a:bodyPr wrap="square" lIns="0" tIns="0" rIns="0" bIns="0" rtlCol="0" anchor="ctr"/>
          <a:lstStyle/>
          <a:p>
            <a:pPr indent="0" marL="0">
              <a:buNone/>
            </a:pPr>
            <a:r>
              <a:rPr lang="en-US" sz="3000" b="1" dirty="0">
                <a:solidFill>
                  <a:srgbClr val="1B2A80"/>
                </a:solidFill>
                <a:latin typeface="Calibri" pitchFamily="34" charset="0"/>
                <a:ea typeface="Calibri" pitchFamily="34" charset="-122"/>
                <a:cs typeface="Calibri" pitchFamily="34" charset="-120"/>
              </a:rPr>
              <a:t>Las cinco ecuaciones del bloque</a:t>
            </a:r>
            <a:endParaRPr lang="en-US" sz="3000" dirty="0"/>
          </a:p>
        </p:txBody>
      </p:sp>
      <p:sp>
        <p:nvSpPr>
          <p:cNvPr id="4" name="Shape 2"/>
          <p:cNvSpPr/>
          <p:nvPr/>
        </p:nvSpPr>
        <p:spPr>
          <a:xfrm>
            <a:off x="640080" y="1645920"/>
            <a:ext cx="2057400" cy="2103120"/>
          </a:xfrm>
          <a:prstGeom prst="roundRect">
            <a:avLst>
              <a:gd name="adj" fmla="val 3556"/>
            </a:avLst>
          </a:prstGeom>
          <a:solidFill>
            <a:srgbClr val="F2F4FB"/>
          </a:solidFill>
          <a:ln/>
        </p:spPr>
        <p:txBody>
          <a:bodyPr/>
          <a:p/>
        </p:txBody>
      </p:sp>
      <p:sp>
        <p:nvSpPr>
          <p:cNvPr id="5" name="Shape 3"/>
          <p:cNvSpPr/>
          <p:nvPr/>
        </p:nvSpPr>
        <p:spPr>
          <a:xfrm>
            <a:off x="822960" y="1828800"/>
            <a:ext cx="457200" cy="457200"/>
          </a:xfrm>
          <a:prstGeom prst="ellipse">
            <a:avLst/>
          </a:prstGeom>
          <a:solidFill>
            <a:srgbClr val="2FD26E"/>
          </a:solidFill>
          <a:ln/>
        </p:spPr>
        <p:txBody>
          <a:bodyPr/>
          <a:p/>
        </p:txBody>
      </p:sp>
      <p:sp>
        <p:nvSpPr>
          <p:cNvPr id="6" name="Text 4"/>
          <p:cNvSpPr/>
          <p:nvPr/>
        </p:nvSpPr>
        <p:spPr>
          <a:xfrm>
            <a:off x="822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417320" y="1792224"/>
            <a:ext cx="1097280"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Rotación</a:t>
            </a:r>
            <a:endParaRPr lang="en-US" sz="1300" dirty="0"/>
          </a:p>
        </p:txBody>
      </p:sp>
      <p:sp>
        <p:nvSpPr>
          <p:cNvPr id="8" name="Text 6"/>
          <p:cNvSpPr/>
          <p:nvPr/>
        </p:nvSpPr>
        <p:spPr>
          <a:xfrm>
            <a:off x="841248" y="2423160"/>
            <a:ext cx="1655064" cy="1197864"/>
          </a:xfrm>
          <a:prstGeom prst="rect">
            <a:avLst/>
          </a:prstGeom>
          <a:noFill/>
          <a:ln/>
        </p:spPr>
        <p:txBody>
          <a:bodyPr wrap="square" lIns="0" tIns="0" rIns="0" bIns="0" rtlCol="0" anchor="ctr"/>
          <a:lstStyle/>
          <a:p>
            <a:pPr indent="0" marL="0">
              <a:buNone/>
            </a:pPr>
            <a:endParaRPr lang="en-US" sz="1150" dirty="0"/>
          </a:p>
        </p:txBody>
      </p:sp>
      <p:pic>
        <p:nvPicPr>
          <p:cNvPr id="9" name="Image 0" descr="/home/claude/work/curso_82514/media/eq/so3.png">    </p:cNvPr>
          <p:cNvPicPr>
            <a:picLocks noChangeAspect="1"/>
          </p:cNvPicPr>
          <p:nvPr/>
        </p:nvPicPr>
        <p:blipFill>
          <a:blip r:embed="rId1"/>
          <a:stretch>
            <a:fillRect/>
          </a:stretch>
        </p:blipFill>
        <p:spPr>
          <a:xfrm>
            <a:off x="768096" y="2670048"/>
            <a:ext cx="1801368" cy="174906"/>
          </a:xfrm>
          <a:prstGeom prst="rect">
            <a:avLst/>
          </a:prstGeom>
        </p:spPr>
      </p:pic>
      <p:sp>
        <p:nvSpPr>
          <p:cNvPr id="10" name="Text 7"/>
          <p:cNvSpPr/>
          <p:nvPr/>
        </p:nvSpPr>
        <p:spPr>
          <a:xfrm>
            <a:off x="640080" y="3474720"/>
            <a:ext cx="205740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Calibri" pitchFamily="34" charset="0"/>
                <a:ea typeface="Calibri" pitchFamily="34" charset="-122"/>
                <a:cs typeface="Calibri" pitchFamily="34" charset="-120"/>
              </a:rPr>
              <a:t>SO(3)</a:t>
            </a:r>
            <a:endParaRPr lang="en-US" sz="1000" dirty="0"/>
          </a:p>
        </p:txBody>
      </p:sp>
      <p:sp>
        <p:nvSpPr>
          <p:cNvPr id="11" name="Text 8"/>
          <p:cNvSpPr/>
          <p:nvPr/>
        </p:nvSpPr>
        <p:spPr>
          <a:xfrm>
            <a:off x="2670048" y="24688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12" name="Shape 9"/>
          <p:cNvSpPr/>
          <p:nvPr/>
        </p:nvSpPr>
        <p:spPr>
          <a:xfrm>
            <a:off x="2926080" y="1645920"/>
            <a:ext cx="2057400" cy="2103120"/>
          </a:xfrm>
          <a:prstGeom prst="roundRect">
            <a:avLst>
              <a:gd name="adj" fmla="val 3556"/>
            </a:avLst>
          </a:prstGeom>
          <a:solidFill>
            <a:srgbClr val="F2F4FB"/>
          </a:solidFill>
          <a:ln/>
        </p:spPr>
        <p:txBody>
          <a:bodyPr/>
          <a:p/>
        </p:txBody>
      </p:sp>
      <p:sp>
        <p:nvSpPr>
          <p:cNvPr id="13" name="Shape 10"/>
          <p:cNvSpPr/>
          <p:nvPr/>
        </p:nvSpPr>
        <p:spPr>
          <a:xfrm>
            <a:off x="3108960" y="1828800"/>
            <a:ext cx="457200" cy="457200"/>
          </a:xfrm>
          <a:prstGeom prst="ellipse">
            <a:avLst/>
          </a:prstGeom>
          <a:solidFill>
            <a:srgbClr val="2FD26E"/>
          </a:solidFill>
          <a:ln/>
        </p:spPr>
        <p:txBody>
          <a:bodyPr/>
          <a:p/>
        </p:txBody>
      </p:sp>
      <p:sp>
        <p:nvSpPr>
          <p:cNvPr id="14" name="Text 11"/>
          <p:cNvSpPr/>
          <p:nvPr/>
        </p:nvSpPr>
        <p:spPr>
          <a:xfrm>
            <a:off x="3108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2</a:t>
            </a:r>
            <a:endParaRPr lang="en-US" sz="1600" dirty="0"/>
          </a:p>
        </p:txBody>
      </p:sp>
      <p:sp>
        <p:nvSpPr>
          <p:cNvPr id="15" name="Text 12"/>
          <p:cNvSpPr/>
          <p:nvPr/>
        </p:nvSpPr>
        <p:spPr>
          <a:xfrm>
            <a:off x="3703320" y="1792224"/>
            <a:ext cx="1097280"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Pose</a:t>
            </a:r>
            <a:endParaRPr lang="en-US" sz="1300" dirty="0"/>
          </a:p>
        </p:txBody>
      </p:sp>
      <p:sp>
        <p:nvSpPr>
          <p:cNvPr id="16" name="Text 13"/>
          <p:cNvSpPr/>
          <p:nvPr/>
        </p:nvSpPr>
        <p:spPr>
          <a:xfrm>
            <a:off x="3127248" y="2423160"/>
            <a:ext cx="1655064" cy="1197864"/>
          </a:xfrm>
          <a:prstGeom prst="rect">
            <a:avLst/>
          </a:prstGeom>
          <a:noFill/>
          <a:ln/>
        </p:spPr>
        <p:txBody>
          <a:bodyPr wrap="square" lIns="0" tIns="0" rIns="0" bIns="0" rtlCol="0" anchor="ctr"/>
          <a:lstStyle/>
          <a:p>
            <a:pPr indent="0" marL="0">
              <a:buNone/>
            </a:pPr>
            <a:endParaRPr lang="en-US" sz="1150" dirty="0"/>
          </a:p>
        </p:txBody>
      </p:sp>
      <p:pic>
        <p:nvPicPr>
          <p:cNvPr id="17" name="Image 1" descr="/home/claude/work/curso_82514/media/eq/se3_T.png">    </p:cNvPr>
          <p:cNvPicPr>
            <a:picLocks noChangeAspect="1"/>
          </p:cNvPicPr>
          <p:nvPr/>
        </p:nvPicPr>
        <p:blipFill>
          <a:blip r:embed="rId2"/>
          <a:stretch>
            <a:fillRect/>
          </a:stretch>
        </p:blipFill>
        <p:spPr>
          <a:xfrm>
            <a:off x="3229661" y="2670048"/>
            <a:ext cx="1450238" cy="713232"/>
          </a:xfrm>
          <a:prstGeom prst="rect">
            <a:avLst/>
          </a:prstGeom>
        </p:spPr>
      </p:pic>
      <p:sp>
        <p:nvSpPr>
          <p:cNvPr id="18" name="Text 14"/>
          <p:cNvSpPr/>
          <p:nvPr/>
        </p:nvSpPr>
        <p:spPr>
          <a:xfrm>
            <a:off x="2926080" y="3474720"/>
            <a:ext cx="2057400" cy="237744"/>
          </a:xfrm>
          <a:prstGeom prst="rect">
            <a:avLst/>
          </a:prstGeom>
          <a:noFill/>
          <a:ln/>
        </p:spPr>
        <p:txBody>
          <a:bodyPr wrap="square" lIns="0" tIns="0" rIns="0" bIns="0" rtlCol="0" anchor="ctr"/>
          <a:lstStyle/>
          <a:p>
            <a:pPr algn="ctr" indent="0" marL="0">
              <a:buNone/>
            </a:pPr>
            <a:r>
              <a:rPr lang="en-US" sz="1000" dirty="0">
                <a:solidFill>
                  <a:srgbClr val="595959"/>
                </a:solidFill>
                <a:latin typeface="Calibri" pitchFamily="34" charset="0"/>
                <a:ea typeface="Calibri" pitchFamily="34" charset="-122"/>
                <a:cs typeface="Calibri" pitchFamily="34" charset="-120"/>
              </a:rPr>
              <a:t>SE(3)</a:t>
            </a:r>
            <a:endParaRPr lang="en-US" sz="1000" dirty="0"/>
          </a:p>
        </p:txBody>
      </p:sp>
      <p:sp>
        <p:nvSpPr>
          <p:cNvPr id="19" name="Text 15"/>
          <p:cNvSpPr/>
          <p:nvPr/>
        </p:nvSpPr>
        <p:spPr>
          <a:xfrm>
            <a:off x="4956048" y="24688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20" name="Shape 16"/>
          <p:cNvSpPr/>
          <p:nvPr/>
        </p:nvSpPr>
        <p:spPr>
          <a:xfrm>
            <a:off x="5212080" y="1645920"/>
            <a:ext cx="2057400" cy="2103120"/>
          </a:xfrm>
          <a:prstGeom prst="roundRect">
            <a:avLst>
              <a:gd name="adj" fmla="val 3556"/>
            </a:avLst>
          </a:prstGeom>
          <a:solidFill>
            <a:srgbClr val="F2F4FB"/>
          </a:solidFill>
          <a:ln/>
        </p:spPr>
        <p:txBody>
          <a:bodyPr/>
          <a:p/>
        </p:txBody>
      </p:sp>
      <p:sp>
        <p:nvSpPr>
          <p:cNvPr id="21" name="Shape 17"/>
          <p:cNvSpPr/>
          <p:nvPr/>
        </p:nvSpPr>
        <p:spPr>
          <a:xfrm>
            <a:off x="5394960" y="1828800"/>
            <a:ext cx="457200" cy="457200"/>
          </a:xfrm>
          <a:prstGeom prst="ellipse">
            <a:avLst/>
          </a:prstGeom>
          <a:solidFill>
            <a:srgbClr val="2FD26E"/>
          </a:solidFill>
          <a:ln/>
        </p:spPr>
        <p:txBody>
          <a:bodyPr/>
          <a:p/>
        </p:txBody>
      </p:sp>
      <p:sp>
        <p:nvSpPr>
          <p:cNvPr id="22" name="Text 18"/>
          <p:cNvSpPr/>
          <p:nvPr/>
        </p:nvSpPr>
        <p:spPr>
          <a:xfrm>
            <a:off x="5394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3</a:t>
            </a:r>
            <a:endParaRPr lang="en-US" sz="1600" dirty="0"/>
          </a:p>
        </p:txBody>
      </p:sp>
      <p:sp>
        <p:nvSpPr>
          <p:cNvPr id="23" name="Text 19"/>
          <p:cNvSpPr/>
          <p:nvPr/>
        </p:nvSpPr>
        <p:spPr>
          <a:xfrm>
            <a:off x="5989320" y="1792224"/>
            <a:ext cx="1097280"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FK (PoE)</a:t>
            </a:r>
            <a:endParaRPr lang="en-US" sz="1300" dirty="0"/>
          </a:p>
        </p:txBody>
      </p:sp>
      <p:sp>
        <p:nvSpPr>
          <p:cNvPr id="24" name="Text 20"/>
          <p:cNvSpPr/>
          <p:nvPr/>
        </p:nvSpPr>
        <p:spPr>
          <a:xfrm>
            <a:off x="5413248" y="2423160"/>
            <a:ext cx="1655064" cy="1197864"/>
          </a:xfrm>
          <a:prstGeom prst="rect">
            <a:avLst/>
          </a:prstGeom>
          <a:noFill/>
          <a:ln/>
        </p:spPr>
        <p:txBody>
          <a:bodyPr wrap="square" lIns="0" tIns="0" rIns="0" bIns="0" rtlCol="0" anchor="ctr"/>
          <a:lstStyle/>
          <a:p>
            <a:pPr indent="0" marL="0">
              <a:buNone/>
            </a:pPr>
            <a:endParaRPr lang="en-US" sz="1150" dirty="0"/>
          </a:p>
        </p:txBody>
      </p:sp>
      <p:pic>
        <p:nvPicPr>
          <p:cNvPr id="25" name="Image 2" descr="/home/claude/work/curso_82514/media/eq/poe_c.png">    </p:cNvPr>
          <p:cNvPicPr>
            <a:picLocks noChangeAspect="1"/>
          </p:cNvPicPr>
          <p:nvPr/>
        </p:nvPicPr>
        <p:blipFill>
          <a:blip r:embed="rId3"/>
          <a:stretch>
            <a:fillRect/>
          </a:stretch>
        </p:blipFill>
        <p:spPr>
          <a:xfrm>
            <a:off x="5340096" y="2670048"/>
            <a:ext cx="1801368" cy="476767"/>
          </a:xfrm>
          <a:prstGeom prst="rect">
            <a:avLst/>
          </a:prstGeom>
        </p:spPr>
      </p:pic>
      <p:sp>
        <p:nvSpPr>
          <p:cNvPr id="26" name="Text 21"/>
          <p:cNvSpPr/>
          <p:nvPr/>
        </p:nvSpPr>
        <p:spPr>
          <a:xfrm>
            <a:off x="7242048" y="24688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27" name="Shape 22"/>
          <p:cNvSpPr/>
          <p:nvPr/>
        </p:nvSpPr>
        <p:spPr>
          <a:xfrm>
            <a:off x="7498080" y="1645920"/>
            <a:ext cx="2057400" cy="2103120"/>
          </a:xfrm>
          <a:prstGeom prst="roundRect">
            <a:avLst>
              <a:gd name="adj" fmla="val 3556"/>
            </a:avLst>
          </a:prstGeom>
          <a:solidFill>
            <a:srgbClr val="F2F4FB"/>
          </a:solidFill>
          <a:ln/>
        </p:spPr>
        <p:txBody>
          <a:bodyPr/>
          <a:p/>
        </p:txBody>
      </p:sp>
      <p:sp>
        <p:nvSpPr>
          <p:cNvPr id="28" name="Shape 23"/>
          <p:cNvSpPr/>
          <p:nvPr/>
        </p:nvSpPr>
        <p:spPr>
          <a:xfrm>
            <a:off x="7680960" y="1828800"/>
            <a:ext cx="457200" cy="457200"/>
          </a:xfrm>
          <a:prstGeom prst="ellipse">
            <a:avLst/>
          </a:prstGeom>
          <a:solidFill>
            <a:srgbClr val="2FD26E"/>
          </a:solidFill>
          <a:ln/>
        </p:spPr>
        <p:txBody>
          <a:bodyPr/>
          <a:p/>
        </p:txBody>
      </p:sp>
      <p:sp>
        <p:nvSpPr>
          <p:cNvPr id="29" name="Text 24"/>
          <p:cNvSpPr/>
          <p:nvPr/>
        </p:nvSpPr>
        <p:spPr>
          <a:xfrm>
            <a:off x="7680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4</a:t>
            </a:r>
            <a:endParaRPr lang="en-US" sz="1600" dirty="0"/>
          </a:p>
        </p:txBody>
      </p:sp>
      <p:sp>
        <p:nvSpPr>
          <p:cNvPr id="30" name="Text 25"/>
          <p:cNvSpPr/>
          <p:nvPr/>
        </p:nvSpPr>
        <p:spPr>
          <a:xfrm>
            <a:off x="8275320" y="1792224"/>
            <a:ext cx="1097280"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Diferencial</a:t>
            </a:r>
            <a:endParaRPr lang="en-US" sz="1300" dirty="0"/>
          </a:p>
        </p:txBody>
      </p:sp>
      <p:sp>
        <p:nvSpPr>
          <p:cNvPr id="31" name="Text 26"/>
          <p:cNvSpPr/>
          <p:nvPr/>
        </p:nvSpPr>
        <p:spPr>
          <a:xfrm>
            <a:off x="7699248" y="2423160"/>
            <a:ext cx="1655064" cy="1197864"/>
          </a:xfrm>
          <a:prstGeom prst="rect">
            <a:avLst/>
          </a:prstGeom>
          <a:noFill/>
          <a:ln/>
        </p:spPr>
        <p:txBody>
          <a:bodyPr wrap="square" lIns="0" tIns="0" rIns="0" bIns="0" rtlCol="0" anchor="ctr"/>
          <a:lstStyle/>
          <a:p>
            <a:pPr indent="0" marL="0">
              <a:buNone/>
            </a:pPr>
            <a:endParaRPr lang="en-US" sz="1150" dirty="0"/>
          </a:p>
        </p:txBody>
      </p:sp>
      <p:pic>
        <p:nvPicPr>
          <p:cNvPr id="32" name="Image 3" descr="/home/claude/work/curso_82514/media/eq/jac.png">    </p:cNvPr>
          <p:cNvPicPr>
            <a:picLocks noChangeAspect="1"/>
          </p:cNvPicPr>
          <p:nvPr/>
        </p:nvPicPr>
        <p:blipFill>
          <a:blip r:embed="rId4"/>
          <a:stretch>
            <a:fillRect/>
          </a:stretch>
        </p:blipFill>
        <p:spPr>
          <a:xfrm>
            <a:off x="7626096" y="2670048"/>
            <a:ext cx="1801368" cy="422130"/>
          </a:xfrm>
          <a:prstGeom prst="rect">
            <a:avLst/>
          </a:prstGeom>
        </p:spPr>
      </p:pic>
      <p:sp>
        <p:nvSpPr>
          <p:cNvPr id="33" name="Text 27"/>
          <p:cNvSpPr/>
          <p:nvPr/>
        </p:nvSpPr>
        <p:spPr>
          <a:xfrm>
            <a:off x="9528048" y="2468880"/>
            <a:ext cx="292608" cy="457200"/>
          </a:xfrm>
          <a:prstGeom prst="rect">
            <a:avLst/>
          </a:prstGeom>
          <a:noFill/>
          <a:ln/>
        </p:spPr>
        <p:txBody>
          <a:bodyPr wrap="square" lIns="0" tIns="0" rIns="0" bIns="0" rtlCol="0" anchor="ctr"/>
          <a:lstStyle/>
          <a:p>
            <a:pPr algn="ctr" indent="0" marL="0">
              <a:buNone/>
            </a:pPr>
            <a:r>
              <a:rPr lang="en-US" sz="1500" b="1" dirty="0">
                <a:solidFill>
                  <a:srgbClr val="1FA355"/>
                </a:solidFill>
              </a:rPr>
              <a:t>→</a:t>
            </a:r>
            <a:endParaRPr lang="en-US" sz="1500" dirty="0"/>
          </a:p>
        </p:txBody>
      </p:sp>
      <p:sp>
        <p:nvSpPr>
          <p:cNvPr id="34" name="Shape 28"/>
          <p:cNvSpPr/>
          <p:nvPr/>
        </p:nvSpPr>
        <p:spPr>
          <a:xfrm>
            <a:off x="9784080" y="1645920"/>
            <a:ext cx="2057400" cy="2103120"/>
          </a:xfrm>
          <a:prstGeom prst="roundRect">
            <a:avLst>
              <a:gd name="adj" fmla="val 3556"/>
            </a:avLst>
          </a:prstGeom>
          <a:solidFill>
            <a:srgbClr val="F2F4FB"/>
          </a:solidFill>
          <a:ln/>
        </p:spPr>
        <p:txBody>
          <a:bodyPr/>
          <a:p/>
        </p:txBody>
      </p:sp>
      <p:sp>
        <p:nvSpPr>
          <p:cNvPr id="35" name="Shape 29"/>
          <p:cNvSpPr/>
          <p:nvPr/>
        </p:nvSpPr>
        <p:spPr>
          <a:xfrm>
            <a:off x="9966960" y="1828800"/>
            <a:ext cx="457200" cy="457200"/>
          </a:xfrm>
          <a:prstGeom prst="ellipse">
            <a:avLst/>
          </a:prstGeom>
          <a:solidFill>
            <a:srgbClr val="2FD26E"/>
          </a:solidFill>
          <a:ln/>
        </p:spPr>
        <p:txBody>
          <a:bodyPr/>
          <a:p/>
        </p:txBody>
      </p:sp>
      <p:sp>
        <p:nvSpPr>
          <p:cNvPr id="36" name="Text 30"/>
          <p:cNvSpPr/>
          <p:nvPr/>
        </p:nvSpPr>
        <p:spPr>
          <a:xfrm>
            <a:off x="9966960" y="1828800"/>
            <a:ext cx="457200" cy="457200"/>
          </a:xfrm>
          <a:prstGeom prst="rect">
            <a:avLst/>
          </a:prstGeom>
          <a:noFill/>
          <a:ln/>
        </p:spPr>
        <p:txBody>
          <a:bodyPr wrap="square" lIns="0" tIns="0" rIns="0" bIns="0" rtlCol="0" anchor="ctr"/>
          <a:lstStyle/>
          <a:p>
            <a:pPr algn="ctr" indent="0" marL="0">
              <a:buNone/>
            </a:pPr>
            <a:r>
              <a:rPr lang="en-US" sz="1600" b="1" dirty="0">
                <a:solidFill>
                  <a:srgbClr val="1B2A80"/>
                </a:solidFill>
                <a:latin typeface="Calibri" pitchFamily="34" charset="0"/>
                <a:ea typeface="Calibri" pitchFamily="34" charset="-122"/>
                <a:cs typeface="Calibri" pitchFamily="34" charset="-120"/>
              </a:rPr>
              <a:t>5</a:t>
            </a:r>
            <a:endParaRPr lang="en-US" sz="1600" dirty="0"/>
          </a:p>
        </p:txBody>
      </p:sp>
      <p:sp>
        <p:nvSpPr>
          <p:cNvPr id="37" name="Text 31"/>
          <p:cNvSpPr/>
          <p:nvPr/>
        </p:nvSpPr>
        <p:spPr>
          <a:xfrm>
            <a:off x="10561320" y="1792224"/>
            <a:ext cx="1097280" cy="502920"/>
          </a:xfrm>
          <a:prstGeom prst="rect">
            <a:avLst/>
          </a:prstGeom>
          <a:noFill/>
          <a:ln/>
        </p:spPr>
        <p:txBody>
          <a:bodyPr wrap="square" lIns="0" tIns="0" rIns="0" bIns="0" rtlCol="0" anchor="ctr"/>
          <a:lstStyle/>
          <a:p>
            <a:pPr indent="0" marL="0">
              <a:buNone/>
            </a:pPr>
            <a:r>
              <a:rPr lang="en-US" sz="1300" b="1" dirty="0">
                <a:solidFill>
                  <a:srgbClr val="1B2A80"/>
                </a:solidFill>
                <a:latin typeface="Calibri" pitchFamily="34" charset="0"/>
                <a:ea typeface="Calibri" pitchFamily="34" charset="-122"/>
                <a:cs typeface="Calibri" pitchFamily="34" charset="-120"/>
              </a:rPr>
              <a:t>Estática</a:t>
            </a:r>
            <a:endParaRPr lang="en-US" sz="1300" dirty="0"/>
          </a:p>
        </p:txBody>
      </p:sp>
      <p:sp>
        <p:nvSpPr>
          <p:cNvPr id="38" name="Text 32"/>
          <p:cNvSpPr/>
          <p:nvPr/>
        </p:nvSpPr>
        <p:spPr>
          <a:xfrm>
            <a:off x="9985248" y="2423160"/>
            <a:ext cx="1655064" cy="1197864"/>
          </a:xfrm>
          <a:prstGeom prst="rect">
            <a:avLst/>
          </a:prstGeom>
          <a:noFill/>
          <a:ln/>
        </p:spPr>
        <p:txBody>
          <a:bodyPr wrap="square" lIns="0" tIns="0" rIns="0" bIns="0" rtlCol="0" anchor="ctr"/>
          <a:lstStyle/>
          <a:p>
            <a:pPr indent="0" marL="0">
              <a:buNone/>
            </a:pPr>
            <a:endParaRPr lang="en-US" sz="1150" dirty="0"/>
          </a:p>
        </p:txBody>
      </p:sp>
      <p:pic>
        <p:nvPicPr>
          <p:cNvPr id="39" name="Image 4" descr="/home/claude/work/curso_82514/media/eq/estatica.png">    </p:cNvPr>
          <p:cNvPicPr>
            <a:picLocks noChangeAspect="1"/>
          </p:cNvPicPr>
          <p:nvPr/>
        </p:nvPicPr>
        <p:blipFill>
          <a:blip r:embed="rId5"/>
          <a:stretch>
            <a:fillRect/>
          </a:stretch>
        </p:blipFill>
        <p:spPr>
          <a:xfrm>
            <a:off x="9912096" y="2670048"/>
            <a:ext cx="1801368" cy="392205"/>
          </a:xfrm>
          <a:prstGeom prst="rect">
            <a:avLst/>
          </a:prstGeom>
        </p:spPr>
      </p:pic>
      <p:sp>
        <p:nvSpPr>
          <p:cNvPr id="40" name="Shape 33"/>
          <p:cNvSpPr/>
          <p:nvPr/>
        </p:nvSpPr>
        <p:spPr>
          <a:xfrm>
            <a:off x="640080" y="4114800"/>
            <a:ext cx="10881360" cy="1005840"/>
          </a:xfrm>
          <a:prstGeom prst="roundRect">
            <a:avLst>
              <a:gd name="adj" fmla="val 7273"/>
            </a:avLst>
          </a:prstGeom>
          <a:solidFill>
            <a:srgbClr val="E3F7EC"/>
          </a:solidFill>
          <a:ln/>
        </p:spPr>
        <p:txBody>
          <a:bodyPr/>
          <a:p/>
        </p:txBody>
      </p:sp>
      <p:sp>
        <p:nvSpPr>
          <p:cNvPr id="41" name="Text 34"/>
          <p:cNvSpPr/>
          <p:nvPr/>
        </p:nvSpPr>
        <p:spPr>
          <a:xfrm>
            <a:off x="841248" y="4261104"/>
            <a:ext cx="10479024" cy="502920"/>
          </a:xfrm>
          <a:prstGeom prst="rect">
            <a:avLst/>
          </a:prstGeom>
          <a:noFill/>
          <a:ln/>
        </p:spPr>
        <p:txBody>
          <a:bodyPr wrap="square" lIns="0" tIns="0" rIns="0" bIns="0" rtlCol="0" anchor="ctr"/>
          <a:lstStyle/>
          <a:p>
            <a:pPr indent="0" marL="0">
              <a:buNone/>
            </a:pPr>
            <a:r>
              <a:rPr lang="en-US" sz="1500" b="1" dirty="0">
                <a:solidFill>
                  <a:srgbClr val="1B2A80"/>
                </a:solidFill>
                <a:latin typeface="Calibri" pitchFamily="34" charset="0"/>
                <a:ea typeface="Calibri" pitchFamily="34" charset="-122"/>
                <a:cs typeface="Calibri" pitchFamily="34" charset="-120"/>
              </a:rPr>
              <a:t>El mapa del bloque</a:t>
            </a:r>
            <a:endParaRPr lang="en-US" sz="1500" dirty="0"/>
          </a:p>
        </p:txBody>
      </p:sp>
      <p:sp>
        <p:nvSpPr>
          <p:cNvPr id="42" name="Text 35"/>
          <p:cNvSpPr/>
          <p:nvPr/>
        </p:nvSpPr>
        <p:spPr>
          <a:xfrm>
            <a:off x="841248" y="4754880"/>
            <a:ext cx="10479024" cy="237744"/>
          </a:xfrm>
          <a:prstGeom prst="rect">
            <a:avLst/>
          </a:prstGeom>
          <a:noFill/>
          <a:ln/>
        </p:spPr>
        <p:txBody>
          <a:bodyPr wrap="square" lIns="0" tIns="0" rIns="0" bIns="0"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Pose (S13) → FK (S14-S15) → IK (S16) → jacobiano (S17) → singularidades y manipulabilidad (S18) → estática y trayectorias (S19). En cada nodo, una pregunta tipo del cuestionario.</a:t>
            </a:r>
            <a:endParaRPr lang="en-US" sz="1200" dirty="0"/>
          </a:p>
        </p:txBody>
      </p:sp>
      <p:sp>
        <p:nvSpPr>
          <p:cNvPr id="43" name="Shape 36"/>
          <p:cNvSpPr/>
          <p:nvPr/>
        </p:nvSpPr>
        <p:spPr>
          <a:xfrm>
            <a:off x="640080" y="5303520"/>
            <a:ext cx="10881360" cy="777240"/>
          </a:xfrm>
          <a:prstGeom prst="roundRect">
            <a:avLst>
              <a:gd name="adj" fmla="val 9412"/>
            </a:avLst>
          </a:prstGeom>
          <a:solidFill>
            <a:srgbClr val="F2F4FB"/>
          </a:solidFill>
          <a:ln/>
        </p:spPr>
        <p:txBody>
          <a:bodyPr/>
          <a:p/>
        </p:txBody>
      </p:sp>
      <p:sp>
        <p:nvSpPr>
          <p:cNvPr id="44" name="Text 37"/>
          <p:cNvSpPr/>
          <p:nvPr/>
        </p:nvSpPr>
        <p:spPr>
          <a:xfrm>
            <a:off x="841248" y="5413248"/>
            <a:ext cx="10479024" cy="539496"/>
          </a:xfrm>
          <a:prstGeom prst="rect">
            <a:avLst/>
          </a:prstGeom>
          <a:noFill/>
          <a:ln/>
        </p:spPr>
        <p:txBody>
          <a:bodyPr wrap="square" lIns="0" tIns="0" rIns="0" bIns="0" rtlCol="0" anchor="ctr"/>
          <a:lstStyle/>
          <a:p>
            <a:pPr indent="0" marL="0">
              <a:buNone/>
            </a:pPr>
            <a:r>
              <a:rPr lang="en-US" sz="1150" dirty="0">
                <a:solidFill>
                  <a:srgbClr val="1A1A2E"/>
                </a:solidFill>
                <a:latin typeface="Calibri" pitchFamily="34" charset="0"/>
                <a:ea typeface="Calibri" pitchFamily="34" charset="-122"/>
                <a:cs typeface="Calibri" pitchFamily="34" charset="-120"/>
              </a:rPr>
              <a:t>Cuestionario B4 (15 min, 10 preguntas ABCD): bloqueo de cardán · SO(3)/SE(3) · PoE · ocho soluciones IK · definición de singularidad · Yoshikawa · τ = Jᵀ·F · trapezoidal frente a quíntico.</a:t>
            </a:r>
            <a:endParaRPr lang="en-US" sz="1150" dirty="0"/>
          </a:p>
        </p:txBody>
      </p:sp>
      <p:sp>
        <p:nvSpPr>
          <p:cNvPr id="46" name="Text 38"/>
          <p:cNvSpPr/>
          <p:nvPr/>
        </p:nvSpPr>
        <p:spPr>
          <a:xfrm>
            <a:off x="640080" y="6446520"/>
            <a:ext cx="10972800" cy="274320"/>
          </a:xfrm>
          <a:prstGeom prst="rect">
            <a:avLst/>
          </a:prstGeom>
          <a:noFill/>
          <a:ln/>
        </p:spPr>
        <p:txBody>
          <a:bodyPr wrap="square" lIns="0" tIns="0" rIns="0" bIns="0" rtlCol="0" anchor="ctr"/>
          <a:lstStyle/>
          <a:p>
            <a:pPr indent="0" marL="0">
              <a:buNone/>
            </a:pPr>
            <a:r>
              <a:rPr lang="en-US" sz="1000" dirty="0">
                <a:solidFill>
                  <a:srgbClr val="595959"/>
                </a:solidFill>
                <a:latin typeface="Calibri" pitchFamily="34" charset="0"/>
                <a:ea typeface="Calibri" pitchFamily="34" charset="-122"/>
                <a:cs typeface="Calibri" pitchFamily="34" charset="-120"/>
              </a:rPr>
              <a:t>Cuestionario B4 · páginas de referencia en el guion de S19</a:t>
            </a:r>
            <a:endParaRPr lang="en-US" sz="1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2026-08-11T10:31:57Z</dcterms:created>
  <dcterms:modified xsi:type="dcterms:W3CDTF">2026-08-11T10:31:57Z</dcterms:modified>
</cp:coreProperties>
</file>