
<file path=[Content_Types].xml><?xml version="1.0" encoding="utf-8"?>
<Types xmlns="http://schemas.openxmlformats.org/package/2006/content-types">
  <Default Extension="jpg" ContentType="image/jpeg"/>
  <Default Extension="gif" ContentType="image/gi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3-1.jpg" ContentType="image/jpg"/>
  <Override PartName="/ppt/media/image-4-1.jpg" ContentType="image/jpg"/>
  <Override PartName="/ppt/media/image-4-2.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Encuadre: el bloque que faltaba en la asignatura anterior. ROS 2, simulación, planificación y los dos stacks (Nav2 y MoveIt 2), todo en simulación sobre los ordenadores existentes.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Recorrer la estructura: dos sesiones de fundamentos, el taller grande del viernes, y la capa inteligente (planificación, Nav2, MoveIt 2). Compromiso: al cerrar el bloque, cada equipo con su proyecto corriendo en ROS 2. Los comandos de preparación del taller se publican tras S33. Avisar de que el bloque entra entero en el parcial 2 del 11 de diciembre.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Idea organizadora: un robot no es un programa, es un grafo de procesos que se comunican. La foto del Roomba por debajo sirve de ejercicio mental: cada sensor como un nodo publicando mensajes. Plan: 0-5 apertura; 5-20 del programa único al grafo; 20-40 topics y mensajes; 40-55 DDS y QoS con casos; 55-60 preparación del taller.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Presentar las dos caras del mismo software: el TurtleBot3 como plataforma de referencia de los tutoriales (y del taller de S34 en simulación) y la flota de Ocado como el mismo patrón en producción. Mensaje: del juguete didáctico a la operación industrial hay diferencia de escala, no de arquitectura.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Dibujar en pizarra el grafo de un móvil completo: sensor, localización, planificador, controlador, actuadores. Recorrer ventajas (sustituir sin tocar, reutilizar, depurar por partes) y el precio (no hay traza única). Presentar los cinco comandos de supervivencia de la tarjeta; con ellos se resuelve la mayoría del taller. Frase para dictar: depurar ROS es mirar el grafo, no leer un main.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Explicar que ROS 2 se apoya en DDS y por eso no hay nodo maestro. Consecuencia práctica inmediata: si dos ordenadores comparten red, sus grafos se ven; aislar con ROS_DOMAIN_ID distintos. De QoS, recorrer los tres casos de las tarjetas y detenerse en el maldito: perfiles incompatibles no se conectan y no dan error visible. Anticiparlo ahorra media sesión de taller, y cae en el parcial 2.</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Segunda sesión de fundamentos: servicios, acciones y la fontanería (parámetros, launch, colcon). Objetivo de salida: el entorno del taller preparado hoy. Plan: 0-5 recuperación; 5-25 servicios y acciones; 25-42 parámetros y launch; 42-55 workspaces y colcon; 55-60 preparación del entorno.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Recorrer las tres semánticas con sus frases de la tarjeta y dictar la regla práctica: si puede tardar y podría querer cancelarse, es una acción; Nav2 y MoveIt 2 exponen así sus interfaces principales. Señalar el error típico del principiante: resolverlo todo con topics y reinventar a mano la lógica de una acción. Ejercicio: clasificar cinco interacciones del proyecto de cada equipo.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Recorrer las cuatro piezas con su motivo: parámetros para no recompilar, launch para levantar decenas de nodos de una orden, paquetes como unidad de reutilización, colcon con symlink-install para que los cambios en Python no exijan reconstruir. Cierre imprescindible: dejar el entorno preparado con los tres comandos del recuadro y publicarlos en el campus; quien llegue sin workspace pierde la primera media hora del taller.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Sesión de programación: nodo en Python desde plantilla, TurtleBot simulado y árbol de transformadas. Regla de ritmo: cada media hora, algo funcionando y visible. Plan: 0-15 anatomía del nodo; 15-45 publicador y suscriptor vistos en el grafo; 45-55 descanso; 55-85 Gazebo con el puente; 85-110 TF2 con view_frames y tf2_echo; 110-120 puesta en común de errores.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Recorrer las cinco piezas del nodo y los comandos del día en orden de uso. Dos reglas de gestión del taller: nadie pasa a Gazebo sin haber visto su nodo en rqt_graph, y recorrer los puestos los primeros quince minutos porque ahí se cazan los fallos de entorno.</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 Gazebo, quedarse con el reparto: el simulador pone física y sensores, el puente traduce mensajes. De TF2, la pregunta que lo justifica: dónde estaba el sensor respecto al mapa en el instante de esta medida; sin eso no hay fusión. Explicar la cadena de REP 105 con su lectura: la transformada de odometría es continua pero deriva, y la de mapa la corrige a saltos; por eso el robot salta en RViz al cerrar un bucle. El árbol roto es el segundo fallo más común del taller tras QoS; enseñar view_frames como primer diagnóstico.</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 el robot comunicado y simulado, toca decidir por dónde ir: espacio de configuraciones, búsqueda en grafos y métodos de muestreo. Avisar de que el A* de hoy cae con números en el parcial 2. Plan: 0-5 recuperación; 5-15 formulación; 15-25 mapas de ocupación y de coste; 25-40 transformada de distancia y A*; 40-52 PRM y RRT; 52-60 campos potenciales y cierre.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Leer las dos figuras de los cuadernos. La izquierda es el argumento visual de la heurística admisible: mismo camino óptimo, pero Dijkstra expande 2332 nodos y A* solo 1017; la heurística no cambia la respuesta, cambia el trabajo. La derecha muestra el RRT creciendo: cada muestra tira del árbol hacia el espacio vacío, que es literalmente la frase de Lynch y Park.</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Formular el problema en el espacio de configuraciones y explicar el truco fundacional: inflar los obstáculos con el radio convierte al robot en un punto, y es exactamente la capa de inflado del costmap de Nav2. Distinguir los dos mapas con el ejemplo preparado: dos rutas igual de cortas, una pegada a la pared y otra por el centro; decide el coste, no la ocupación. Dejar el vocabulario de garantías enunciado.</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Recorrer los cuatro algoritmos con su criterio de uso. Contar la anécdota de Shakey y el origen de A* en 1968. Mencionar D* (replanifica en marcha) y la variante con recableado de RRT. Para el parcial basta A*: coste acumulado más heurística, y optimalidad solo con heurística admisible.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Mensaje arquitectónico: Nav2 no es un algoritmo sino la casa donde viven los algoritmos de S35 y los filtros de B6. Plan: 0-5 recuperación; 5-20 servidores; 20-38 costmaps por capas; 38-52 árboles de comportamiento y AMCL; 52-60 demostración en simulación.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Recorrer las cuatro piezas subrayando los dos reencuentros: las capas del costmap son la teoría de S35 hecha plugin, y AMCL es el filtro de partículas de B6 convertido en nodo. En la demostración, fijar una meta en RViz y narrar qué servidor actúa y qué rama del árbol se dispara al bloquear el paso.</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Cierre del bloque y del semestre técnico: manipulación e integración. La foto de paletizado es la tarea canónica. Plan: 0-10 recuperación; 10-35 move_group y planning scene; 35-55 OMPL; 55-65 descanso; 65-90 planificación cartesiana; 90-105 integración y síntesis; 105-120 cuestionario B7 en Moodle (15 min).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Recorrer las cuatro tarjetas: el orquestador, el modelo del mundo (planificar sin escena es planificar contra el aire; aquí entra la percepción de B6), la biblioteca de planificadores con RRT-Connect como caballo de batalla, y la decisión cartesiano frente a articular con su riesgo de singularidad. Cierre del semestre técnico en pizarra: dibujar el stack completo señalando qué bloque aporta cada caja. Últimos 15 minutos: cuestionario B7 en Moodle.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jp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gif"/><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80"/>
        </a:solidFill>
      </p:bgPr>
    </p:bg>
    <p:spTree>
      <p:nvGrpSpPr>
        <p:cNvPr id="1" name=""/>
        <p:cNvGrpSpPr/>
        <p:nvPr/>
      </p:nvGrpSpPr>
      <p:grpSpPr>
        <a:xfrm>
          <a:off x="0" y="0"/>
          <a:ext cx="0" cy="0"/>
          <a:chOff x="0" y="0"/>
          <a:chExt cx="0" cy="0"/>
        </a:xfrm>
      </p:grpSpPr>
      <p:sp>
        <p:nvSpPr>
          <p:cNvPr id="2" name="Shape 0"/>
          <p:cNvSpPr/>
          <p:nvPr/>
        </p:nvSpPr>
        <p:spPr>
          <a:xfrm flipH="1">
            <a:off x="7223760" y="2377440"/>
            <a:ext cx="4983480" cy="4498848"/>
          </a:xfrm>
          <a:prstGeom prst="rtTriangle">
            <a:avLst/>
          </a:prstGeom>
          <a:solidFill>
            <a:srgbClr val="2E3FA3"/>
          </a:solidFill>
          <a:ln/>
        </p:spPr>
        <p:txBody>
          <a:bodyPr/>
          <a:p/>
        </p:txBody>
      </p:sp>
      <p:sp>
        <p:nvSpPr>
          <p:cNvPr id="3" name="Shape 1"/>
          <p:cNvSpPr/>
          <p:nvPr/>
        </p:nvSpPr>
        <p:spPr>
          <a:xfrm flipH="1">
            <a:off x="9509760" y="4480560"/>
            <a:ext cx="2697480" cy="2395728"/>
          </a:xfrm>
          <a:prstGeom prst="rtTriangle">
            <a:avLst/>
          </a:prstGeom>
          <a:solidFill>
            <a:srgbClr val="2FD26E"/>
          </a:solidFill>
          <a:ln/>
        </p:spPr>
        <p:txBody>
          <a:bodyPr/>
          <a:p/>
        </p:txBody>
      </p:sp>
      <p:pic>
        <p:nvPicPr>
          <p:cNvPr id="4" name="Image 0" descr="/home/claude/work/curso_82514/media/logo_iqs_blanco.png">    </p:cNvPr>
          <p:cNvPicPr>
            <a:picLocks noChangeAspect="1"/>
          </p:cNvPicPr>
          <p:nvPr/>
        </p:nvPicPr>
        <p:blipFill>
          <a:blip r:embed="rId1"/>
          <a:stretch>
            <a:fillRect/>
          </a:stretch>
        </p:blipFill>
        <p:spPr>
          <a:xfrm>
            <a:off x="640080" y="384048"/>
            <a:ext cx="1188720" cy="1188720"/>
          </a:xfrm>
          <a:prstGeom prst="rect">
            <a:avLst/>
          </a:prstGeom>
        </p:spPr>
      </p:pic>
      <p:sp>
        <p:nvSpPr>
          <p:cNvPr id="5" name="Text 2"/>
          <p:cNvSpPr/>
          <p:nvPr/>
        </p:nvSpPr>
        <p:spPr>
          <a:xfrm>
            <a:off x="640080" y="2286000"/>
            <a:ext cx="8686800" cy="457200"/>
          </a:xfrm>
          <a:prstGeom prst="rect">
            <a:avLst/>
          </a:prstGeom>
          <a:noFill/>
          <a:ln/>
        </p:spPr>
        <p:txBody>
          <a:bodyPr wrap="square" lIns="0" tIns="0" rIns="0" bIns="0" rtlCol="0" anchor="ctr"/>
          <a:lstStyle/>
          <a:p>
            <a:pPr indent="0" marL="0">
              <a:buNone/>
            </a:pPr>
            <a:r>
              <a:rPr lang="en-US" sz="1800" b="1" dirty="0">
                <a:solidFill>
                  <a:srgbClr val="2FD26E"/>
                </a:solidFill>
                <a:latin typeface="Calibri" pitchFamily="34" charset="0"/>
                <a:ea typeface="Calibri" pitchFamily="34" charset="-122"/>
                <a:cs typeface="Calibri" pitchFamily="34" charset="-120"/>
              </a:rPr>
              <a:t>82514 · MECATRÓNICA Y ROBÓTICA</a:t>
            </a:r>
            <a:endParaRPr lang="en-US" sz="1800" dirty="0"/>
          </a:p>
        </p:txBody>
      </p:sp>
      <p:sp>
        <p:nvSpPr>
          <p:cNvPr id="6" name="Text 3"/>
          <p:cNvSpPr/>
          <p:nvPr/>
        </p:nvSpPr>
        <p:spPr>
          <a:xfrm>
            <a:off x="640080" y="2743200"/>
            <a:ext cx="8229600" cy="548640"/>
          </a:xfrm>
          <a:prstGeom prst="rect">
            <a:avLst/>
          </a:prstGeom>
          <a:noFill/>
          <a:ln/>
        </p:spPr>
        <p:txBody>
          <a:bodyPr wrap="square" lIns="0" tIns="0" rIns="0" bIns="0" rtlCol="0" anchor="ctr"/>
          <a:lstStyle/>
          <a:p>
            <a:pPr indent="0" marL="0">
              <a:buNone/>
            </a:pPr>
            <a:r>
              <a:rPr lang="en-US" sz="2200" dirty="0">
                <a:solidFill>
                  <a:srgbClr val="FFFFFF"/>
                </a:solidFill>
                <a:latin typeface="Calibri" pitchFamily="34" charset="0"/>
                <a:ea typeface="Calibri" pitchFamily="34" charset="-122"/>
                <a:cs typeface="Calibri" pitchFamily="34" charset="-120"/>
              </a:rPr>
              <a:t>Bloque 7</a:t>
            </a:r>
            <a:endParaRPr lang="en-US" sz="2200" dirty="0"/>
          </a:p>
        </p:txBody>
      </p:sp>
      <p:sp>
        <p:nvSpPr>
          <p:cNvPr id="7" name="Text 4"/>
          <p:cNvSpPr/>
          <p:nvPr/>
        </p:nvSpPr>
        <p:spPr>
          <a:xfrm>
            <a:off x="640080" y="3246120"/>
            <a:ext cx="7863840" cy="155448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Software robótico: ROS 2,</a:t>
            </a:r>
            <a:endParaRPr lang="en-US" sz="4000" dirty="0"/>
          </a:p>
          <a:p>
            <a:pPr indent="0" marL="0">
              <a:buNone/>
            </a:pPr>
            <a:r>
              <a:rPr lang="en-US" sz="4000" b="1" dirty="0">
                <a:solidFill>
                  <a:srgbClr val="FFFFFF"/>
                </a:solidFill>
                <a:latin typeface="Calibri" pitchFamily="34" charset="0"/>
                <a:ea typeface="Calibri" pitchFamily="34" charset="-122"/>
                <a:cs typeface="Calibri" pitchFamily="34" charset="-120"/>
              </a:rPr>
              <a:t>simulación y planificación</a:t>
            </a:r>
            <a:endParaRPr lang="en-US" sz="4000" dirty="0"/>
          </a:p>
        </p:txBody>
      </p:sp>
      <p:sp>
        <p:nvSpPr>
          <p:cNvPr id="8" name="Text 5"/>
          <p:cNvSpPr/>
          <p:nvPr/>
        </p:nvSpPr>
        <p:spPr>
          <a:xfrm>
            <a:off x="640080" y="5029200"/>
            <a:ext cx="7315200" cy="457200"/>
          </a:xfrm>
          <a:prstGeom prst="rect">
            <a:avLst/>
          </a:prstGeom>
          <a:noFill/>
          <a:ln/>
        </p:spPr>
        <p:txBody>
          <a:bodyPr wrap="square" lIns="0" tIns="0" rIns="0" bIns="0" rtlCol="0" anchor="ctr"/>
          <a:lstStyle/>
          <a:p>
            <a:pPr indent="0" marL="0">
              <a:buNone/>
            </a:pPr>
            <a:r>
              <a:rPr lang="en-US" sz="1600" dirty="0">
                <a:solidFill>
                  <a:srgbClr val="C9D2F5"/>
                </a:solidFill>
                <a:latin typeface="Calibri" pitchFamily="34" charset="0"/>
                <a:ea typeface="Calibri" pitchFamily="34" charset="-122"/>
                <a:cs typeface="Calibri" pitchFamily="34" charset="-120"/>
              </a:rPr>
              <a:t>Sesiones S32–S37 · 8 horas</a:t>
            </a:r>
            <a:endParaRPr lang="en-US" sz="1600" dirty="0"/>
          </a:p>
        </p:txBody>
      </p:sp>
      <p:sp>
        <p:nvSpPr>
          <p:cNvPr id="9" name="Text 6"/>
          <p:cNvSpPr/>
          <p:nvPr/>
        </p:nvSpPr>
        <p:spPr>
          <a:xfrm>
            <a:off x="640080" y="5486400"/>
            <a:ext cx="7315200" cy="457200"/>
          </a:xfrm>
          <a:prstGeom prst="rect">
            <a:avLst/>
          </a:prstGeom>
          <a:noFill/>
          <a:ln/>
        </p:spPr>
        <p:txBody>
          <a:bodyPr wrap="square" lIns="0" tIns="0" rIns="0" bIns="0" rtlCol="0" anchor="ctr"/>
          <a:lstStyle/>
          <a:p>
            <a:pPr indent="0" marL="0">
              <a:buNone/>
            </a:pPr>
            <a:r>
              <a:rPr lang="en-US" sz="1400" dirty="0">
                <a:solidFill>
                  <a:srgbClr val="9AA7E8"/>
                </a:solidFill>
                <a:latin typeface="Calibri" pitchFamily="34" charset="0"/>
                <a:ea typeface="Calibri" pitchFamily="34" charset="-122"/>
                <a:cs typeface="Calibri" pitchFamily="34" charset="-120"/>
              </a:rPr>
              <a:t>25, 26 y 27 de noviembre y 2, 3 y 4 de diciembre de 2026 · IQS Universitat Ramon Llull</a:t>
            </a:r>
            <a:endParaRPr lang="en-US" sz="14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47472"/>
            <a:ext cx="10881360" cy="274320"/>
          </a:xfrm>
          <a:prstGeom prst="rect">
            <a:avLst/>
          </a:prstGeom>
          <a:noFill/>
          <a:ln/>
        </p:spPr>
        <p:txBody>
          <a:bodyPr wrap="square" lIns="0" tIns="0" rIns="0" bIns="0" rtlCol="0" anchor="ctr"/>
          <a:lstStyle/>
          <a:p>
            <a:pPr indent="0" marL="0">
              <a:buNone/>
            </a:pPr>
            <a:r>
              <a:rPr lang="en-US" sz="1200" b="1" spc="200" kern="0" dirty="0">
                <a:solidFill>
                  <a:srgbClr val="1FA355"/>
                </a:solidFill>
                <a:latin typeface="Calibri" pitchFamily="34" charset="0"/>
                <a:ea typeface="Calibri" pitchFamily="34" charset="-122"/>
                <a:cs typeface="Calibri" pitchFamily="34" charset="-120"/>
              </a:rPr>
              <a:t>BLOQUE 7</a:t>
            </a:r>
            <a:endParaRPr lang="en-US" sz="1200" dirty="0"/>
          </a:p>
        </p:txBody>
      </p:sp>
      <p:sp>
        <p:nvSpPr>
          <p:cNvPr id="3" name="Text 1"/>
          <p:cNvSpPr/>
          <p:nvPr/>
        </p:nvSpPr>
        <p:spPr>
          <a:xfrm>
            <a:off x="640080" y="566928"/>
            <a:ext cx="10881360" cy="685800"/>
          </a:xfrm>
          <a:prstGeom prst="rect">
            <a:avLst/>
          </a:prstGeom>
          <a:noFill/>
          <a:ln/>
        </p:spPr>
        <p:txBody>
          <a:bodyPr wrap="square" lIns="0" tIns="0" rIns="0" bIns="0" rtlCol="0" anchor="ctr"/>
          <a:lstStyle/>
          <a:p>
            <a:pPr indent="0" marL="0">
              <a:buNone/>
            </a:pPr>
            <a:r>
              <a:rPr lang="en-US" sz="3000" b="1" dirty="0">
                <a:solidFill>
                  <a:srgbClr val="1B2A80"/>
                </a:solidFill>
                <a:latin typeface="Calibri" pitchFamily="34" charset="0"/>
                <a:ea typeface="Calibri" pitchFamily="34" charset="-122"/>
                <a:cs typeface="Calibri" pitchFamily="34" charset="-120"/>
              </a:rPr>
              <a:t>Hoja de ruta del bloque</a:t>
            </a:r>
            <a:endParaRPr lang="en-US" sz="3000" dirty="0"/>
          </a:p>
        </p:txBody>
      </p:sp>
      <p:sp>
        <p:nvSpPr>
          <p:cNvPr id="4" name="Shape 2"/>
          <p:cNvSpPr/>
          <p:nvPr/>
        </p:nvSpPr>
        <p:spPr>
          <a:xfrm>
            <a:off x="640080" y="1554480"/>
            <a:ext cx="10881360" cy="713232"/>
          </a:xfrm>
          <a:prstGeom prst="roundRect">
            <a:avLst>
              <a:gd name="adj" fmla="val 10256"/>
            </a:avLst>
          </a:prstGeom>
          <a:solidFill>
            <a:srgbClr val="F2F4FB"/>
          </a:solidFill>
          <a:ln/>
        </p:spPr>
        <p:txBody>
          <a:bodyPr/>
          <a:p/>
        </p:txBody>
      </p:sp>
      <p:sp>
        <p:nvSpPr>
          <p:cNvPr id="5" name="Shape 3"/>
          <p:cNvSpPr/>
          <p:nvPr/>
        </p:nvSpPr>
        <p:spPr>
          <a:xfrm>
            <a:off x="841248" y="1682496"/>
            <a:ext cx="457200" cy="457200"/>
          </a:xfrm>
          <a:prstGeom prst="ellipse">
            <a:avLst/>
          </a:prstGeom>
          <a:solidFill>
            <a:srgbClr val="2FD26E"/>
          </a:solidFill>
          <a:ln/>
        </p:spPr>
        <p:txBody>
          <a:bodyPr/>
          <a:p/>
        </p:txBody>
      </p:sp>
      <p:sp>
        <p:nvSpPr>
          <p:cNvPr id="6" name="Text 4"/>
          <p:cNvSpPr/>
          <p:nvPr/>
        </p:nvSpPr>
        <p:spPr>
          <a:xfrm>
            <a:off x="841248" y="1682496"/>
            <a:ext cx="457200" cy="457200"/>
          </a:xfrm>
          <a:prstGeom prst="rect">
            <a:avLst/>
          </a:prstGeom>
          <a:noFill/>
          <a:ln/>
        </p:spPr>
        <p:txBody>
          <a:bodyPr wrap="square" lIns="0" tIns="0" rIns="0" bIns="0" rtlCol="0" anchor="ctr"/>
          <a:lstStyle/>
          <a:p>
            <a:pPr algn="ctr" indent="0" marL="0">
              <a:buNone/>
            </a:pPr>
            <a:r>
              <a:rPr lang="en-US" sz="1500" b="1" dirty="0">
                <a:solidFill>
                  <a:srgbClr val="1B2A80"/>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481328" y="1554480"/>
            <a:ext cx="9829800" cy="713232"/>
          </a:xfrm>
          <a:prstGeom prst="rect">
            <a:avLst/>
          </a:prstGeom>
          <a:noFill/>
          <a:ln/>
        </p:spPr>
        <p:txBody>
          <a:bodyPr wrap="square" lIns="0" tIns="0" rIns="0" bIns="0" rtlCol="0" anchor="ctr"/>
          <a:lstStyle/>
          <a:p>
            <a:pPr indent="0" marL="0">
              <a:buNone/>
            </a:pPr>
            <a:r>
              <a:rPr lang="en-US" sz="1300" b="1" dirty="0">
                <a:solidFill>
                  <a:srgbClr val="1B2A80"/>
                </a:solidFill>
                <a:latin typeface="Calibri" pitchFamily="34" charset="0"/>
                <a:ea typeface="Calibri" pitchFamily="34" charset="-122"/>
                <a:cs typeface="Calibri" pitchFamily="34" charset="-120"/>
              </a:rPr>
              <a:t>S32 · mié 25 nov · 1 h </a:t>
            </a:r>
            <a:pPr indent="0" marL="0">
              <a:buNone/>
            </a:pPr>
            <a:r>
              <a:rPr lang="en-US" sz="1200" dirty="0">
                <a:solidFill>
                  <a:srgbClr val="1A1A2E"/>
                </a:solidFill>
                <a:latin typeface="Calibri" pitchFamily="34" charset="0"/>
                <a:ea typeface="Calibri" pitchFamily="34" charset="-122"/>
                <a:cs typeface="Calibri" pitchFamily="34" charset="-120"/>
              </a:rPr>
              <a:t>, Arquitectura de ROS 2: nodos, topics, DDS y QoS</a:t>
            </a:r>
            <a:endParaRPr lang="en-US" sz="1300" dirty="0"/>
          </a:p>
        </p:txBody>
      </p:sp>
      <p:sp>
        <p:nvSpPr>
          <p:cNvPr id="8" name="Shape 6"/>
          <p:cNvSpPr/>
          <p:nvPr/>
        </p:nvSpPr>
        <p:spPr>
          <a:xfrm>
            <a:off x="640080" y="2395728"/>
            <a:ext cx="10881360" cy="713232"/>
          </a:xfrm>
          <a:prstGeom prst="roundRect">
            <a:avLst>
              <a:gd name="adj" fmla="val 10256"/>
            </a:avLst>
          </a:prstGeom>
          <a:solidFill>
            <a:srgbClr val="F2F4FB"/>
          </a:solidFill>
          <a:ln/>
        </p:spPr>
        <p:txBody>
          <a:bodyPr/>
          <a:p/>
        </p:txBody>
      </p:sp>
      <p:sp>
        <p:nvSpPr>
          <p:cNvPr id="9" name="Shape 7"/>
          <p:cNvSpPr/>
          <p:nvPr/>
        </p:nvSpPr>
        <p:spPr>
          <a:xfrm>
            <a:off x="841248" y="2523744"/>
            <a:ext cx="457200" cy="457200"/>
          </a:xfrm>
          <a:prstGeom prst="ellipse">
            <a:avLst/>
          </a:prstGeom>
          <a:solidFill>
            <a:srgbClr val="2FD26E"/>
          </a:solidFill>
          <a:ln/>
        </p:spPr>
        <p:txBody>
          <a:bodyPr/>
          <a:p/>
        </p:txBody>
      </p:sp>
      <p:sp>
        <p:nvSpPr>
          <p:cNvPr id="10" name="Text 8"/>
          <p:cNvSpPr/>
          <p:nvPr/>
        </p:nvSpPr>
        <p:spPr>
          <a:xfrm>
            <a:off x="841248" y="2523744"/>
            <a:ext cx="457200" cy="457200"/>
          </a:xfrm>
          <a:prstGeom prst="rect">
            <a:avLst/>
          </a:prstGeom>
          <a:noFill/>
          <a:ln/>
        </p:spPr>
        <p:txBody>
          <a:bodyPr wrap="square" lIns="0" tIns="0" rIns="0" bIns="0" rtlCol="0" anchor="ctr"/>
          <a:lstStyle/>
          <a:p>
            <a:pPr algn="ctr" indent="0" marL="0">
              <a:buNone/>
            </a:pPr>
            <a:r>
              <a:rPr lang="en-US" sz="1500" b="1" dirty="0">
                <a:solidFill>
                  <a:srgbClr val="1B2A80"/>
                </a:solidFill>
                <a:latin typeface="Calibri" pitchFamily="34" charset="0"/>
                <a:ea typeface="Calibri" pitchFamily="34" charset="-122"/>
                <a:cs typeface="Calibri" pitchFamily="34" charset="-120"/>
              </a:rPr>
              <a:t>2</a:t>
            </a:r>
            <a:endParaRPr lang="en-US" sz="1500" dirty="0"/>
          </a:p>
        </p:txBody>
      </p:sp>
      <p:sp>
        <p:nvSpPr>
          <p:cNvPr id="11" name="Text 9"/>
          <p:cNvSpPr/>
          <p:nvPr/>
        </p:nvSpPr>
        <p:spPr>
          <a:xfrm>
            <a:off x="1481328" y="2395728"/>
            <a:ext cx="9829800" cy="713232"/>
          </a:xfrm>
          <a:prstGeom prst="rect">
            <a:avLst/>
          </a:prstGeom>
          <a:noFill/>
          <a:ln/>
        </p:spPr>
        <p:txBody>
          <a:bodyPr wrap="square" lIns="0" tIns="0" rIns="0" bIns="0" rtlCol="0" anchor="ctr"/>
          <a:lstStyle/>
          <a:p>
            <a:pPr indent="0" marL="0">
              <a:buNone/>
            </a:pPr>
            <a:r>
              <a:rPr lang="en-US" sz="1300" b="1" dirty="0">
                <a:solidFill>
                  <a:srgbClr val="1B2A80"/>
                </a:solidFill>
                <a:latin typeface="Calibri" pitchFamily="34" charset="0"/>
                <a:ea typeface="Calibri" pitchFamily="34" charset="-122"/>
                <a:cs typeface="Calibri" pitchFamily="34" charset="-120"/>
              </a:rPr>
              <a:t>S33 · jue 26 nov · 1 h </a:t>
            </a:r>
            <a:pPr indent="0" marL="0">
              <a:buNone/>
            </a:pPr>
            <a:r>
              <a:rPr lang="en-US" sz="1200" dirty="0">
                <a:solidFill>
                  <a:srgbClr val="1A1A2E"/>
                </a:solidFill>
                <a:latin typeface="Calibri" pitchFamily="34" charset="0"/>
                <a:ea typeface="Calibri" pitchFamily="34" charset="-122"/>
                <a:cs typeface="Calibri" pitchFamily="34" charset="-120"/>
              </a:rPr>
              <a:t>, Servicios, acciones, parámetros, launch y colcon</a:t>
            </a:r>
            <a:endParaRPr lang="en-US" sz="1300" dirty="0"/>
          </a:p>
        </p:txBody>
      </p:sp>
      <p:sp>
        <p:nvSpPr>
          <p:cNvPr id="12" name="Shape 10"/>
          <p:cNvSpPr/>
          <p:nvPr/>
        </p:nvSpPr>
        <p:spPr>
          <a:xfrm>
            <a:off x="640080" y="3236976"/>
            <a:ext cx="10881360" cy="713232"/>
          </a:xfrm>
          <a:prstGeom prst="roundRect">
            <a:avLst>
              <a:gd name="adj" fmla="val 10256"/>
            </a:avLst>
          </a:prstGeom>
          <a:solidFill>
            <a:srgbClr val="F2F4FB"/>
          </a:solidFill>
          <a:ln/>
        </p:spPr>
        <p:txBody>
          <a:bodyPr/>
          <a:p/>
        </p:txBody>
      </p:sp>
      <p:sp>
        <p:nvSpPr>
          <p:cNvPr id="13" name="Shape 11"/>
          <p:cNvSpPr/>
          <p:nvPr/>
        </p:nvSpPr>
        <p:spPr>
          <a:xfrm>
            <a:off x="841248" y="3364992"/>
            <a:ext cx="457200" cy="457200"/>
          </a:xfrm>
          <a:prstGeom prst="ellipse">
            <a:avLst/>
          </a:prstGeom>
          <a:solidFill>
            <a:srgbClr val="2FD26E"/>
          </a:solidFill>
          <a:ln/>
        </p:spPr>
        <p:txBody>
          <a:bodyPr/>
          <a:p/>
        </p:txBody>
      </p:sp>
      <p:sp>
        <p:nvSpPr>
          <p:cNvPr id="14" name="Text 12"/>
          <p:cNvSpPr/>
          <p:nvPr/>
        </p:nvSpPr>
        <p:spPr>
          <a:xfrm>
            <a:off x="841248" y="3364992"/>
            <a:ext cx="457200" cy="457200"/>
          </a:xfrm>
          <a:prstGeom prst="rect">
            <a:avLst/>
          </a:prstGeom>
          <a:noFill/>
          <a:ln/>
        </p:spPr>
        <p:txBody>
          <a:bodyPr wrap="square" lIns="0" tIns="0" rIns="0" bIns="0" rtlCol="0" anchor="ctr"/>
          <a:lstStyle/>
          <a:p>
            <a:pPr algn="ctr" indent="0" marL="0">
              <a:buNone/>
            </a:pPr>
            <a:r>
              <a:rPr lang="en-US" sz="1500" b="1" dirty="0">
                <a:solidFill>
                  <a:srgbClr val="1B2A80"/>
                </a:solidFill>
                <a:latin typeface="Calibri" pitchFamily="34" charset="0"/>
                <a:ea typeface="Calibri" pitchFamily="34" charset="-122"/>
                <a:cs typeface="Calibri" pitchFamily="34" charset="-120"/>
              </a:rPr>
              <a:t>3</a:t>
            </a:r>
            <a:endParaRPr lang="en-US" sz="1500" dirty="0"/>
          </a:p>
        </p:txBody>
      </p:sp>
      <p:sp>
        <p:nvSpPr>
          <p:cNvPr id="15" name="Text 13"/>
          <p:cNvSpPr/>
          <p:nvPr/>
        </p:nvSpPr>
        <p:spPr>
          <a:xfrm>
            <a:off x="1481328" y="3236976"/>
            <a:ext cx="9829800" cy="713232"/>
          </a:xfrm>
          <a:prstGeom prst="rect">
            <a:avLst/>
          </a:prstGeom>
          <a:noFill/>
          <a:ln/>
        </p:spPr>
        <p:txBody>
          <a:bodyPr wrap="square" lIns="0" tIns="0" rIns="0" bIns="0" rtlCol="0" anchor="ctr"/>
          <a:lstStyle/>
          <a:p>
            <a:pPr indent="0" marL="0">
              <a:buNone/>
            </a:pPr>
            <a:r>
              <a:rPr lang="en-US" sz="1300" b="1" dirty="0">
                <a:solidFill>
                  <a:srgbClr val="1B2A80"/>
                </a:solidFill>
                <a:latin typeface="Calibri" pitchFamily="34" charset="0"/>
                <a:ea typeface="Calibri" pitchFamily="34" charset="-122"/>
                <a:cs typeface="Calibri" pitchFamily="34" charset="-120"/>
              </a:rPr>
              <a:t>S34 · vie 27 nov · 2 h </a:t>
            </a:r>
            <a:pPr indent="0" marL="0">
              <a:buNone/>
            </a:pPr>
            <a:r>
              <a:rPr lang="en-US" sz="1200" dirty="0">
                <a:solidFill>
                  <a:srgbClr val="1A1A2E"/>
                </a:solidFill>
                <a:latin typeface="Calibri" pitchFamily="34" charset="0"/>
                <a:ea typeface="Calibri" pitchFamily="34" charset="-122"/>
                <a:cs typeface="Calibri" pitchFamily="34" charset="-120"/>
              </a:rPr>
              <a:t>, Taller: nodo rclpy, simulación en Gazebo y TF2</a:t>
            </a:r>
            <a:endParaRPr lang="en-US" sz="1300" dirty="0"/>
          </a:p>
        </p:txBody>
      </p:sp>
      <p:sp>
        <p:nvSpPr>
          <p:cNvPr id="16" name="Shape 14"/>
          <p:cNvSpPr/>
          <p:nvPr/>
        </p:nvSpPr>
        <p:spPr>
          <a:xfrm>
            <a:off x="640080" y="4078224"/>
            <a:ext cx="10881360" cy="713232"/>
          </a:xfrm>
          <a:prstGeom prst="roundRect">
            <a:avLst>
              <a:gd name="adj" fmla="val 10256"/>
            </a:avLst>
          </a:prstGeom>
          <a:solidFill>
            <a:srgbClr val="F2F4FB"/>
          </a:solidFill>
          <a:ln/>
        </p:spPr>
        <p:txBody>
          <a:bodyPr/>
          <a:p/>
        </p:txBody>
      </p:sp>
      <p:sp>
        <p:nvSpPr>
          <p:cNvPr id="17" name="Shape 15"/>
          <p:cNvSpPr/>
          <p:nvPr/>
        </p:nvSpPr>
        <p:spPr>
          <a:xfrm>
            <a:off x="841248" y="4206240"/>
            <a:ext cx="457200" cy="457200"/>
          </a:xfrm>
          <a:prstGeom prst="ellipse">
            <a:avLst/>
          </a:prstGeom>
          <a:solidFill>
            <a:srgbClr val="2FD26E"/>
          </a:solidFill>
          <a:ln/>
        </p:spPr>
        <p:txBody>
          <a:bodyPr/>
          <a:p/>
        </p:txBody>
      </p:sp>
      <p:sp>
        <p:nvSpPr>
          <p:cNvPr id="18" name="Text 16"/>
          <p:cNvSpPr/>
          <p:nvPr/>
        </p:nvSpPr>
        <p:spPr>
          <a:xfrm>
            <a:off x="841248" y="4206240"/>
            <a:ext cx="457200" cy="457200"/>
          </a:xfrm>
          <a:prstGeom prst="rect">
            <a:avLst/>
          </a:prstGeom>
          <a:noFill/>
          <a:ln/>
        </p:spPr>
        <p:txBody>
          <a:bodyPr wrap="square" lIns="0" tIns="0" rIns="0" bIns="0" rtlCol="0" anchor="ctr"/>
          <a:lstStyle/>
          <a:p>
            <a:pPr algn="ctr" indent="0" marL="0">
              <a:buNone/>
            </a:pPr>
            <a:r>
              <a:rPr lang="en-US" sz="1500" b="1" dirty="0">
                <a:solidFill>
                  <a:srgbClr val="1B2A80"/>
                </a:solidFill>
                <a:latin typeface="Calibri" pitchFamily="34" charset="0"/>
                <a:ea typeface="Calibri" pitchFamily="34" charset="-122"/>
                <a:cs typeface="Calibri" pitchFamily="34" charset="-120"/>
              </a:rPr>
              <a:t>4</a:t>
            </a:r>
            <a:endParaRPr lang="en-US" sz="1500" dirty="0"/>
          </a:p>
        </p:txBody>
      </p:sp>
      <p:sp>
        <p:nvSpPr>
          <p:cNvPr id="19" name="Text 17"/>
          <p:cNvSpPr/>
          <p:nvPr/>
        </p:nvSpPr>
        <p:spPr>
          <a:xfrm>
            <a:off x="1481328" y="4078224"/>
            <a:ext cx="9829800" cy="713232"/>
          </a:xfrm>
          <a:prstGeom prst="rect">
            <a:avLst/>
          </a:prstGeom>
          <a:noFill/>
          <a:ln/>
        </p:spPr>
        <p:txBody>
          <a:bodyPr wrap="square" lIns="0" tIns="0" rIns="0" bIns="0" rtlCol="0" anchor="ctr"/>
          <a:lstStyle/>
          <a:p>
            <a:pPr indent="0" marL="0">
              <a:buNone/>
            </a:pPr>
            <a:r>
              <a:rPr lang="en-US" sz="1300" b="1" dirty="0">
                <a:solidFill>
                  <a:srgbClr val="1B2A80"/>
                </a:solidFill>
                <a:latin typeface="Calibri" pitchFamily="34" charset="0"/>
                <a:ea typeface="Calibri" pitchFamily="34" charset="-122"/>
                <a:cs typeface="Calibri" pitchFamily="34" charset="-120"/>
              </a:rPr>
              <a:t>S35 · mié 2 dic · 1 h </a:t>
            </a:r>
            <a:pPr indent="0" marL="0">
              <a:buNone/>
            </a:pPr>
            <a:r>
              <a:rPr lang="en-US" sz="1200" dirty="0">
                <a:solidFill>
                  <a:srgbClr val="1A1A2E"/>
                </a:solidFill>
                <a:latin typeface="Calibri" pitchFamily="34" charset="0"/>
                <a:ea typeface="Calibri" pitchFamily="34" charset="-122"/>
                <a:cs typeface="Calibri" pitchFamily="34" charset="-120"/>
              </a:rPr>
              <a:t>, Planificación: mapas, A*, PRM y RRT</a:t>
            </a:r>
            <a:endParaRPr lang="en-US" sz="1300" dirty="0"/>
          </a:p>
        </p:txBody>
      </p:sp>
      <p:sp>
        <p:nvSpPr>
          <p:cNvPr id="20" name="Shape 18"/>
          <p:cNvSpPr/>
          <p:nvPr/>
        </p:nvSpPr>
        <p:spPr>
          <a:xfrm>
            <a:off x="640080" y="4919472"/>
            <a:ext cx="10881360" cy="713232"/>
          </a:xfrm>
          <a:prstGeom prst="roundRect">
            <a:avLst>
              <a:gd name="adj" fmla="val 10256"/>
            </a:avLst>
          </a:prstGeom>
          <a:solidFill>
            <a:srgbClr val="F2F4FB"/>
          </a:solidFill>
          <a:ln/>
        </p:spPr>
        <p:txBody>
          <a:bodyPr/>
          <a:p/>
        </p:txBody>
      </p:sp>
      <p:sp>
        <p:nvSpPr>
          <p:cNvPr id="21" name="Shape 19"/>
          <p:cNvSpPr/>
          <p:nvPr/>
        </p:nvSpPr>
        <p:spPr>
          <a:xfrm>
            <a:off x="841248" y="5047488"/>
            <a:ext cx="457200" cy="457200"/>
          </a:xfrm>
          <a:prstGeom prst="ellipse">
            <a:avLst/>
          </a:prstGeom>
          <a:solidFill>
            <a:srgbClr val="2FD26E"/>
          </a:solidFill>
          <a:ln/>
        </p:spPr>
        <p:txBody>
          <a:bodyPr/>
          <a:p/>
        </p:txBody>
      </p:sp>
      <p:sp>
        <p:nvSpPr>
          <p:cNvPr id="22" name="Text 20"/>
          <p:cNvSpPr/>
          <p:nvPr/>
        </p:nvSpPr>
        <p:spPr>
          <a:xfrm>
            <a:off x="841248" y="5047488"/>
            <a:ext cx="457200" cy="457200"/>
          </a:xfrm>
          <a:prstGeom prst="rect">
            <a:avLst/>
          </a:prstGeom>
          <a:noFill/>
          <a:ln/>
        </p:spPr>
        <p:txBody>
          <a:bodyPr wrap="square" lIns="0" tIns="0" rIns="0" bIns="0" rtlCol="0" anchor="ctr"/>
          <a:lstStyle/>
          <a:p>
            <a:pPr algn="ctr" indent="0" marL="0">
              <a:buNone/>
            </a:pPr>
            <a:r>
              <a:rPr lang="en-US" sz="1500" b="1" dirty="0">
                <a:solidFill>
                  <a:srgbClr val="1B2A80"/>
                </a:solidFill>
                <a:latin typeface="Calibri" pitchFamily="34" charset="0"/>
                <a:ea typeface="Calibri" pitchFamily="34" charset="-122"/>
                <a:cs typeface="Calibri" pitchFamily="34" charset="-120"/>
              </a:rPr>
              <a:t>5</a:t>
            </a:r>
            <a:endParaRPr lang="en-US" sz="1500" dirty="0"/>
          </a:p>
        </p:txBody>
      </p:sp>
      <p:sp>
        <p:nvSpPr>
          <p:cNvPr id="23" name="Text 21"/>
          <p:cNvSpPr/>
          <p:nvPr/>
        </p:nvSpPr>
        <p:spPr>
          <a:xfrm>
            <a:off x="1481328" y="4919472"/>
            <a:ext cx="9829800" cy="713232"/>
          </a:xfrm>
          <a:prstGeom prst="rect">
            <a:avLst/>
          </a:prstGeom>
          <a:noFill/>
          <a:ln/>
        </p:spPr>
        <p:txBody>
          <a:bodyPr wrap="square" lIns="0" tIns="0" rIns="0" bIns="0" rtlCol="0" anchor="ctr"/>
          <a:lstStyle/>
          <a:p>
            <a:pPr indent="0" marL="0">
              <a:buNone/>
            </a:pPr>
            <a:r>
              <a:rPr lang="en-US" sz="1300" b="1" dirty="0">
                <a:solidFill>
                  <a:srgbClr val="1B2A80"/>
                </a:solidFill>
                <a:latin typeface="Calibri" pitchFamily="34" charset="0"/>
                <a:ea typeface="Calibri" pitchFamily="34" charset="-122"/>
                <a:cs typeface="Calibri" pitchFamily="34" charset="-120"/>
              </a:rPr>
              <a:t>S36 · jue 3 dic · 1 h </a:t>
            </a:r>
            <a:pPr indent="0" marL="0">
              <a:buNone/>
            </a:pPr>
            <a:r>
              <a:rPr lang="en-US" sz="1200" dirty="0">
                <a:solidFill>
                  <a:srgbClr val="1A1A2E"/>
                </a:solidFill>
                <a:latin typeface="Calibri" pitchFamily="34" charset="0"/>
                <a:ea typeface="Calibri" pitchFamily="34" charset="-122"/>
                <a:cs typeface="Calibri" pitchFamily="34" charset="-120"/>
              </a:rPr>
              <a:t>, Navegación autónoma con Nav2</a:t>
            </a:r>
            <a:endParaRPr lang="en-US" sz="1300" dirty="0"/>
          </a:p>
        </p:txBody>
      </p:sp>
      <p:sp>
        <p:nvSpPr>
          <p:cNvPr id="24" name="Shape 22"/>
          <p:cNvSpPr/>
          <p:nvPr/>
        </p:nvSpPr>
        <p:spPr>
          <a:xfrm>
            <a:off x="640080" y="5760720"/>
            <a:ext cx="10881360" cy="713232"/>
          </a:xfrm>
          <a:prstGeom prst="roundRect">
            <a:avLst>
              <a:gd name="adj" fmla="val 10256"/>
            </a:avLst>
          </a:prstGeom>
          <a:solidFill>
            <a:srgbClr val="F2F4FB"/>
          </a:solidFill>
          <a:ln/>
        </p:spPr>
        <p:txBody>
          <a:bodyPr/>
          <a:p/>
        </p:txBody>
      </p:sp>
      <p:sp>
        <p:nvSpPr>
          <p:cNvPr id="25" name="Shape 23"/>
          <p:cNvSpPr/>
          <p:nvPr/>
        </p:nvSpPr>
        <p:spPr>
          <a:xfrm>
            <a:off x="841248" y="5888736"/>
            <a:ext cx="457200" cy="457200"/>
          </a:xfrm>
          <a:prstGeom prst="ellipse">
            <a:avLst/>
          </a:prstGeom>
          <a:solidFill>
            <a:srgbClr val="2FD26E"/>
          </a:solidFill>
          <a:ln/>
        </p:spPr>
        <p:txBody>
          <a:bodyPr/>
          <a:p/>
        </p:txBody>
      </p:sp>
      <p:sp>
        <p:nvSpPr>
          <p:cNvPr id="26" name="Text 24"/>
          <p:cNvSpPr/>
          <p:nvPr/>
        </p:nvSpPr>
        <p:spPr>
          <a:xfrm>
            <a:off x="841248" y="5888736"/>
            <a:ext cx="457200" cy="457200"/>
          </a:xfrm>
          <a:prstGeom prst="rect">
            <a:avLst/>
          </a:prstGeom>
          <a:noFill/>
          <a:ln/>
        </p:spPr>
        <p:txBody>
          <a:bodyPr wrap="square" lIns="0" tIns="0" rIns="0" bIns="0" rtlCol="0" anchor="ctr"/>
          <a:lstStyle/>
          <a:p>
            <a:pPr algn="ctr" indent="0" marL="0">
              <a:buNone/>
            </a:pPr>
            <a:r>
              <a:rPr lang="en-US" sz="1500" b="1" dirty="0">
                <a:solidFill>
                  <a:srgbClr val="1B2A80"/>
                </a:solidFill>
                <a:latin typeface="Calibri" pitchFamily="34" charset="0"/>
                <a:ea typeface="Calibri" pitchFamily="34" charset="-122"/>
                <a:cs typeface="Calibri" pitchFamily="34" charset="-120"/>
              </a:rPr>
              <a:t>6</a:t>
            </a:r>
            <a:endParaRPr lang="en-US" sz="1500" dirty="0"/>
          </a:p>
        </p:txBody>
      </p:sp>
      <p:sp>
        <p:nvSpPr>
          <p:cNvPr id="27" name="Text 25"/>
          <p:cNvSpPr/>
          <p:nvPr/>
        </p:nvSpPr>
        <p:spPr>
          <a:xfrm>
            <a:off x="1481328" y="5760720"/>
            <a:ext cx="9829800" cy="713232"/>
          </a:xfrm>
          <a:prstGeom prst="rect">
            <a:avLst/>
          </a:prstGeom>
          <a:noFill/>
          <a:ln/>
        </p:spPr>
        <p:txBody>
          <a:bodyPr wrap="square" lIns="0" tIns="0" rIns="0" bIns="0" rtlCol="0" anchor="ctr"/>
          <a:lstStyle/>
          <a:p>
            <a:pPr indent="0" marL="0">
              <a:buNone/>
            </a:pPr>
            <a:r>
              <a:rPr lang="en-US" sz="1300" b="1" dirty="0">
                <a:solidFill>
                  <a:srgbClr val="1B2A80"/>
                </a:solidFill>
                <a:latin typeface="Calibri" pitchFamily="34" charset="0"/>
                <a:ea typeface="Calibri" pitchFamily="34" charset="-122"/>
                <a:cs typeface="Calibri" pitchFamily="34" charset="-120"/>
              </a:rPr>
              <a:t>S37 · vie 4 dic · 2 h </a:t>
            </a:r>
            <a:pPr indent="0" marL="0">
              <a:buNone/>
            </a:pPr>
            <a:r>
              <a:rPr lang="en-US" sz="1200" dirty="0">
                <a:solidFill>
                  <a:srgbClr val="1A1A2E"/>
                </a:solidFill>
                <a:latin typeface="Calibri" pitchFamily="34" charset="0"/>
                <a:ea typeface="Calibri" pitchFamily="34" charset="-122"/>
                <a:cs typeface="Calibri" pitchFamily="34" charset="-120"/>
              </a:rPr>
              <a:t>, Manipulación con MoveIt 2 e integración del stack</a:t>
            </a:r>
            <a:endParaRPr lang="en-US" sz="1300" dirty="0"/>
          </a:p>
        </p:txBody>
      </p:sp>
      <p:sp>
        <p:nvSpPr>
          <p:cNvPr id="29" name="Text 26"/>
          <p:cNvSpPr/>
          <p:nvPr/>
        </p:nvSpPr>
        <p:spPr>
          <a:xfrm>
            <a:off x="640080" y="6446520"/>
            <a:ext cx="10972800" cy="274320"/>
          </a:xfrm>
          <a:prstGeom prst="rect">
            <a:avLst/>
          </a:prstGeom>
          <a:noFill/>
          <a:ln/>
        </p:spPr>
        <p:txBody>
          <a:bodyPr wrap="square" lIns="0" tIns="0" rIns="0" bIns="0" rtlCol="0" anchor="ctr"/>
          <a:lstStyle/>
          <a:p>
            <a:pPr indent="0" marL="0">
              <a:buNone/>
            </a:pPr>
            <a:r>
              <a:rPr lang="en-US" sz="1000" dirty="0">
                <a:solidFill>
                  <a:srgbClr val="595959"/>
                </a:solidFill>
                <a:latin typeface="Calibri" pitchFamily="34" charset="0"/>
                <a:ea typeface="Calibri" pitchFamily="34" charset="-122"/>
                <a:cs typeface="Calibri" pitchFamily="34" charset="-120"/>
              </a:rPr>
              <a:t>82514 Mecatrónica y Robótica · B7 · IQS</a:t>
            </a:r>
            <a:endParaRPr lang="en-US" sz="100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2A80"/>
        </a:solidFill>
      </p:bgPr>
    </p:bg>
    <p:spTree>
      <p:nvGrpSpPr>
        <p:cNvPr id="1" name=""/>
        <p:cNvGrpSpPr/>
        <p:nvPr/>
      </p:nvGrpSpPr>
      <p:grpSpPr>
        <a:xfrm>
          <a:off x="0" y="0"/>
          <a:ext cx="0" cy="0"/>
          <a:chOff x="0" y="0"/>
          <a:chExt cx="0" cy="0"/>
        </a:xfrm>
      </p:grpSpPr>
      <p:sp>
        <p:nvSpPr>
          <p:cNvPr id="2" name="Shape 0"/>
          <p:cNvSpPr/>
          <p:nvPr/>
        </p:nvSpPr>
        <p:spPr>
          <a:xfrm>
            <a:off x="-18288" y="2834640"/>
            <a:ext cx="5852160" cy="4041648"/>
          </a:xfrm>
          <a:prstGeom prst="rtTriangle">
            <a:avLst/>
          </a:prstGeom>
          <a:solidFill>
            <a:srgbClr val="2E3FA3"/>
          </a:solidFill>
          <a:ln/>
        </p:spPr>
        <p:txBody>
          <a:bodyPr/>
          <a:p/>
        </p:txBody>
      </p:sp>
      <p:sp>
        <p:nvSpPr>
          <p:cNvPr id="3" name="Shape 1"/>
          <p:cNvSpPr/>
          <p:nvPr/>
        </p:nvSpPr>
        <p:spPr>
          <a:xfrm>
            <a:off x="-18288" y="4846320"/>
            <a:ext cx="2926080" cy="2029968"/>
          </a:xfrm>
          <a:prstGeom prst="rtTriangle">
            <a:avLst/>
          </a:prstGeom>
          <a:solidFill>
            <a:srgbClr val="2FD26E"/>
          </a:solidFill>
          <a:ln/>
        </p:spPr>
        <p:txBody>
          <a:bodyPr/>
          <a:p/>
        </p:txBody>
      </p:sp>
      <p:sp>
        <p:nvSpPr>
          <p:cNvPr id="4" name="Shape 2"/>
          <p:cNvSpPr/>
          <p:nvPr/>
        </p:nvSpPr>
        <p:spPr>
          <a:xfrm>
            <a:off x="685800" y="1051560"/>
            <a:ext cx="1051560" cy="1051560"/>
          </a:xfrm>
          <a:prstGeom prst="ellipse">
            <a:avLst/>
          </a:prstGeom>
          <a:solidFill>
            <a:srgbClr val="2FD26E"/>
          </a:solidFill>
          <a:ln/>
        </p:spPr>
        <p:txBody>
          <a:bodyPr/>
          <a:p/>
        </p:txBody>
      </p:sp>
      <p:sp>
        <p:nvSpPr>
          <p:cNvPr id="5" name="Text 3"/>
          <p:cNvSpPr/>
          <p:nvPr/>
        </p:nvSpPr>
        <p:spPr>
          <a:xfrm>
            <a:off x="685800" y="1051560"/>
            <a:ext cx="1051560" cy="1051560"/>
          </a:xfrm>
          <a:prstGeom prst="rect">
            <a:avLst/>
          </a:prstGeom>
          <a:noFill/>
          <a:ln/>
        </p:spPr>
        <p:txBody>
          <a:bodyPr wrap="square" lIns="0" tIns="0" rIns="0" bIns="0" rtlCol="0" anchor="ctr"/>
          <a:lstStyle/>
          <a:p>
            <a:pPr algn="ctr" indent="0" marL="0">
              <a:buNone/>
            </a:pPr>
            <a:r>
              <a:rPr lang="en-US" sz="3000" b="1" dirty="0">
                <a:solidFill>
                  <a:srgbClr val="1B2A80"/>
                </a:solidFill>
                <a:latin typeface="Calibri" pitchFamily="34" charset="0"/>
                <a:ea typeface="Calibri" pitchFamily="34" charset="-122"/>
                <a:cs typeface="Calibri" pitchFamily="34" charset="-120"/>
              </a:rPr>
              <a:t>S32</a:t>
            </a:r>
            <a:endParaRPr lang="en-US" sz="3000" dirty="0"/>
          </a:p>
        </p:txBody>
      </p:sp>
      <p:sp>
        <p:nvSpPr>
          <p:cNvPr id="6" name="Text 4"/>
          <p:cNvSpPr/>
          <p:nvPr/>
        </p:nvSpPr>
        <p:spPr>
          <a:xfrm>
            <a:off x="2011680" y="914400"/>
            <a:ext cx="9418320" cy="137160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Arquitectura de ROS 2</a:t>
            </a:r>
            <a:endParaRPr lang="en-US" sz="3400" dirty="0"/>
          </a:p>
        </p:txBody>
      </p:sp>
      <p:sp>
        <p:nvSpPr>
          <p:cNvPr id="7" name="Text 5"/>
          <p:cNvSpPr/>
          <p:nvPr/>
        </p:nvSpPr>
        <p:spPr>
          <a:xfrm>
            <a:off x="2057400" y="2286000"/>
            <a:ext cx="8961120" cy="822960"/>
          </a:xfrm>
          <a:prstGeom prst="rect">
            <a:avLst/>
          </a:prstGeom>
          <a:noFill/>
          <a:ln/>
        </p:spPr>
        <p:txBody>
          <a:bodyPr wrap="square" lIns="0" tIns="0" rIns="0" bIns="0" rtlCol="0" anchor="ctr"/>
          <a:lstStyle/>
          <a:p>
            <a:pPr indent="0" marL="0">
              <a:buNone/>
            </a:pPr>
            <a:r>
              <a:rPr lang="en-US" sz="1600" dirty="0">
                <a:solidFill>
                  <a:srgbClr val="C9D2F5"/>
                </a:solidFill>
                <a:latin typeface="Calibri" pitchFamily="34" charset="0"/>
                <a:ea typeface="Calibri" pitchFamily="34" charset="-122"/>
                <a:cs typeface="Calibri" pitchFamily="34" charset="-120"/>
              </a:rPr>
              <a:t>Grafo de computación · topics y mensajes · DDS y QoS</a:t>
            </a:r>
            <a:endParaRPr lang="en-US" sz="1600" dirty="0"/>
          </a:p>
        </p:txBody>
      </p:sp>
      <p:pic>
        <p:nvPicPr>
          <p:cNvPr id="8" name="Image 0" descr="/home/claude/work/curso_82514/media/fotos/b7_roomba2.jpg">    </p:cNvPr>
          <p:cNvPicPr>
            <a:picLocks noChangeAspect="1"/>
          </p:cNvPicPr>
          <p:nvPr/>
        </p:nvPicPr>
        <p:blipFill>
          <a:blip r:embed="rId1"/>
          <a:stretch>
            <a:fillRect/>
          </a:stretch>
        </p:blipFill>
        <p:spPr>
          <a:xfrm>
            <a:off x="8229600" y="3035808"/>
            <a:ext cx="2926080" cy="2926080"/>
          </a:xfrm>
          <a:prstGeom prst="rect">
            <a:avLst/>
          </a:prstGeom>
        </p:spPr>
      </p:pic>
      <p:sp>
        <p:nvSpPr>
          <p:cNvPr id="9" name="Shape 6"/>
          <p:cNvSpPr/>
          <p:nvPr/>
        </p:nvSpPr>
        <p:spPr>
          <a:xfrm>
            <a:off x="8229600" y="5961888"/>
            <a:ext cx="2926080" cy="54864"/>
          </a:xfrm>
          <a:prstGeom prst="rect">
            <a:avLst/>
          </a:prstGeom>
          <a:solidFill>
            <a:srgbClr val="2FD26E"/>
          </a:solidFill>
          <a:ln/>
        </p:spPr>
        <p:txBody>
          <a:bodyPr/>
          <a:p/>
        </p:txBody>
      </p:sp>
      <p:sp>
        <p:nvSpPr>
          <p:cNvPr id="10" name="Text 7"/>
          <p:cNvSpPr/>
          <p:nvPr/>
        </p:nvSpPr>
        <p:spPr>
          <a:xfrm>
            <a:off x="7589520" y="6089904"/>
            <a:ext cx="4160520" cy="502920"/>
          </a:xfrm>
          <a:prstGeom prst="rect">
            <a:avLst/>
          </a:prstGeom>
          <a:noFill/>
          <a:ln/>
        </p:spPr>
        <p:txBody>
          <a:bodyPr wrap="square" lIns="0" tIns="0" rIns="0" bIns="0" rtlCol="0" anchor="ctr"/>
          <a:lstStyle/>
          <a:p>
            <a:pPr algn="ctr" indent="0" marL="0">
              <a:buNone/>
            </a:pPr>
            <a:r>
              <a:rPr lang="en-US" sz="1000" dirty="0">
                <a:solidFill>
                  <a:srgbClr val="C9D2F5"/>
                </a:solidFill>
                <a:latin typeface="Calibri" pitchFamily="34" charset="0"/>
                <a:ea typeface="Calibri" pitchFamily="34" charset="-122"/>
                <a:cs typeface="Calibri" pitchFamily="34" charset="-120"/>
              </a:rPr>
              <a:t>Roomba: un grafo de sensores y nodos con ruedas</a:t>
            </a:r>
            <a:endParaRPr lang="en-US" sz="1000" dirty="0"/>
          </a:p>
        </p:txBody>
      </p:sp>
      <p:sp>
        <p:nvSpPr>
          <p:cNvPr id="11" name="Text 8"/>
          <p:cNvSpPr/>
          <p:nvPr/>
        </p:nvSpPr>
        <p:spPr>
          <a:xfrm>
            <a:off x="6675120" y="6528816"/>
            <a:ext cx="5074920" cy="228600"/>
          </a:xfrm>
          <a:prstGeom prst="rect">
            <a:avLst/>
          </a:prstGeom>
          <a:noFill/>
          <a:ln/>
        </p:spPr>
        <p:txBody>
          <a:bodyPr wrap="square" lIns="0" tIns="0" rIns="0" bIns="0" rtlCol="0" anchor="ctr"/>
          <a:lstStyle/>
          <a:p>
            <a:pPr algn="r" indent="0" marL="0">
              <a:buNone/>
            </a:pPr>
            <a:r>
              <a:rPr lang="en-US" sz="800" dirty="0">
                <a:solidFill>
                  <a:srgbClr val="8A97D8"/>
                </a:solidFill>
                <a:latin typeface="Calibri" pitchFamily="34" charset="0"/>
                <a:ea typeface="Calibri" pitchFamily="34" charset="-122"/>
                <a:cs typeface="Calibri" pitchFamily="34" charset="-120"/>
              </a:rPr>
              <a:t>Foto: CEphoto, U. Aranas CC BY-SA 4.0 · Wikimedia Commons</a:t>
            </a:r>
            <a:endParaRPr lang="en-US" sz="800" dirty="0"/>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47472"/>
            <a:ext cx="10881360" cy="274320"/>
          </a:xfrm>
          <a:prstGeom prst="rect">
            <a:avLst/>
          </a:prstGeom>
          <a:noFill/>
          <a:ln/>
        </p:spPr>
        <p:txBody>
          <a:bodyPr wrap="square" lIns="0" tIns="0" rIns="0" bIns="0" rtlCol="0" anchor="ctr"/>
          <a:lstStyle/>
          <a:p>
            <a:pPr indent="0" marL="0">
              <a:buNone/>
            </a:pPr>
            <a:r>
              <a:rPr lang="en-US" sz="1200" b="1" spc="200" kern="0" dirty="0">
                <a:solidFill>
                  <a:srgbClr val="1FA355"/>
                </a:solidFill>
                <a:latin typeface="Calibri" pitchFamily="34" charset="0"/>
                <a:ea typeface="Calibri" pitchFamily="34" charset="-122"/>
                <a:cs typeface="Calibri" pitchFamily="34" charset="-120"/>
              </a:rPr>
              <a:t>S32–S36 · HARDWARE DE REFERENCIA</a:t>
            </a:r>
            <a:endParaRPr lang="en-US" sz="1200" dirty="0"/>
          </a:p>
        </p:txBody>
      </p:sp>
      <p:sp>
        <p:nvSpPr>
          <p:cNvPr id="3" name="Text 1"/>
          <p:cNvSpPr/>
          <p:nvPr/>
        </p:nvSpPr>
        <p:spPr>
          <a:xfrm>
            <a:off x="640080" y="566928"/>
            <a:ext cx="10881360" cy="685800"/>
          </a:xfrm>
          <a:prstGeom prst="rect">
            <a:avLst/>
          </a:prstGeom>
          <a:noFill/>
          <a:ln/>
        </p:spPr>
        <p:txBody>
          <a:bodyPr wrap="square" lIns="0" tIns="0" rIns="0" bIns="0" rtlCol="0" anchor="ctr"/>
          <a:lstStyle/>
          <a:p>
            <a:pPr indent="0" marL="0">
              <a:buNone/>
            </a:pPr>
            <a:r>
              <a:rPr lang="en-US" sz="3000" b="1" dirty="0">
                <a:solidFill>
                  <a:srgbClr val="1B2A80"/>
                </a:solidFill>
                <a:latin typeface="Calibri" pitchFamily="34" charset="0"/>
                <a:ea typeface="Calibri" pitchFamily="34" charset="-122"/>
                <a:cs typeface="Calibri" pitchFamily="34" charset="-120"/>
              </a:rPr>
              <a:t>Las plataformas del stack</a:t>
            </a:r>
            <a:endParaRPr lang="en-US" sz="3000" dirty="0"/>
          </a:p>
        </p:txBody>
      </p:sp>
      <p:pic>
        <p:nvPicPr>
          <p:cNvPr id="4" name="Image 0" descr="/home/claude/work/curso_82514/media/fotos/b7_turtlebot.jpg">    </p:cNvPr>
          <p:cNvPicPr>
            <a:picLocks noChangeAspect="1"/>
          </p:cNvPicPr>
          <p:nvPr/>
        </p:nvPicPr>
        <p:blipFill>
          <a:blip r:embed="rId1"/>
          <a:stretch>
            <a:fillRect/>
          </a:stretch>
        </p:blipFill>
        <p:spPr>
          <a:xfrm>
            <a:off x="1640103" y="1371600"/>
            <a:ext cx="3349195" cy="4572000"/>
          </a:xfrm>
          <a:prstGeom prst="rect">
            <a:avLst/>
          </a:prstGeom>
        </p:spPr>
      </p:pic>
      <p:sp>
        <p:nvSpPr>
          <p:cNvPr id="5" name="Text 2"/>
          <p:cNvSpPr/>
          <p:nvPr/>
        </p:nvSpPr>
        <p:spPr>
          <a:xfrm>
            <a:off x="640080" y="5980176"/>
            <a:ext cx="5349240" cy="292608"/>
          </a:xfrm>
          <a:prstGeom prst="rect">
            <a:avLst/>
          </a:prstGeom>
          <a:noFill/>
          <a:ln/>
        </p:spPr>
        <p:txBody>
          <a:bodyPr wrap="square" lIns="0" tIns="0" rIns="0" bIns="0" rtlCol="0" anchor="ctr"/>
          <a:lstStyle/>
          <a:p>
            <a:pPr algn="ctr" indent="0" marL="0">
              <a:buNone/>
            </a:pPr>
            <a:r>
              <a:rPr lang="en-US" sz="1050" dirty="0">
                <a:solidFill>
                  <a:srgbClr val="595959"/>
                </a:solidFill>
                <a:latin typeface="Calibri" pitchFamily="34" charset="0"/>
                <a:ea typeface="Calibri" pitchFamily="34" charset="-122"/>
                <a:cs typeface="Calibri" pitchFamily="34" charset="-120"/>
              </a:rPr>
              <a:t>TurtleBot3: la plataforma de referencia de ROS 2 y Nav2</a:t>
            </a:r>
            <a:endParaRPr lang="en-US" sz="1050" dirty="0"/>
          </a:p>
        </p:txBody>
      </p:sp>
      <p:pic>
        <p:nvPicPr>
          <p:cNvPr id="6" name="Image 1" descr="/home/claude/work/curso_82514/media/fotos/b7_almacen.jpg">    </p:cNvPr>
          <p:cNvPicPr>
            <a:picLocks noChangeAspect="1"/>
          </p:cNvPicPr>
          <p:nvPr/>
        </p:nvPicPr>
        <p:blipFill>
          <a:blip r:embed="rId2"/>
          <a:stretch>
            <a:fillRect/>
          </a:stretch>
        </p:blipFill>
        <p:spPr>
          <a:xfrm>
            <a:off x="6172200" y="1817406"/>
            <a:ext cx="5349240" cy="3680389"/>
          </a:xfrm>
          <a:prstGeom prst="rect">
            <a:avLst/>
          </a:prstGeom>
        </p:spPr>
      </p:pic>
      <p:sp>
        <p:nvSpPr>
          <p:cNvPr id="7" name="Text 3"/>
          <p:cNvSpPr/>
          <p:nvPr/>
        </p:nvSpPr>
        <p:spPr>
          <a:xfrm>
            <a:off x="6172200" y="5534370"/>
            <a:ext cx="5349240" cy="292608"/>
          </a:xfrm>
          <a:prstGeom prst="rect">
            <a:avLst/>
          </a:prstGeom>
          <a:noFill/>
          <a:ln/>
        </p:spPr>
        <p:txBody>
          <a:bodyPr wrap="square" lIns="0" tIns="0" rIns="0" bIns="0" rtlCol="0" anchor="ctr"/>
          <a:lstStyle/>
          <a:p>
            <a:pPr algn="ctr" indent="0" marL="0">
              <a:buNone/>
            </a:pPr>
            <a:r>
              <a:rPr lang="en-US" sz="1050" dirty="0">
                <a:solidFill>
                  <a:srgbClr val="595959"/>
                </a:solidFill>
                <a:latin typeface="Calibri" pitchFamily="34" charset="0"/>
                <a:ea typeface="Calibri" pitchFamily="34" charset="-122"/>
                <a:cs typeface="Calibri" pitchFamily="34" charset="-120"/>
              </a:rPr>
              <a:t>Flota de robots de almacén (Ocado): el AMR de S6, en producción</a:t>
            </a:r>
            <a:endParaRPr lang="en-US" sz="1050" dirty="0"/>
          </a:p>
        </p:txBody>
      </p:sp>
      <p:sp>
        <p:nvSpPr>
          <p:cNvPr id="8" name="Text 4"/>
          <p:cNvSpPr/>
          <p:nvPr/>
        </p:nvSpPr>
        <p:spPr>
          <a:xfrm>
            <a:off x="640080" y="6446520"/>
            <a:ext cx="10972800" cy="274320"/>
          </a:xfrm>
          <a:prstGeom prst="rect">
            <a:avLst/>
          </a:prstGeom>
          <a:noFill/>
          <a:ln/>
        </p:spPr>
        <p:txBody>
          <a:bodyPr wrap="square" lIns="0" tIns="0" rIns="0" bIns="0" rtlCol="0" anchor="ctr"/>
          <a:lstStyle/>
          <a:p>
            <a:pPr indent="0" marL="0">
              <a:buNone/>
            </a:pPr>
            <a:r>
              <a:rPr lang="en-US" sz="1000" dirty="0">
                <a:solidFill>
                  <a:srgbClr val="595959"/>
                </a:solidFill>
                <a:latin typeface="Calibri" pitchFamily="34" charset="0"/>
                <a:ea typeface="Calibri" pitchFamily="34" charset="-122"/>
                <a:cs typeface="Calibri" pitchFamily="34" charset="-120"/>
              </a:rPr>
              <a:t>Fotos: Kuscu0 CC BY-SA 4.0 · Techwords CC BY-SA 4.0 · Wikimedia Commons</a:t>
            </a:r>
            <a:endParaRPr lang="en-US" sz="1000" dirty="0"/>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47472"/>
            <a:ext cx="10881360" cy="274320"/>
          </a:xfrm>
          <a:prstGeom prst="rect">
            <a:avLst/>
          </a:prstGeom>
          <a:noFill/>
          <a:ln/>
        </p:spPr>
        <p:txBody>
          <a:bodyPr wrap="square" lIns="0" tIns="0" rIns="0" bIns="0" rtlCol="0" anchor="ctr"/>
          <a:lstStyle/>
          <a:p>
            <a:pPr indent="0" marL="0">
              <a:buNone/>
            </a:pPr>
            <a:r>
              <a:rPr lang="en-US" sz="1200" b="1" spc="200" kern="0" dirty="0">
                <a:solidFill>
                  <a:srgbClr val="1FA355"/>
                </a:solidFill>
                <a:latin typeface="Calibri" pitchFamily="34" charset="0"/>
                <a:ea typeface="Calibri" pitchFamily="34" charset="-122"/>
                <a:cs typeface="Calibri" pitchFamily="34" charset="-120"/>
              </a:rPr>
              <a:t>S32 · ARQUITECTURA</a:t>
            </a:r>
            <a:endParaRPr lang="en-US" sz="1200" dirty="0"/>
          </a:p>
        </p:txBody>
      </p:sp>
      <p:sp>
        <p:nvSpPr>
          <p:cNvPr id="3" name="Text 1"/>
          <p:cNvSpPr/>
          <p:nvPr/>
        </p:nvSpPr>
        <p:spPr>
          <a:xfrm>
            <a:off x="640080" y="566928"/>
            <a:ext cx="10881360" cy="685800"/>
          </a:xfrm>
          <a:prstGeom prst="rect">
            <a:avLst/>
          </a:prstGeom>
          <a:noFill/>
          <a:ln/>
        </p:spPr>
        <p:txBody>
          <a:bodyPr wrap="square" lIns="0" tIns="0" rIns="0" bIns="0" rtlCol="0" anchor="ctr"/>
          <a:lstStyle/>
          <a:p>
            <a:pPr indent="0" marL="0">
              <a:buNone/>
            </a:pPr>
            <a:r>
              <a:rPr lang="en-US" sz="3000" b="1" dirty="0">
                <a:solidFill>
                  <a:srgbClr val="1B2A80"/>
                </a:solidFill>
                <a:latin typeface="Calibri" pitchFamily="34" charset="0"/>
                <a:ea typeface="Calibri" pitchFamily="34" charset="-122"/>
                <a:cs typeface="Calibri" pitchFamily="34" charset="-120"/>
              </a:rPr>
              <a:t>De un programa único a un grafo de procesos</a:t>
            </a:r>
            <a:endParaRPr lang="en-US" sz="3000" dirty="0"/>
          </a:p>
        </p:txBody>
      </p:sp>
      <p:sp>
        <p:nvSpPr>
          <p:cNvPr id="4" name="Text 2"/>
          <p:cNvSpPr/>
          <p:nvPr/>
        </p:nvSpPr>
        <p:spPr>
          <a:xfrm>
            <a:off x="640080" y="1463040"/>
            <a:ext cx="6309360" cy="4846320"/>
          </a:xfrm>
          <a:prstGeom prst="rect">
            <a:avLst/>
          </a:prstGeom>
          <a:noFill/>
          <a:ln/>
        </p:spPr>
        <p:txBody>
          <a:bodyPr wrap="square" lIns="0" tIns="0" rIns="0" bIns="0" rtlCol="0" anchor="t"/>
          <a:lstStyle/>
          <a:p>
            <a:pPr indent="0" marL="0">
              <a:spcAft>
                <a:spcPts val="400"/>
              </a:spcAft>
              <a:buNone/>
            </a:pPr>
            <a:r>
              <a:rPr lang="en-US" sz="1500" b="1" dirty="0">
                <a:solidFill>
                  <a:srgbClr val="1B2A80"/>
                </a:solidFill>
                <a:latin typeface="Calibri" pitchFamily="34" charset="0"/>
                <a:ea typeface="Calibri" pitchFamily="34" charset="-122"/>
                <a:cs typeface="Calibri" pitchFamily="34" charset="-120"/>
              </a:rPr>
              <a:t>La idea que organiza todo el ecosistema</a:t>
            </a:r>
            <a:endParaRPr lang="en-US" sz="1500" dirty="0"/>
          </a:p>
          <a:p>
            <a:pPr marL="177800" indent="-177800">
              <a:spcAft>
                <a:spcPts val="800"/>
              </a:spcAft>
              <a:buSzPct val="100000"/>
              <a:buChar char="•"/>
            </a:pPr>
            <a:r>
              <a:rPr lang="en-US" sz="1400" dirty="0">
                <a:solidFill>
                  <a:srgbClr val="1A1A2E"/>
                </a:solidFill>
                <a:latin typeface="Calibri" pitchFamily="34" charset="0"/>
                <a:ea typeface="Calibri" pitchFamily="34" charset="-122"/>
                <a:cs typeface="Calibri" pitchFamily="34" charset="-120"/>
              </a:rPr>
              <a:t>Un sistema robótico no es un programa: es un conjunto de procesos independientes, nodos, que se comunican por mensajes.</a:t>
            </a:r>
            <a:endParaRPr lang="en-US" sz="1500" dirty="0"/>
          </a:p>
          <a:p>
            <a:pPr marL="177800" indent="-177800">
              <a:spcAft>
                <a:spcPts val="800"/>
              </a:spcAft>
              <a:buSzPct val="100000"/>
              <a:buChar char="•"/>
            </a:pPr>
            <a:r>
              <a:rPr lang="en-US" sz="1400" dirty="0">
                <a:solidFill>
                  <a:srgbClr val="1A1A2E"/>
                </a:solidFill>
                <a:latin typeface="Calibri" pitchFamily="34" charset="0"/>
                <a:ea typeface="Calibri" pitchFamily="34" charset="-122"/>
                <a:cs typeface="Calibri" pitchFamily="34" charset="-120"/>
              </a:rPr>
              <a:t>Cada nodo hace una cosa: leer el LiDAR, estimar la pose, planificar, mandar velocidades a las ruedas.</a:t>
            </a:r>
            <a:endParaRPr lang="en-US" sz="1500" dirty="0"/>
          </a:p>
          <a:p>
            <a:pPr marL="177800" indent="-177800">
              <a:spcAft>
                <a:spcPts val="800"/>
              </a:spcAft>
              <a:buSzPct val="100000"/>
              <a:buChar char="•"/>
            </a:pPr>
            <a:r>
              <a:rPr lang="en-US" sz="1400" dirty="0">
                <a:solidFill>
                  <a:srgbClr val="1A1A2E"/>
                </a:solidFill>
                <a:latin typeface="Calibri" pitchFamily="34" charset="0"/>
                <a:ea typeface="Calibri" pitchFamily="34" charset="-122"/>
                <a:cs typeface="Calibri" pitchFamily="34" charset="-120"/>
              </a:rPr>
              <a:t>Ventaja de ingeniería: se sustituye un nodo sin tocar los demás, se reutiliza código entre robots y se depura por partes.</a:t>
            </a:r>
            <a:endParaRPr lang="en-US" sz="1500" dirty="0"/>
          </a:p>
          <a:p>
            <a:pPr marL="177800" indent="-177800">
              <a:spcAft>
                <a:spcPts val="800"/>
              </a:spcAft>
              <a:buSzPct val="100000"/>
              <a:buChar char="•"/>
            </a:pPr>
            <a:r>
              <a:rPr lang="en-US" sz="1400" dirty="0">
                <a:solidFill>
                  <a:srgbClr val="1A1A2E"/>
                </a:solidFill>
                <a:latin typeface="Calibri" pitchFamily="34" charset="0"/>
                <a:ea typeface="Calibri" pitchFamily="34" charset="-122"/>
                <a:cs typeface="Calibri" pitchFamily="34" charset="-120"/>
              </a:rPr>
              <a:t>El precio: ya no hay una traza de ejecución única; depurar exige inspeccionar el grafo y los flujos de mensajes.</a:t>
            </a:r>
            <a:endParaRPr lang="en-US" sz="1500" dirty="0"/>
          </a:p>
        </p:txBody>
      </p:sp>
      <p:sp>
        <p:nvSpPr>
          <p:cNvPr id="5" name="Shape 3"/>
          <p:cNvSpPr/>
          <p:nvPr/>
        </p:nvSpPr>
        <p:spPr>
          <a:xfrm>
            <a:off x="7223760" y="1554480"/>
            <a:ext cx="4297680" cy="4480560"/>
          </a:xfrm>
          <a:prstGeom prst="roundRect">
            <a:avLst>
              <a:gd name="adj" fmla="val 1702"/>
            </a:avLst>
          </a:prstGeom>
          <a:solidFill>
            <a:srgbClr val="F2F4FB"/>
          </a:solidFill>
          <a:ln/>
        </p:spPr>
        <p:txBody>
          <a:bodyPr/>
          <a:p/>
        </p:txBody>
      </p:sp>
      <p:sp>
        <p:nvSpPr>
          <p:cNvPr id="6" name="Text 4"/>
          <p:cNvSpPr/>
          <p:nvPr/>
        </p:nvSpPr>
        <p:spPr>
          <a:xfrm>
            <a:off x="7424928" y="1700784"/>
            <a:ext cx="3895344" cy="502920"/>
          </a:xfrm>
          <a:prstGeom prst="rect">
            <a:avLst/>
          </a:prstGeom>
          <a:noFill/>
          <a:ln/>
        </p:spPr>
        <p:txBody>
          <a:bodyPr wrap="square" lIns="0" tIns="0" rIns="0" bIns="0" rtlCol="0" anchor="ctr"/>
          <a:lstStyle/>
          <a:p>
            <a:pPr indent="0" marL="0">
              <a:buNone/>
            </a:pPr>
            <a:r>
              <a:rPr lang="en-US" sz="1500" b="1" dirty="0">
                <a:solidFill>
                  <a:srgbClr val="1B2A80"/>
                </a:solidFill>
                <a:latin typeface="Calibri" pitchFamily="34" charset="0"/>
                <a:ea typeface="Calibri" pitchFamily="34" charset="-122"/>
                <a:cs typeface="Calibri" pitchFamily="34" charset="-120"/>
              </a:rPr>
              <a:t>Herramientas de inspección</a:t>
            </a:r>
            <a:endParaRPr lang="en-US" sz="1500" dirty="0"/>
          </a:p>
        </p:txBody>
      </p:sp>
      <p:sp>
        <p:nvSpPr>
          <p:cNvPr id="7" name="Text 5"/>
          <p:cNvSpPr/>
          <p:nvPr/>
        </p:nvSpPr>
        <p:spPr>
          <a:xfrm>
            <a:off x="7424928" y="2194560"/>
            <a:ext cx="3895344" cy="3712464"/>
          </a:xfrm>
          <a:prstGeom prst="rect">
            <a:avLst/>
          </a:prstGeom>
          <a:noFill/>
          <a:ln/>
        </p:spPr>
        <p:txBody>
          <a:bodyPr wrap="square" lIns="0" tIns="0" rIns="0" bIns="0" rtlCol="0" anchor="ctr"/>
          <a:lstStyle/>
          <a:p>
            <a:pPr indent="0" marL="0">
              <a:buNone/>
            </a:pPr>
            <a:r>
              <a:rPr lang="en-US" sz="1250" dirty="0">
                <a:solidFill>
                  <a:srgbClr val="1A1A2E"/>
                </a:solidFill>
                <a:latin typeface="Calibri" pitchFamily="34" charset="0"/>
                <a:ea typeface="Calibri" pitchFamily="34" charset="-122"/>
                <a:cs typeface="Calibri" pitchFamily="34" charset="-120"/>
              </a:rPr>
              <a:t>ros2 node list, qué está corriendo</a:t>
            </a:r>
            <a:endParaRPr lang="en-US" sz="1250" dirty="0"/>
          </a:p>
          <a:p>
            <a:pPr indent="0" marL="0">
              <a:buNone/>
            </a:pPr>
            <a:r>
              <a:rPr lang="en-US" sz="1250" dirty="0">
                <a:solidFill>
                  <a:srgbClr val="1A1A2E"/>
                </a:solidFill>
                <a:latin typeface="Calibri" pitchFamily="34" charset="0"/>
                <a:ea typeface="Calibri" pitchFamily="34" charset="-122"/>
                <a:cs typeface="Calibri" pitchFamily="34" charset="-120"/>
              </a:rPr>
              <a:t>ros2 topic list, qué canales existen</a:t>
            </a:r>
            <a:endParaRPr lang="en-US" sz="1250" dirty="0"/>
          </a:p>
          <a:p>
            <a:pPr indent="0" marL="0">
              <a:buNone/>
            </a:pPr>
            <a:r>
              <a:rPr lang="en-US" sz="1250" dirty="0">
                <a:solidFill>
                  <a:srgbClr val="1A1A2E"/>
                </a:solidFill>
                <a:latin typeface="Calibri" pitchFamily="34" charset="0"/>
                <a:ea typeface="Calibri" pitchFamily="34" charset="-122"/>
                <a:cs typeface="Calibri" pitchFamily="34" charset="-120"/>
              </a:rPr>
              <a:t>ros2 topic echo, ver mensajes en vivo</a:t>
            </a:r>
            <a:endParaRPr lang="en-US" sz="1250" dirty="0"/>
          </a:p>
          <a:p>
            <a:pPr indent="0" marL="0">
              <a:buNone/>
            </a:pPr>
            <a:r>
              <a:rPr lang="en-US" sz="1250" dirty="0">
                <a:solidFill>
                  <a:srgbClr val="1A1A2E"/>
                </a:solidFill>
                <a:latin typeface="Calibri" pitchFamily="34" charset="0"/>
                <a:ea typeface="Calibri" pitchFamily="34" charset="-122"/>
                <a:cs typeface="Calibri" pitchFamily="34" charset="-120"/>
              </a:rPr>
              <a:t>ros2 topic hz, frecuencia real</a:t>
            </a:r>
            <a:endParaRPr lang="en-US" sz="1250" dirty="0"/>
          </a:p>
          <a:p>
            <a:pPr indent="0" marL="0">
              <a:buNone/>
            </a:pPr>
            <a:r>
              <a:rPr lang="en-US" sz="1250" dirty="0">
                <a:solidFill>
                  <a:srgbClr val="1A1A2E"/>
                </a:solidFill>
                <a:latin typeface="Calibri" pitchFamily="34" charset="0"/>
                <a:ea typeface="Calibri" pitchFamily="34" charset="-122"/>
                <a:cs typeface="Calibri" pitchFamily="34" charset="-120"/>
              </a:rPr>
              <a:t>rqt_graph, el grafo dibujado</a:t>
            </a:r>
            <a:endParaRPr lang="en-US" sz="1250" dirty="0"/>
          </a:p>
          <a:p>
            <a:pPr indent="0" marL="0">
              <a:buNone/>
            </a:pPr>
            <a:endParaRPr lang="en-US" sz="1250" dirty="0"/>
          </a:p>
          <a:p>
            <a:pPr indent="0" marL="0">
              <a:buNone/>
            </a:pPr>
            <a:r>
              <a:rPr lang="en-US" sz="1250" dirty="0">
                <a:solidFill>
                  <a:srgbClr val="1A1A2E"/>
                </a:solidFill>
                <a:latin typeface="Calibri" pitchFamily="34" charset="0"/>
                <a:ea typeface="Calibri" pitchFamily="34" charset="-122"/>
                <a:cs typeface="Calibri" pitchFamily="34" charset="-120"/>
              </a:rPr>
              <a:t>Estos cinco comandos resuelven la mayoría de los problemas del taller.</a:t>
            </a:r>
            <a:endParaRPr lang="en-US" sz="1250" dirty="0"/>
          </a:p>
        </p:txBody>
      </p:sp>
      <p:sp>
        <p:nvSpPr>
          <p:cNvPr id="9" name="Text 6"/>
          <p:cNvSpPr/>
          <p:nvPr/>
        </p:nvSpPr>
        <p:spPr>
          <a:xfrm>
            <a:off x="640080" y="6446520"/>
            <a:ext cx="10972800" cy="274320"/>
          </a:xfrm>
          <a:prstGeom prst="rect">
            <a:avLst/>
          </a:prstGeom>
          <a:noFill/>
          <a:ln/>
        </p:spPr>
        <p:txBody>
          <a:bodyPr wrap="square" lIns="0" tIns="0" rIns="0" bIns="0"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docs.ros.org (Jazzy) · Understanding nodes and topics</a:t>
            </a:r>
            <a:endParaRPr lang="en-US" sz="1000" dirty="0"/>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47472"/>
            <a:ext cx="10881360" cy="274320"/>
          </a:xfrm>
          <a:prstGeom prst="rect">
            <a:avLst/>
          </a:prstGeom>
          <a:noFill/>
          <a:ln/>
        </p:spPr>
        <p:txBody>
          <a:bodyPr wrap="square" lIns="0" tIns="0" rIns="0" bIns="0" rtlCol="0" anchor="ctr"/>
          <a:lstStyle/>
          <a:p>
            <a:pPr indent="0" marL="0">
              <a:buNone/>
            </a:pPr>
            <a:r>
              <a:rPr lang="en-US" sz="1200" b="1" spc="200" kern="0" dirty="0">
                <a:solidFill>
                  <a:srgbClr val="1FA355"/>
                </a:solidFill>
                <a:latin typeface="Calibri" pitchFamily="34" charset="0"/>
                <a:ea typeface="Calibri" pitchFamily="34" charset="-122"/>
                <a:cs typeface="Calibri" pitchFamily="34" charset="-120"/>
              </a:rPr>
              <a:t>S32 · TRANSPORTE</a:t>
            </a:r>
            <a:endParaRPr lang="en-US" sz="1200" dirty="0"/>
          </a:p>
        </p:txBody>
      </p:sp>
      <p:sp>
        <p:nvSpPr>
          <p:cNvPr id="3" name="Text 1"/>
          <p:cNvSpPr/>
          <p:nvPr/>
        </p:nvSpPr>
        <p:spPr>
          <a:xfrm>
            <a:off x="640080" y="566928"/>
            <a:ext cx="10881360" cy="685800"/>
          </a:xfrm>
          <a:prstGeom prst="rect">
            <a:avLst/>
          </a:prstGeom>
          <a:noFill/>
          <a:ln/>
        </p:spPr>
        <p:txBody>
          <a:bodyPr wrap="square" lIns="0" tIns="0" rIns="0" bIns="0" rtlCol="0" anchor="ctr"/>
          <a:lstStyle/>
          <a:p>
            <a:pPr indent="0" marL="0">
              <a:buNone/>
            </a:pPr>
            <a:r>
              <a:rPr lang="en-US" sz="3000" b="1" dirty="0">
                <a:solidFill>
                  <a:srgbClr val="1B2A80"/>
                </a:solidFill>
                <a:latin typeface="Calibri" pitchFamily="34" charset="0"/>
                <a:ea typeface="Calibri" pitchFamily="34" charset="-122"/>
                <a:cs typeface="Calibri" pitchFamily="34" charset="-120"/>
              </a:rPr>
              <a:t>DDS y calidad de servicio</a:t>
            </a:r>
            <a:endParaRPr lang="en-US" sz="3000" dirty="0"/>
          </a:p>
        </p:txBody>
      </p:sp>
      <p:sp>
        <p:nvSpPr>
          <p:cNvPr id="4" name="Shape 2"/>
          <p:cNvSpPr/>
          <p:nvPr/>
        </p:nvSpPr>
        <p:spPr>
          <a:xfrm>
            <a:off x="640080" y="1572768"/>
            <a:ext cx="5394960" cy="2103120"/>
          </a:xfrm>
          <a:prstGeom prst="roundRect">
            <a:avLst>
              <a:gd name="adj" fmla="val 3478"/>
            </a:avLst>
          </a:prstGeom>
          <a:solidFill>
            <a:srgbClr val="F2F4FB"/>
          </a:solidFill>
          <a:ln/>
        </p:spPr>
        <p:txBody>
          <a:bodyPr/>
          <a:p/>
        </p:txBody>
      </p:sp>
      <p:sp>
        <p:nvSpPr>
          <p:cNvPr id="5" name="Text 3"/>
          <p:cNvSpPr/>
          <p:nvPr/>
        </p:nvSpPr>
        <p:spPr>
          <a:xfrm>
            <a:off x="841248" y="1719072"/>
            <a:ext cx="4992624" cy="502920"/>
          </a:xfrm>
          <a:prstGeom prst="rect">
            <a:avLst/>
          </a:prstGeom>
          <a:noFill/>
          <a:ln/>
        </p:spPr>
        <p:txBody>
          <a:bodyPr wrap="square" lIns="0" tIns="0" rIns="0" bIns="0" rtlCol="0" anchor="ctr"/>
          <a:lstStyle/>
          <a:p>
            <a:pPr indent="0" marL="0">
              <a:buNone/>
            </a:pPr>
            <a:r>
              <a:rPr lang="en-US" sz="1500" b="1" dirty="0">
                <a:solidFill>
                  <a:srgbClr val="1B2A80"/>
                </a:solidFill>
                <a:latin typeface="Calibri" pitchFamily="34" charset="0"/>
                <a:ea typeface="Calibri" pitchFamily="34" charset="-122"/>
                <a:cs typeface="Calibri" pitchFamily="34" charset="-120"/>
              </a:rPr>
              <a:t>DDS: el transporte real</a:t>
            </a:r>
            <a:endParaRPr lang="en-US" sz="1500" dirty="0"/>
          </a:p>
        </p:txBody>
      </p:sp>
      <p:sp>
        <p:nvSpPr>
          <p:cNvPr id="6" name="Text 4"/>
          <p:cNvSpPr/>
          <p:nvPr/>
        </p:nvSpPr>
        <p:spPr>
          <a:xfrm>
            <a:off x="841248" y="2212848"/>
            <a:ext cx="4992624" cy="1335024"/>
          </a:xfrm>
          <a:prstGeom prst="rect">
            <a:avLst/>
          </a:prstGeom>
          <a:noFill/>
          <a:ln/>
        </p:spPr>
        <p:txBody>
          <a:bodyPr wrap="square" lIns="0" tIns="0" rIns="0" bIns="0" rtlCol="0" anchor="ctr"/>
          <a:lstStyle/>
          <a:p>
            <a:pPr indent="0" marL="0">
              <a:buNone/>
            </a:pPr>
            <a:r>
              <a:rPr lang="en-US" sz="1250" dirty="0">
                <a:solidFill>
                  <a:srgbClr val="1A1A2E"/>
                </a:solidFill>
                <a:latin typeface="Calibri" pitchFamily="34" charset="0"/>
                <a:ea typeface="Calibri" pitchFamily="34" charset="-122"/>
                <a:cs typeface="Calibri" pitchFamily="34" charset="-120"/>
              </a:rPr>
              <a:t>ROS 2 no inventa su capa de red: se apoya en DDS, un estándar industrial de publicación/suscripción con descubrimiento automático. Por eso no hay un nodo maestro central como en ROS 1.</a:t>
            </a:r>
            <a:endParaRPr lang="en-US" sz="1250" dirty="0"/>
          </a:p>
        </p:txBody>
      </p:sp>
      <p:sp>
        <p:nvSpPr>
          <p:cNvPr id="7" name="Shape 5"/>
          <p:cNvSpPr/>
          <p:nvPr/>
        </p:nvSpPr>
        <p:spPr>
          <a:xfrm>
            <a:off x="6263640" y="1572768"/>
            <a:ext cx="5257800" cy="2103120"/>
          </a:xfrm>
          <a:prstGeom prst="roundRect">
            <a:avLst>
              <a:gd name="adj" fmla="val 3478"/>
            </a:avLst>
          </a:prstGeom>
          <a:solidFill>
            <a:srgbClr val="F2F4FB"/>
          </a:solidFill>
          <a:ln/>
        </p:spPr>
        <p:txBody>
          <a:bodyPr/>
          <a:p/>
        </p:txBody>
      </p:sp>
      <p:sp>
        <p:nvSpPr>
          <p:cNvPr id="8" name="Text 6"/>
          <p:cNvSpPr/>
          <p:nvPr/>
        </p:nvSpPr>
        <p:spPr>
          <a:xfrm>
            <a:off x="6464808" y="1719072"/>
            <a:ext cx="4855464" cy="502920"/>
          </a:xfrm>
          <a:prstGeom prst="rect">
            <a:avLst/>
          </a:prstGeom>
          <a:noFill/>
          <a:ln/>
        </p:spPr>
        <p:txBody>
          <a:bodyPr wrap="square" lIns="0" tIns="0" rIns="0" bIns="0" rtlCol="0" anchor="ctr"/>
          <a:lstStyle/>
          <a:p>
            <a:pPr indent="0" marL="0">
              <a:buNone/>
            </a:pPr>
            <a:r>
              <a:rPr lang="en-US" sz="1500" b="1" dirty="0">
                <a:solidFill>
                  <a:srgbClr val="1B2A80"/>
                </a:solidFill>
                <a:latin typeface="Calibri" pitchFamily="34" charset="0"/>
                <a:ea typeface="Calibri" pitchFamily="34" charset="-122"/>
                <a:cs typeface="Calibri" pitchFamily="34" charset="-120"/>
              </a:rPr>
              <a:t>Por qué importa en el aula</a:t>
            </a:r>
            <a:endParaRPr lang="en-US" sz="1500" dirty="0"/>
          </a:p>
        </p:txBody>
      </p:sp>
      <p:sp>
        <p:nvSpPr>
          <p:cNvPr id="9" name="Text 7"/>
          <p:cNvSpPr/>
          <p:nvPr/>
        </p:nvSpPr>
        <p:spPr>
          <a:xfrm>
            <a:off x="6464808" y="2212848"/>
            <a:ext cx="4855464" cy="1335024"/>
          </a:xfrm>
          <a:prstGeom prst="rect">
            <a:avLst/>
          </a:prstGeom>
          <a:noFill/>
          <a:ln/>
        </p:spPr>
        <p:txBody>
          <a:bodyPr wrap="square" lIns="0" tIns="0" rIns="0" bIns="0" rtlCol="0" anchor="ctr"/>
          <a:lstStyle/>
          <a:p>
            <a:pPr indent="0" marL="0">
              <a:buNone/>
            </a:pPr>
            <a:r>
              <a:rPr lang="en-US" sz="1250" dirty="0">
                <a:solidFill>
                  <a:srgbClr val="1A1A2E"/>
                </a:solidFill>
                <a:latin typeface="Calibri" pitchFamily="34" charset="0"/>
                <a:ea typeface="Calibri" pitchFamily="34" charset="-122"/>
                <a:cs typeface="Calibri" pitchFamily="34" charset="-120"/>
              </a:rPr>
              <a:t>Si dos ordenadores comparten red, sus grafos se ven entre sí. Aislar los equipos con ROS_DOMAIN_ID distintos evita horas de confusión en el taller.</a:t>
            </a:r>
            <a:endParaRPr lang="en-US" sz="1250" dirty="0"/>
          </a:p>
        </p:txBody>
      </p:sp>
      <p:sp>
        <p:nvSpPr>
          <p:cNvPr id="10" name="Shape 8"/>
          <p:cNvSpPr/>
          <p:nvPr/>
        </p:nvSpPr>
        <p:spPr>
          <a:xfrm>
            <a:off x="640080" y="3886200"/>
            <a:ext cx="3474720" cy="2103120"/>
          </a:xfrm>
          <a:prstGeom prst="roundRect">
            <a:avLst>
              <a:gd name="adj" fmla="val 3478"/>
            </a:avLst>
          </a:prstGeom>
          <a:solidFill>
            <a:srgbClr val="F2F4FB"/>
          </a:solidFill>
          <a:ln/>
        </p:spPr>
        <p:txBody>
          <a:bodyPr/>
          <a:p/>
        </p:txBody>
      </p:sp>
      <p:sp>
        <p:nvSpPr>
          <p:cNvPr id="11" name="Shape 9"/>
          <p:cNvSpPr/>
          <p:nvPr/>
        </p:nvSpPr>
        <p:spPr>
          <a:xfrm>
            <a:off x="822960" y="4069080"/>
            <a:ext cx="457200" cy="457200"/>
          </a:xfrm>
          <a:prstGeom prst="ellipse">
            <a:avLst/>
          </a:prstGeom>
          <a:solidFill>
            <a:srgbClr val="2FD26E"/>
          </a:solidFill>
          <a:ln/>
        </p:spPr>
        <p:txBody>
          <a:bodyPr/>
          <a:p/>
        </p:txBody>
      </p:sp>
      <p:sp>
        <p:nvSpPr>
          <p:cNvPr id="12" name="Text 10"/>
          <p:cNvSpPr/>
          <p:nvPr/>
        </p:nvSpPr>
        <p:spPr>
          <a:xfrm>
            <a:off x="822960" y="4069080"/>
            <a:ext cx="457200" cy="457200"/>
          </a:xfrm>
          <a:prstGeom prst="rect">
            <a:avLst/>
          </a:prstGeom>
          <a:noFill/>
          <a:ln/>
        </p:spPr>
        <p:txBody>
          <a:bodyPr wrap="square" lIns="0" tIns="0" rIns="0" bIns="0" rtlCol="0" anchor="ctr"/>
          <a:lstStyle/>
          <a:p>
            <a:pPr algn="ctr" indent="0" marL="0">
              <a:buNone/>
            </a:pPr>
            <a:r>
              <a:rPr lang="en-US" sz="1600" b="1" dirty="0">
                <a:solidFill>
                  <a:srgbClr val="1B2A80"/>
                </a:solidFill>
                <a:latin typeface="Calibri" pitchFamily="34" charset="0"/>
                <a:ea typeface="Calibri" pitchFamily="34" charset="-122"/>
                <a:cs typeface="Calibri" pitchFamily="34" charset="-120"/>
              </a:rPr>
              <a:t>1</a:t>
            </a:r>
            <a:endParaRPr lang="en-US" sz="1600" dirty="0"/>
          </a:p>
        </p:txBody>
      </p:sp>
      <p:sp>
        <p:nvSpPr>
          <p:cNvPr id="13" name="Text 11"/>
          <p:cNvSpPr/>
          <p:nvPr/>
        </p:nvSpPr>
        <p:spPr>
          <a:xfrm>
            <a:off x="1417320" y="4032504"/>
            <a:ext cx="2514600" cy="502920"/>
          </a:xfrm>
          <a:prstGeom prst="rect">
            <a:avLst/>
          </a:prstGeom>
          <a:noFill/>
          <a:ln/>
        </p:spPr>
        <p:txBody>
          <a:bodyPr wrap="square" lIns="0" tIns="0" rIns="0" bIns="0" rtlCol="0" anchor="ctr"/>
          <a:lstStyle/>
          <a:p>
            <a:pPr indent="0" marL="0">
              <a:buNone/>
            </a:pPr>
            <a:r>
              <a:rPr lang="en-US" sz="1350" b="1" dirty="0">
                <a:solidFill>
                  <a:srgbClr val="1B2A80"/>
                </a:solidFill>
                <a:latin typeface="Calibri" pitchFamily="34" charset="0"/>
                <a:ea typeface="Calibri" pitchFamily="34" charset="-122"/>
                <a:cs typeface="Calibri" pitchFamily="34" charset="-120"/>
              </a:rPr>
              <a:t>Fiabilidad</a:t>
            </a:r>
            <a:endParaRPr lang="en-US" sz="1350" dirty="0"/>
          </a:p>
        </p:txBody>
      </p:sp>
      <p:sp>
        <p:nvSpPr>
          <p:cNvPr id="14" name="Text 12"/>
          <p:cNvSpPr/>
          <p:nvPr/>
        </p:nvSpPr>
        <p:spPr>
          <a:xfrm>
            <a:off x="841248" y="4663440"/>
            <a:ext cx="3072384" cy="1197864"/>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reliable reenvía hasta confirmar; best effort descarta. Un LiDAR a 40 Hz prefiere best effort; una orden de parada, reliable</a:t>
            </a:r>
            <a:endParaRPr lang="en-US" sz="1150" dirty="0"/>
          </a:p>
        </p:txBody>
      </p:sp>
      <p:sp>
        <p:nvSpPr>
          <p:cNvPr id="15" name="Shape 13"/>
          <p:cNvSpPr/>
          <p:nvPr/>
        </p:nvSpPr>
        <p:spPr>
          <a:xfrm>
            <a:off x="4343400" y="3886200"/>
            <a:ext cx="3474720" cy="2103120"/>
          </a:xfrm>
          <a:prstGeom prst="roundRect">
            <a:avLst>
              <a:gd name="adj" fmla="val 3478"/>
            </a:avLst>
          </a:prstGeom>
          <a:solidFill>
            <a:srgbClr val="F2F4FB"/>
          </a:solidFill>
          <a:ln/>
        </p:spPr>
        <p:txBody>
          <a:bodyPr/>
          <a:p/>
        </p:txBody>
      </p:sp>
      <p:sp>
        <p:nvSpPr>
          <p:cNvPr id="16" name="Shape 14"/>
          <p:cNvSpPr/>
          <p:nvPr/>
        </p:nvSpPr>
        <p:spPr>
          <a:xfrm>
            <a:off x="4526280" y="4069080"/>
            <a:ext cx="457200" cy="457200"/>
          </a:xfrm>
          <a:prstGeom prst="ellipse">
            <a:avLst/>
          </a:prstGeom>
          <a:solidFill>
            <a:srgbClr val="2FD26E"/>
          </a:solidFill>
          <a:ln/>
        </p:spPr>
        <p:txBody>
          <a:bodyPr/>
          <a:p/>
        </p:txBody>
      </p:sp>
      <p:sp>
        <p:nvSpPr>
          <p:cNvPr id="17" name="Text 15"/>
          <p:cNvSpPr/>
          <p:nvPr/>
        </p:nvSpPr>
        <p:spPr>
          <a:xfrm>
            <a:off x="4526280" y="4069080"/>
            <a:ext cx="457200" cy="457200"/>
          </a:xfrm>
          <a:prstGeom prst="rect">
            <a:avLst/>
          </a:prstGeom>
          <a:noFill/>
          <a:ln/>
        </p:spPr>
        <p:txBody>
          <a:bodyPr wrap="square" lIns="0" tIns="0" rIns="0" bIns="0" rtlCol="0" anchor="ctr"/>
          <a:lstStyle/>
          <a:p>
            <a:pPr algn="ctr" indent="0" marL="0">
              <a:buNone/>
            </a:pPr>
            <a:r>
              <a:rPr lang="en-US" sz="1600" b="1" dirty="0">
                <a:solidFill>
                  <a:srgbClr val="1B2A80"/>
                </a:solidFill>
                <a:latin typeface="Calibri" pitchFamily="34" charset="0"/>
                <a:ea typeface="Calibri" pitchFamily="34" charset="-122"/>
                <a:cs typeface="Calibri" pitchFamily="34" charset="-120"/>
              </a:rPr>
              <a:t>2</a:t>
            </a:r>
            <a:endParaRPr lang="en-US" sz="1600" dirty="0"/>
          </a:p>
        </p:txBody>
      </p:sp>
      <p:sp>
        <p:nvSpPr>
          <p:cNvPr id="18" name="Text 16"/>
          <p:cNvSpPr/>
          <p:nvPr/>
        </p:nvSpPr>
        <p:spPr>
          <a:xfrm>
            <a:off x="5120640" y="4032504"/>
            <a:ext cx="2514600" cy="502920"/>
          </a:xfrm>
          <a:prstGeom prst="rect">
            <a:avLst/>
          </a:prstGeom>
          <a:noFill/>
          <a:ln/>
        </p:spPr>
        <p:txBody>
          <a:bodyPr wrap="square" lIns="0" tIns="0" rIns="0" bIns="0" rtlCol="0" anchor="ctr"/>
          <a:lstStyle/>
          <a:p>
            <a:pPr indent="0" marL="0">
              <a:buNone/>
            </a:pPr>
            <a:r>
              <a:rPr lang="en-US" sz="1350" b="1" dirty="0">
                <a:solidFill>
                  <a:srgbClr val="1B2A80"/>
                </a:solidFill>
                <a:latin typeface="Calibri" pitchFamily="34" charset="0"/>
                <a:ea typeface="Calibri" pitchFamily="34" charset="-122"/>
                <a:cs typeface="Calibri" pitchFamily="34" charset="-120"/>
              </a:rPr>
              <a:t>Durabilidad</a:t>
            </a:r>
            <a:endParaRPr lang="en-US" sz="1350" dirty="0"/>
          </a:p>
        </p:txBody>
      </p:sp>
      <p:sp>
        <p:nvSpPr>
          <p:cNvPr id="19" name="Text 17"/>
          <p:cNvSpPr/>
          <p:nvPr/>
        </p:nvSpPr>
        <p:spPr>
          <a:xfrm>
            <a:off x="4544568" y="4663440"/>
            <a:ext cx="3072384" cy="1197864"/>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transient local guarda el último mensaje para quien llegue tarde: así funcionan los mapas y las descripciones del robot</a:t>
            </a:r>
            <a:endParaRPr lang="en-US" sz="1150" dirty="0"/>
          </a:p>
        </p:txBody>
      </p:sp>
      <p:sp>
        <p:nvSpPr>
          <p:cNvPr id="20" name="Shape 18"/>
          <p:cNvSpPr/>
          <p:nvPr/>
        </p:nvSpPr>
        <p:spPr>
          <a:xfrm>
            <a:off x="8046720" y="3886200"/>
            <a:ext cx="3474720" cy="2103120"/>
          </a:xfrm>
          <a:prstGeom prst="roundRect">
            <a:avLst>
              <a:gd name="adj" fmla="val 3478"/>
            </a:avLst>
          </a:prstGeom>
          <a:solidFill>
            <a:srgbClr val="F2F4FB"/>
          </a:solidFill>
          <a:ln/>
        </p:spPr>
        <p:txBody>
          <a:bodyPr/>
          <a:p/>
        </p:txBody>
      </p:sp>
      <p:sp>
        <p:nvSpPr>
          <p:cNvPr id="21" name="Shape 19"/>
          <p:cNvSpPr/>
          <p:nvPr/>
        </p:nvSpPr>
        <p:spPr>
          <a:xfrm>
            <a:off x="8229600" y="4069080"/>
            <a:ext cx="457200" cy="457200"/>
          </a:xfrm>
          <a:prstGeom prst="ellipse">
            <a:avLst/>
          </a:prstGeom>
          <a:solidFill>
            <a:srgbClr val="2FD26E"/>
          </a:solidFill>
          <a:ln/>
        </p:spPr>
        <p:txBody>
          <a:bodyPr/>
          <a:p/>
        </p:txBody>
      </p:sp>
      <p:sp>
        <p:nvSpPr>
          <p:cNvPr id="22" name="Text 20"/>
          <p:cNvSpPr/>
          <p:nvPr/>
        </p:nvSpPr>
        <p:spPr>
          <a:xfrm>
            <a:off x="8229600" y="4069080"/>
            <a:ext cx="457200" cy="457200"/>
          </a:xfrm>
          <a:prstGeom prst="rect">
            <a:avLst/>
          </a:prstGeom>
          <a:noFill/>
          <a:ln/>
        </p:spPr>
        <p:txBody>
          <a:bodyPr wrap="square" lIns="0" tIns="0" rIns="0" bIns="0" rtlCol="0" anchor="ctr"/>
          <a:lstStyle/>
          <a:p>
            <a:pPr algn="ctr" indent="0" marL="0">
              <a:buNone/>
            </a:pPr>
            <a:r>
              <a:rPr lang="en-US" sz="1600" b="1" dirty="0">
                <a:solidFill>
                  <a:srgbClr val="1B2A80"/>
                </a:solidFill>
                <a:latin typeface="Calibri" pitchFamily="34" charset="0"/>
                <a:ea typeface="Calibri" pitchFamily="34" charset="-122"/>
                <a:cs typeface="Calibri" pitchFamily="34" charset="-120"/>
              </a:rPr>
              <a:t>3</a:t>
            </a:r>
            <a:endParaRPr lang="en-US" sz="1600" dirty="0"/>
          </a:p>
        </p:txBody>
      </p:sp>
      <p:sp>
        <p:nvSpPr>
          <p:cNvPr id="23" name="Text 21"/>
          <p:cNvSpPr/>
          <p:nvPr/>
        </p:nvSpPr>
        <p:spPr>
          <a:xfrm>
            <a:off x="8823960" y="4032504"/>
            <a:ext cx="2514600" cy="502920"/>
          </a:xfrm>
          <a:prstGeom prst="rect">
            <a:avLst/>
          </a:prstGeom>
          <a:noFill/>
          <a:ln/>
        </p:spPr>
        <p:txBody>
          <a:bodyPr wrap="square" lIns="0" tIns="0" rIns="0" bIns="0" rtlCol="0" anchor="ctr"/>
          <a:lstStyle/>
          <a:p>
            <a:pPr indent="0" marL="0">
              <a:buNone/>
            </a:pPr>
            <a:r>
              <a:rPr lang="en-US" sz="1350" b="1" dirty="0">
                <a:solidFill>
                  <a:srgbClr val="1B2A80"/>
                </a:solidFill>
                <a:latin typeface="Calibri" pitchFamily="34" charset="0"/>
                <a:ea typeface="Calibri" pitchFamily="34" charset="-122"/>
                <a:cs typeface="Calibri" pitchFamily="34" charset="-120"/>
              </a:rPr>
              <a:t>Perfil incompatible</a:t>
            </a:r>
            <a:endParaRPr lang="en-US" sz="1350" dirty="0"/>
          </a:p>
        </p:txBody>
      </p:sp>
      <p:sp>
        <p:nvSpPr>
          <p:cNvPr id="24" name="Text 22"/>
          <p:cNvSpPr/>
          <p:nvPr/>
        </p:nvSpPr>
        <p:spPr>
          <a:xfrm>
            <a:off x="8247888" y="4663440"/>
            <a:ext cx="3072384" cy="1197864"/>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Si publicador y suscriptor no acuerdan perfil, no se conectan y no hay error visible: causa clásica de «no llega nada»</a:t>
            </a:r>
            <a:endParaRPr lang="en-US" sz="1150" dirty="0"/>
          </a:p>
        </p:txBody>
      </p:sp>
      <p:sp>
        <p:nvSpPr>
          <p:cNvPr id="26" name="Text 23"/>
          <p:cNvSpPr/>
          <p:nvPr/>
        </p:nvSpPr>
        <p:spPr>
          <a:xfrm>
            <a:off x="640080" y="6446520"/>
            <a:ext cx="10972800" cy="274320"/>
          </a:xfrm>
          <a:prstGeom prst="rect">
            <a:avLst/>
          </a:prstGeom>
          <a:noFill/>
          <a:ln/>
        </p:spPr>
        <p:txBody>
          <a:bodyPr wrap="square" lIns="0" tIns="0" rIns="0" bIns="0"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docs.ros.org (Jazzy) · About QoS settings · About DDS/RMW</a:t>
            </a:r>
            <a:endParaRPr lang="en-US" sz="1000" dirty="0"/>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2A80"/>
        </a:solidFill>
      </p:bgPr>
    </p:bg>
    <p:spTree>
      <p:nvGrpSpPr>
        <p:cNvPr id="1" name=""/>
        <p:cNvGrpSpPr/>
        <p:nvPr/>
      </p:nvGrpSpPr>
      <p:grpSpPr>
        <a:xfrm>
          <a:off x="0" y="0"/>
          <a:ext cx="0" cy="0"/>
          <a:chOff x="0" y="0"/>
          <a:chExt cx="0" cy="0"/>
        </a:xfrm>
      </p:grpSpPr>
      <p:sp>
        <p:nvSpPr>
          <p:cNvPr id="2" name="Shape 0"/>
          <p:cNvSpPr/>
          <p:nvPr/>
        </p:nvSpPr>
        <p:spPr>
          <a:xfrm>
            <a:off x="-18288" y="2834640"/>
            <a:ext cx="5852160" cy="4041648"/>
          </a:xfrm>
          <a:prstGeom prst="rtTriangle">
            <a:avLst/>
          </a:prstGeom>
          <a:solidFill>
            <a:srgbClr val="2E3FA3"/>
          </a:solidFill>
          <a:ln/>
        </p:spPr>
        <p:txBody>
          <a:bodyPr/>
          <a:p/>
        </p:txBody>
      </p:sp>
      <p:sp>
        <p:nvSpPr>
          <p:cNvPr id="3" name="Shape 1"/>
          <p:cNvSpPr/>
          <p:nvPr/>
        </p:nvSpPr>
        <p:spPr>
          <a:xfrm>
            <a:off x="-18288" y="4846320"/>
            <a:ext cx="2926080" cy="2029968"/>
          </a:xfrm>
          <a:prstGeom prst="rtTriangle">
            <a:avLst/>
          </a:prstGeom>
          <a:solidFill>
            <a:srgbClr val="2FD26E"/>
          </a:solidFill>
          <a:ln/>
        </p:spPr>
        <p:txBody>
          <a:bodyPr/>
          <a:p/>
        </p:txBody>
      </p:sp>
      <p:sp>
        <p:nvSpPr>
          <p:cNvPr id="4" name="Shape 2"/>
          <p:cNvSpPr/>
          <p:nvPr/>
        </p:nvSpPr>
        <p:spPr>
          <a:xfrm>
            <a:off x="685800" y="1051560"/>
            <a:ext cx="1051560" cy="1051560"/>
          </a:xfrm>
          <a:prstGeom prst="ellipse">
            <a:avLst/>
          </a:prstGeom>
          <a:solidFill>
            <a:srgbClr val="2FD26E"/>
          </a:solidFill>
          <a:ln/>
        </p:spPr>
        <p:txBody>
          <a:bodyPr/>
          <a:p/>
        </p:txBody>
      </p:sp>
      <p:sp>
        <p:nvSpPr>
          <p:cNvPr id="5" name="Text 3"/>
          <p:cNvSpPr/>
          <p:nvPr/>
        </p:nvSpPr>
        <p:spPr>
          <a:xfrm>
            <a:off x="685800" y="1051560"/>
            <a:ext cx="1051560" cy="1051560"/>
          </a:xfrm>
          <a:prstGeom prst="rect">
            <a:avLst/>
          </a:prstGeom>
          <a:noFill/>
          <a:ln/>
        </p:spPr>
        <p:txBody>
          <a:bodyPr wrap="square" lIns="0" tIns="0" rIns="0" bIns="0" rtlCol="0" anchor="ctr"/>
          <a:lstStyle/>
          <a:p>
            <a:pPr algn="ctr" indent="0" marL="0">
              <a:buNone/>
            </a:pPr>
            <a:r>
              <a:rPr lang="en-US" sz="3000" b="1" dirty="0">
                <a:solidFill>
                  <a:srgbClr val="1B2A80"/>
                </a:solidFill>
                <a:latin typeface="Calibri" pitchFamily="34" charset="0"/>
                <a:ea typeface="Calibri" pitchFamily="34" charset="-122"/>
                <a:cs typeface="Calibri" pitchFamily="34" charset="-120"/>
              </a:rPr>
              <a:t>S33</a:t>
            </a:r>
            <a:endParaRPr lang="en-US" sz="3000" dirty="0"/>
          </a:p>
        </p:txBody>
      </p:sp>
      <p:sp>
        <p:nvSpPr>
          <p:cNvPr id="6" name="Text 4"/>
          <p:cNvSpPr/>
          <p:nvPr/>
        </p:nvSpPr>
        <p:spPr>
          <a:xfrm>
            <a:off x="2011680" y="914400"/>
            <a:ext cx="9418320" cy="137160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Servicios, acciones y orquestación</a:t>
            </a:r>
            <a:endParaRPr lang="en-US" sz="3400" dirty="0"/>
          </a:p>
        </p:txBody>
      </p:sp>
      <p:sp>
        <p:nvSpPr>
          <p:cNvPr id="7" name="Text 5"/>
          <p:cNvSpPr/>
          <p:nvPr/>
        </p:nvSpPr>
        <p:spPr>
          <a:xfrm>
            <a:off x="2057400" y="2286000"/>
            <a:ext cx="8961120" cy="822960"/>
          </a:xfrm>
          <a:prstGeom prst="rect">
            <a:avLst/>
          </a:prstGeom>
          <a:noFill/>
          <a:ln/>
        </p:spPr>
        <p:txBody>
          <a:bodyPr wrap="square" lIns="0" tIns="0" rIns="0" bIns="0" rtlCol="0" anchor="ctr"/>
          <a:lstStyle/>
          <a:p>
            <a:pPr indent="0" marL="0">
              <a:buNone/>
            </a:pPr>
            <a:r>
              <a:rPr lang="en-US" sz="1600" dirty="0">
                <a:solidFill>
                  <a:srgbClr val="C9D2F5"/>
                </a:solidFill>
                <a:latin typeface="Calibri" pitchFamily="34" charset="0"/>
                <a:ea typeface="Calibri" pitchFamily="34" charset="-122"/>
                <a:cs typeface="Calibri" pitchFamily="34" charset="-120"/>
              </a:rPr>
              <a:t>Servicios · acciones · parámetros · launch · colcon</a:t>
            </a:r>
            <a:endParaRPr lang="en-US" sz="1600" dirty="0"/>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47472"/>
            <a:ext cx="10881360" cy="274320"/>
          </a:xfrm>
          <a:prstGeom prst="rect">
            <a:avLst/>
          </a:prstGeom>
          <a:noFill/>
          <a:ln/>
        </p:spPr>
        <p:txBody>
          <a:bodyPr wrap="square" lIns="0" tIns="0" rIns="0" bIns="0" rtlCol="0" anchor="ctr"/>
          <a:lstStyle/>
          <a:p>
            <a:pPr indent="0" marL="0">
              <a:buNone/>
            </a:pPr>
            <a:r>
              <a:rPr lang="en-US" sz="1200" b="1" spc="200" kern="0" dirty="0">
                <a:solidFill>
                  <a:srgbClr val="1FA355"/>
                </a:solidFill>
                <a:latin typeface="Calibri" pitchFamily="34" charset="0"/>
                <a:ea typeface="Calibri" pitchFamily="34" charset="-122"/>
                <a:cs typeface="Calibri" pitchFamily="34" charset="-120"/>
              </a:rPr>
              <a:t>S33 · COMUNICACIÓN</a:t>
            </a:r>
            <a:endParaRPr lang="en-US" sz="1200" dirty="0"/>
          </a:p>
        </p:txBody>
      </p:sp>
      <p:sp>
        <p:nvSpPr>
          <p:cNvPr id="3" name="Text 1"/>
          <p:cNvSpPr/>
          <p:nvPr/>
        </p:nvSpPr>
        <p:spPr>
          <a:xfrm>
            <a:off x="640080" y="566928"/>
            <a:ext cx="10881360" cy="685800"/>
          </a:xfrm>
          <a:prstGeom prst="rect">
            <a:avLst/>
          </a:prstGeom>
          <a:noFill/>
          <a:ln/>
        </p:spPr>
        <p:txBody>
          <a:bodyPr wrap="square" lIns="0" tIns="0" rIns="0" bIns="0" rtlCol="0" anchor="ctr"/>
          <a:lstStyle/>
          <a:p>
            <a:pPr indent="0" marL="0">
              <a:buNone/>
            </a:pPr>
            <a:r>
              <a:rPr lang="en-US" sz="3000" b="1" dirty="0">
                <a:solidFill>
                  <a:srgbClr val="1B2A80"/>
                </a:solidFill>
                <a:latin typeface="Calibri" pitchFamily="34" charset="0"/>
                <a:ea typeface="Calibri" pitchFamily="34" charset="-122"/>
                <a:cs typeface="Calibri" pitchFamily="34" charset="-120"/>
              </a:rPr>
              <a:t>Tres formas de comunicar, tres semánticas</a:t>
            </a:r>
            <a:endParaRPr lang="en-US" sz="3000" dirty="0"/>
          </a:p>
        </p:txBody>
      </p:sp>
      <p:sp>
        <p:nvSpPr>
          <p:cNvPr id="4" name="Shape 2"/>
          <p:cNvSpPr/>
          <p:nvPr/>
        </p:nvSpPr>
        <p:spPr>
          <a:xfrm>
            <a:off x="640080" y="1600200"/>
            <a:ext cx="3474720" cy="3200400"/>
          </a:xfrm>
          <a:prstGeom prst="roundRect">
            <a:avLst>
              <a:gd name="adj" fmla="val 2286"/>
            </a:avLst>
          </a:prstGeom>
          <a:solidFill>
            <a:srgbClr val="F2F4FB"/>
          </a:solidFill>
          <a:ln/>
        </p:spPr>
        <p:txBody>
          <a:bodyPr/>
          <a:p/>
        </p:txBody>
      </p:sp>
      <p:sp>
        <p:nvSpPr>
          <p:cNvPr id="5" name="Shape 3"/>
          <p:cNvSpPr/>
          <p:nvPr/>
        </p:nvSpPr>
        <p:spPr>
          <a:xfrm>
            <a:off x="822960" y="1783080"/>
            <a:ext cx="457200" cy="457200"/>
          </a:xfrm>
          <a:prstGeom prst="ellipse">
            <a:avLst/>
          </a:prstGeom>
          <a:solidFill>
            <a:srgbClr val="2FD26E"/>
          </a:solidFill>
          <a:ln/>
        </p:spPr>
        <p:txBody>
          <a:bodyPr/>
          <a:p/>
        </p:txBody>
      </p:sp>
      <p:sp>
        <p:nvSpPr>
          <p:cNvPr id="6" name="Text 4"/>
          <p:cNvSpPr/>
          <p:nvPr/>
        </p:nvSpPr>
        <p:spPr>
          <a:xfrm>
            <a:off x="822960" y="1783080"/>
            <a:ext cx="457200" cy="457200"/>
          </a:xfrm>
          <a:prstGeom prst="rect">
            <a:avLst/>
          </a:prstGeom>
          <a:noFill/>
          <a:ln/>
        </p:spPr>
        <p:txBody>
          <a:bodyPr wrap="square" lIns="0" tIns="0" rIns="0" bIns="0" rtlCol="0" anchor="ctr"/>
          <a:lstStyle/>
          <a:p>
            <a:pPr algn="ctr" indent="0" marL="0">
              <a:buNone/>
            </a:pPr>
            <a:r>
              <a:rPr lang="en-US" sz="1600" b="1" dirty="0">
                <a:solidFill>
                  <a:srgbClr val="1B2A80"/>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1417320" y="1746504"/>
            <a:ext cx="2514600" cy="502920"/>
          </a:xfrm>
          <a:prstGeom prst="rect">
            <a:avLst/>
          </a:prstGeom>
          <a:noFill/>
          <a:ln/>
        </p:spPr>
        <p:txBody>
          <a:bodyPr wrap="square" lIns="0" tIns="0" rIns="0" bIns="0" rtlCol="0" anchor="ctr"/>
          <a:lstStyle/>
          <a:p>
            <a:pPr indent="0" marL="0">
              <a:buNone/>
            </a:pPr>
            <a:r>
              <a:rPr lang="en-US" sz="1500" b="1" dirty="0">
                <a:solidFill>
                  <a:srgbClr val="1B2A80"/>
                </a:solidFill>
                <a:latin typeface="Calibri" pitchFamily="34" charset="0"/>
                <a:ea typeface="Calibri" pitchFamily="34" charset="-122"/>
                <a:cs typeface="Calibri" pitchFamily="34" charset="-120"/>
              </a:rPr>
              <a:t>Topic</a:t>
            </a:r>
            <a:endParaRPr lang="en-US" sz="1500" dirty="0"/>
          </a:p>
        </p:txBody>
      </p:sp>
      <p:sp>
        <p:nvSpPr>
          <p:cNvPr id="8" name="Text 6"/>
          <p:cNvSpPr/>
          <p:nvPr/>
        </p:nvSpPr>
        <p:spPr>
          <a:xfrm>
            <a:off x="841248" y="2377440"/>
            <a:ext cx="3072384" cy="2295144"/>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Flujo continuo, sin respuesta, muchos a muchos.</a:t>
            </a:r>
            <a:endParaRPr lang="en-US" sz="1200" dirty="0"/>
          </a:p>
          <a:p>
            <a:pPr indent="0" marL="0">
              <a:buNone/>
            </a:pP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Datos de sensor, comandos de velocidad, estado.</a:t>
            </a:r>
            <a:endParaRPr lang="en-US" sz="1200" dirty="0"/>
          </a:p>
          <a:p>
            <a:pPr indent="0" marL="0">
              <a:buNone/>
            </a:pP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«Publico lo que sé; quien quiera, que escuche».</a:t>
            </a:r>
            <a:endParaRPr lang="en-US" sz="1200" dirty="0"/>
          </a:p>
        </p:txBody>
      </p:sp>
      <p:sp>
        <p:nvSpPr>
          <p:cNvPr id="9" name="Shape 7"/>
          <p:cNvSpPr/>
          <p:nvPr/>
        </p:nvSpPr>
        <p:spPr>
          <a:xfrm>
            <a:off x="4343400" y="1600200"/>
            <a:ext cx="3474720" cy="3200400"/>
          </a:xfrm>
          <a:prstGeom prst="roundRect">
            <a:avLst>
              <a:gd name="adj" fmla="val 2286"/>
            </a:avLst>
          </a:prstGeom>
          <a:solidFill>
            <a:srgbClr val="F2F4FB"/>
          </a:solidFill>
          <a:ln/>
        </p:spPr>
        <p:txBody>
          <a:bodyPr/>
          <a:p/>
        </p:txBody>
      </p:sp>
      <p:sp>
        <p:nvSpPr>
          <p:cNvPr id="10" name="Shape 8"/>
          <p:cNvSpPr/>
          <p:nvPr/>
        </p:nvSpPr>
        <p:spPr>
          <a:xfrm>
            <a:off x="4526280" y="1783080"/>
            <a:ext cx="457200" cy="457200"/>
          </a:xfrm>
          <a:prstGeom prst="ellipse">
            <a:avLst/>
          </a:prstGeom>
          <a:solidFill>
            <a:srgbClr val="2FD26E"/>
          </a:solidFill>
          <a:ln/>
        </p:spPr>
        <p:txBody>
          <a:bodyPr/>
          <a:p/>
        </p:txBody>
      </p:sp>
      <p:sp>
        <p:nvSpPr>
          <p:cNvPr id="11" name="Text 9"/>
          <p:cNvSpPr/>
          <p:nvPr/>
        </p:nvSpPr>
        <p:spPr>
          <a:xfrm>
            <a:off x="4526280" y="1783080"/>
            <a:ext cx="457200" cy="457200"/>
          </a:xfrm>
          <a:prstGeom prst="rect">
            <a:avLst/>
          </a:prstGeom>
          <a:noFill/>
          <a:ln/>
        </p:spPr>
        <p:txBody>
          <a:bodyPr wrap="square" lIns="0" tIns="0" rIns="0" bIns="0" rtlCol="0" anchor="ctr"/>
          <a:lstStyle/>
          <a:p>
            <a:pPr algn="ctr" indent="0" marL="0">
              <a:buNone/>
            </a:pPr>
            <a:r>
              <a:rPr lang="en-US" sz="1600" b="1" dirty="0">
                <a:solidFill>
                  <a:srgbClr val="1B2A80"/>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5120640" y="1746504"/>
            <a:ext cx="2514600" cy="502920"/>
          </a:xfrm>
          <a:prstGeom prst="rect">
            <a:avLst/>
          </a:prstGeom>
          <a:noFill/>
          <a:ln/>
        </p:spPr>
        <p:txBody>
          <a:bodyPr wrap="square" lIns="0" tIns="0" rIns="0" bIns="0" rtlCol="0" anchor="ctr"/>
          <a:lstStyle/>
          <a:p>
            <a:pPr indent="0" marL="0">
              <a:buNone/>
            </a:pPr>
            <a:r>
              <a:rPr lang="en-US" sz="1500" b="1" dirty="0">
                <a:solidFill>
                  <a:srgbClr val="1B2A80"/>
                </a:solidFill>
                <a:latin typeface="Calibri" pitchFamily="34" charset="0"/>
                <a:ea typeface="Calibri" pitchFamily="34" charset="-122"/>
                <a:cs typeface="Calibri" pitchFamily="34" charset="-120"/>
              </a:rPr>
              <a:t>Servicio</a:t>
            </a:r>
            <a:endParaRPr lang="en-US" sz="1500" dirty="0"/>
          </a:p>
        </p:txBody>
      </p:sp>
      <p:sp>
        <p:nvSpPr>
          <p:cNvPr id="13" name="Text 11"/>
          <p:cNvSpPr/>
          <p:nvPr/>
        </p:nvSpPr>
        <p:spPr>
          <a:xfrm>
            <a:off x="4544568" y="2377440"/>
            <a:ext cx="3072384" cy="2295144"/>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Petición y respuesta, bloqueante y breve.</a:t>
            </a:r>
            <a:endParaRPr lang="en-US" sz="1200" dirty="0"/>
          </a:p>
          <a:p>
            <a:pPr indent="0" marL="0">
              <a:buNone/>
            </a:pP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Consultar una configuración, activar un modo.</a:t>
            </a:r>
            <a:endParaRPr lang="en-US" sz="1200" dirty="0"/>
          </a:p>
          <a:p>
            <a:pPr indent="0" marL="0">
              <a:buNone/>
            </a:pP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«Te pregunto y espero tu respuesta ahora».</a:t>
            </a:r>
            <a:endParaRPr lang="en-US" sz="1200" dirty="0"/>
          </a:p>
        </p:txBody>
      </p:sp>
      <p:sp>
        <p:nvSpPr>
          <p:cNvPr id="14" name="Shape 12"/>
          <p:cNvSpPr/>
          <p:nvPr/>
        </p:nvSpPr>
        <p:spPr>
          <a:xfrm>
            <a:off x="8046720" y="1600200"/>
            <a:ext cx="3474720" cy="3200400"/>
          </a:xfrm>
          <a:prstGeom prst="roundRect">
            <a:avLst>
              <a:gd name="adj" fmla="val 2286"/>
            </a:avLst>
          </a:prstGeom>
          <a:solidFill>
            <a:srgbClr val="F2F4FB"/>
          </a:solidFill>
          <a:ln/>
        </p:spPr>
        <p:txBody>
          <a:bodyPr/>
          <a:p/>
        </p:txBody>
      </p:sp>
      <p:sp>
        <p:nvSpPr>
          <p:cNvPr id="15" name="Shape 13"/>
          <p:cNvSpPr/>
          <p:nvPr/>
        </p:nvSpPr>
        <p:spPr>
          <a:xfrm>
            <a:off x="8229600" y="1783080"/>
            <a:ext cx="457200" cy="457200"/>
          </a:xfrm>
          <a:prstGeom prst="ellipse">
            <a:avLst/>
          </a:prstGeom>
          <a:solidFill>
            <a:srgbClr val="2FD26E"/>
          </a:solidFill>
          <a:ln/>
        </p:spPr>
        <p:txBody>
          <a:bodyPr/>
          <a:p/>
        </p:txBody>
      </p:sp>
      <p:sp>
        <p:nvSpPr>
          <p:cNvPr id="16" name="Text 14"/>
          <p:cNvSpPr/>
          <p:nvPr/>
        </p:nvSpPr>
        <p:spPr>
          <a:xfrm>
            <a:off x="8229600" y="1783080"/>
            <a:ext cx="457200" cy="457200"/>
          </a:xfrm>
          <a:prstGeom prst="rect">
            <a:avLst/>
          </a:prstGeom>
          <a:noFill/>
          <a:ln/>
        </p:spPr>
        <p:txBody>
          <a:bodyPr wrap="square" lIns="0" tIns="0" rIns="0" bIns="0" rtlCol="0" anchor="ctr"/>
          <a:lstStyle/>
          <a:p>
            <a:pPr algn="ctr" indent="0" marL="0">
              <a:buNone/>
            </a:pPr>
            <a:r>
              <a:rPr lang="en-US" sz="1600" b="1" dirty="0">
                <a:solidFill>
                  <a:srgbClr val="1B2A80"/>
                </a:solidFill>
                <a:latin typeface="Calibri" pitchFamily="34" charset="0"/>
                <a:ea typeface="Calibri" pitchFamily="34" charset="-122"/>
                <a:cs typeface="Calibri" pitchFamily="34" charset="-120"/>
              </a:rPr>
              <a:t>3</a:t>
            </a:r>
            <a:endParaRPr lang="en-US" sz="1600" dirty="0"/>
          </a:p>
        </p:txBody>
      </p:sp>
      <p:sp>
        <p:nvSpPr>
          <p:cNvPr id="17" name="Text 15"/>
          <p:cNvSpPr/>
          <p:nvPr/>
        </p:nvSpPr>
        <p:spPr>
          <a:xfrm>
            <a:off x="8823960" y="1746504"/>
            <a:ext cx="2514600" cy="502920"/>
          </a:xfrm>
          <a:prstGeom prst="rect">
            <a:avLst/>
          </a:prstGeom>
          <a:noFill/>
          <a:ln/>
        </p:spPr>
        <p:txBody>
          <a:bodyPr wrap="square" lIns="0" tIns="0" rIns="0" bIns="0" rtlCol="0" anchor="ctr"/>
          <a:lstStyle/>
          <a:p>
            <a:pPr indent="0" marL="0">
              <a:buNone/>
            </a:pPr>
            <a:r>
              <a:rPr lang="en-US" sz="1500" b="1" dirty="0">
                <a:solidFill>
                  <a:srgbClr val="1B2A80"/>
                </a:solidFill>
                <a:latin typeface="Calibri" pitchFamily="34" charset="0"/>
                <a:ea typeface="Calibri" pitchFamily="34" charset="-122"/>
                <a:cs typeface="Calibri" pitchFamily="34" charset="-120"/>
              </a:rPr>
              <a:t>Acción</a:t>
            </a:r>
            <a:endParaRPr lang="en-US" sz="1500" dirty="0"/>
          </a:p>
        </p:txBody>
      </p:sp>
      <p:sp>
        <p:nvSpPr>
          <p:cNvPr id="18" name="Text 16"/>
          <p:cNvSpPr/>
          <p:nvPr/>
        </p:nvSpPr>
        <p:spPr>
          <a:xfrm>
            <a:off x="8247888" y="2377440"/>
            <a:ext cx="3072384" cy="2295144"/>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Objetivo de larga duración con retroalimentación y cancelación.</a:t>
            </a:r>
            <a:endParaRPr lang="en-US" sz="1200" dirty="0"/>
          </a:p>
          <a:p>
            <a:pPr indent="0" marL="0">
              <a:buNone/>
            </a:pP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Navegar a un punto, ejecutar una trayectoria.</a:t>
            </a:r>
            <a:endParaRPr lang="en-US" sz="1200" dirty="0"/>
          </a:p>
          <a:p>
            <a:pPr indent="0" marL="0">
              <a:buNone/>
            </a:pP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«Encárgate de esto, ve informando, puedo cancelar».</a:t>
            </a:r>
            <a:endParaRPr lang="en-US" sz="1200" dirty="0"/>
          </a:p>
        </p:txBody>
      </p:sp>
      <p:sp>
        <p:nvSpPr>
          <p:cNvPr id="19" name="Shape 17"/>
          <p:cNvSpPr/>
          <p:nvPr/>
        </p:nvSpPr>
        <p:spPr>
          <a:xfrm>
            <a:off x="640080" y="5029200"/>
            <a:ext cx="10881360" cy="1051560"/>
          </a:xfrm>
          <a:prstGeom prst="roundRect">
            <a:avLst>
              <a:gd name="adj" fmla="val 6957"/>
            </a:avLst>
          </a:prstGeom>
          <a:solidFill>
            <a:srgbClr val="E3F7EC"/>
          </a:solidFill>
          <a:ln/>
        </p:spPr>
        <p:txBody>
          <a:bodyPr/>
          <a:p/>
        </p:txBody>
      </p:sp>
      <p:sp>
        <p:nvSpPr>
          <p:cNvPr id="20" name="Text 18"/>
          <p:cNvSpPr/>
          <p:nvPr/>
        </p:nvSpPr>
        <p:spPr>
          <a:xfrm>
            <a:off x="841248" y="5138928"/>
            <a:ext cx="10479024" cy="813816"/>
          </a:xfrm>
          <a:prstGeom prst="rect">
            <a:avLst/>
          </a:prstGeom>
          <a:noFill/>
          <a:ln/>
        </p:spPr>
        <p:txBody>
          <a:bodyPr wrap="square" lIns="0" tIns="0" rIns="0" bIns="0" rtlCol="0" anchor="ctr"/>
          <a:lstStyle/>
          <a:p>
            <a:pPr indent="0" marL="0">
              <a:buNone/>
            </a:pPr>
            <a:r>
              <a:rPr lang="en-US" sz="1250" dirty="0">
                <a:solidFill>
                  <a:srgbClr val="1A1A2E"/>
                </a:solidFill>
                <a:latin typeface="Calibri" pitchFamily="34" charset="0"/>
                <a:ea typeface="Calibri" pitchFamily="34" charset="-122"/>
                <a:cs typeface="Calibri" pitchFamily="34" charset="-120"/>
              </a:rPr>
              <a:t>Regla práctica: si la tarea puede tardar y podría querer cancelarse, es una acción. Nav2 y MoveIt 2 exponen precisamente sus interfaces principales como acciones.</a:t>
            </a:r>
            <a:endParaRPr lang="en-US" sz="1250" dirty="0"/>
          </a:p>
        </p:txBody>
      </p:sp>
      <p:sp>
        <p:nvSpPr>
          <p:cNvPr id="22" name="Text 19"/>
          <p:cNvSpPr/>
          <p:nvPr/>
        </p:nvSpPr>
        <p:spPr>
          <a:xfrm>
            <a:off x="640080" y="6446520"/>
            <a:ext cx="10972800" cy="274320"/>
          </a:xfrm>
          <a:prstGeom prst="rect">
            <a:avLst/>
          </a:prstGeom>
          <a:noFill/>
          <a:ln/>
        </p:spPr>
        <p:txBody>
          <a:bodyPr wrap="square" lIns="0" tIns="0" rIns="0" bIns="0"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docs.ros.org (Jazzy) · Understanding services, actions, parameters</a:t>
            </a:r>
            <a:endParaRPr lang="en-US" sz="1000" dirty="0"/>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47472"/>
            <a:ext cx="10881360" cy="274320"/>
          </a:xfrm>
          <a:prstGeom prst="rect">
            <a:avLst/>
          </a:prstGeom>
          <a:noFill/>
          <a:ln/>
        </p:spPr>
        <p:txBody>
          <a:bodyPr wrap="square" lIns="0" tIns="0" rIns="0" bIns="0" rtlCol="0" anchor="ctr"/>
          <a:lstStyle/>
          <a:p>
            <a:pPr indent="0" marL="0">
              <a:buNone/>
            </a:pPr>
            <a:r>
              <a:rPr lang="en-US" sz="1200" b="1" spc="200" kern="0" dirty="0">
                <a:solidFill>
                  <a:srgbClr val="1FA355"/>
                </a:solidFill>
                <a:latin typeface="Calibri" pitchFamily="34" charset="0"/>
                <a:ea typeface="Calibri" pitchFamily="34" charset="-122"/>
                <a:cs typeface="Calibri" pitchFamily="34" charset="-120"/>
              </a:rPr>
              <a:t>S33 · ORQUESTACIÓN</a:t>
            </a:r>
            <a:endParaRPr lang="en-US" sz="1200" dirty="0"/>
          </a:p>
        </p:txBody>
      </p:sp>
      <p:sp>
        <p:nvSpPr>
          <p:cNvPr id="3" name="Text 1"/>
          <p:cNvSpPr/>
          <p:nvPr/>
        </p:nvSpPr>
        <p:spPr>
          <a:xfrm>
            <a:off x="640080" y="566928"/>
            <a:ext cx="10881360" cy="685800"/>
          </a:xfrm>
          <a:prstGeom prst="rect">
            <a:avLst/>
          </a:prstGeom>
          <a:noFill/>
          <a:ln/>
        </p:spPr>
        <p:txBody>
          <a:bodyPr wrap="square" lIns="0" tIns="0" rIns="0" bIns="0" rtlCol="0" anchor="ctr"/>
          <a:lstStyle/>
          <a:p>
            <a:pPr indent="0" marL="0">
              <a:buNone/>
            </a:pPr>
            <a:r>
              <a:rPr lang="en-US" sz="3000" b="1" dirty="0">
                <a:solidFill>
                  <a:srgbClr val="1B2A80"/>
                </a:solidFill>
                <a:latin typeface="Calibri" pitchFamily="34" charset="0"/>
                <a:ea typeface="Calibri" pitchFamily="34" charset="-122"/>
                <a:cs typeface="Calibri" pitchFamily="34" charset="-120"/>
              </a:rPr>
              <a:t>Configurar, lanzar y construir</a:t>
            </a:r>
            <a:endParaRPr lang="en-US" sz="3000" dirty="0"/>
          </a:p>
        </p:txBody>
      </p:sp>
      <p:sp>
        <p:nvSpPr>
          <p:cNvPr id="4" name="Shape 2"/>
          <p:cNvSpPr/>
          <p:nvPr/>
        </p:nvSpPr>
        <p:spPr>
          <a:xfrm>
            <a:off x="640080" y="1600200"/>
            <a:ext cx="5349240" cy="2011680"/>
          </a:xfrm>
          <a:prstGeom prst="roundRect">
            <a:avLst>
              <a:gd name="adj" fmla="val 3636"/>
            </a:avLst>
          </a:prstGeom>
          <a:solidFill>
            <a:srgbClr val="F2F4FB"/>
          </a:solidFill>
          <a:ln/>
        </p:spPr>
        <p:txBody>
          <a:bodyPr/>
          <a:p/>
        </p:txBody>
      </p:sp>
      <p:sp>
        <p:nvSpPr>
          <p:cNvPr id="5" name="Shape 3"/>
          <p:cNvSpPr/>
          <p:nvPr/>
        </p:nvSpPr>
        <p:spPr>
          <a:xfrm>
            <a:off x="822960" y="1783080"/>
            <a:ext cx="457200" cy="457200"/>
          </a:xfrm>
          <a:prstGeom prst="ellipse">
            <a:avLst/>
          </a:prstGeom>
          <a:solidFill>
            <a:srgbClr val="2FD26E"/>
          </a:solidFill>
          <a:ln/>
        </p:spPr>
        <p:txBody>
          <a:bodyPr/>
          <a:p/>
        </p:txBody>
      </p:sp>
      <p:sp>
        <p:nvSpPr>
          <p:cNvPr id="6" name="Text 4"/>
          <p:cNvSpPr/>
          <p:nvPr/>
        </p:nvSpPr>
        <p:spPr>
          <a:xfrm>
            <a:off x="822960" y="1783080"/>
            <a:ext cx="457200" cy="457200"/>
          </a:xfrm>
          <a:prstGeom prst="rect">
            <a:avLst/>
          </a:prstGeom>
          <a:noFill/>
          <a:ln/>
        </p:spPr>
        <p:txBody>
          <a:bodyPr wrap="square" lIns="0" tIns="0" rIns="0" bIns="0" rtlCol="0" anchor="ctr"/>
          <a:lstStyle/>
          <a:p>
            <a:pPr algn="ctr" indent="0" marL="0">
              <a:buNone/>
            </a:pPr>
            <a:r>
              <a:rPr lang="en-US" sz="1600" b="1" dirty="0">
                <a:solidFill>
                  <a:srgbClr val="1B2A80"/>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1417320" y="1746504"/>
            <a:ext cx="4389120" cy="502920"/>
          </a:xfrm>
          <a:prstGeom prst="rect">
            <a:avLst/>
          </a:prstGeom>
          <a:noFill/>
          <a:ln/>
        </p:spPr>
        <p:txBody>
          <a:bodyPr wrap="square" lIns="0" tIns="0" rIns="0" bIns="0" rtlCol="0" anchor="ctr"/>
          <a:lstStyle/>
          <a:p>
            <a:pPr indent="0" marL="0">
              <a:buNone/>
            </a:pPr>
            <a:r>
              <a:rPr lang="en-US" sz="1400" b="1" dirty="0">
                <a:solidFill>
                  <a:srgbClr val="1B2A80"/>
                </a:solidFill>
                <a:latin typeface="Calibri" pitchFamily="34" charset="0"/>
                <a:ea typeface="Calibri" pitchFamily="34" charset="-122"/>
                <a:cs typeface="Calibri" pitchFamily="34" charset="-120"/>
              </a:rPr>
              <a:t>Parámetros</a:t>
            </a:r>
            <a:endParaRPr lang="en-US" sz="1400" dirty="0"/>
          </a:p>
        </p:txBody>
      </p:sp>
      <p:sp>
        <p:nvSpPr>
          <p:cNvPr id="8" name="Text 6"/>
          <p:cNvSpPr/>
          <p:nvPr/>
        </p:nvSpPr>
        <p:spPr>
          <a:xfrm>
            <a:off x="841248" y="2377440"/>
            <a:ext cx="4946904" cy="1106424"/>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Configuración con nombre y tipo por nodo, ajustable sin recompilar y consultable en marcha: el mismo nodo sirve para varios robots</a:t>
            </a:r>
            <a:endParaRPr lang="en-US" sz="1200" dirty="0"/>
          </a:p>
        </p:txBody>
      </p:sp>
      <p:sp>
        <p:nvSpPr>
          <p:cNvPr id="9" name="Shape 7"/>
          <p:cNvSpPr/>
          <p:nvPr/>
        </p:nvSpPr>
        <p:spPr>
          <a:xfrm>
            <a:off x="6217920" y="1600200"/>
            <a:ext cx="5349240" cy="2011680"/>
          </a:xfrm>
          <a:prstGeom prst="roundRect">
            <a:avLst>
              <a:gd name="adj" fmla="val 3636"/>
            </a:avLst>
          </a:prstGeom>
          <a:solidFill>
            <a:srgbClr val="F2F4FB"/>
          </a:solidFill>
          <a:ln/>
        </p:spPr>
        <p:txBody>
          <a:bodyPr/>
          <a:p/>
        </p:txBody>
      </p:sp>
      <p:sp>
        <p:nvSpPr>
          <p:cNvPr id="10" name="Shape 8"/>
          <p:cNvSpPr/>
          <p:nvPr/>
        </p:nvSpPr>
        <p:spPr>
          <a:xfrm>
            <a:off x="6400800" y="1783080"/>
            <a:ext cx="457200" cy="457200"/>
          </a:xfrm>
          <a:prstGeom prst="ellipse">
            <a:avLst/>
          </a:prstGeom>
          <a:solidFill>
            <a:srgbClr val="2FD26E"/>
          </a:solidFill>
          <a:ln/>
        </p:spPr>
        <p:txBody>
          <a:bodyPr/>
          <a:p/>
        </p:txBody>
      </p:sp>
      <p:sp>
        <p:nvSpPr>
          <p:cNvPr id="11" name="Text 9"/>
          <p:cNvSpPr/>
          <p:nvPr/>
        </p:nvSpPr>
        <p:spPr>
          <a:xfrm>
            <a:off x="6400800" y="1783080"/>
            <a:ext cx="457200" cy="457200"/>
          </a:xfrm>
          <a:prstGeom prst="rect">
            <a:avLst/>
          </a:prstGeom>
          <a:noFill/>
          <a:ln/>
        </p:spPr>
        <p:txBody>
          <a:bodyPr wrap="square" lIns="0" tIns="0" rIns="0" bIns="0" rtlCol="0" anchor="ctr"/>
          <a:lstStyle/>
          <a:p>
            <a:pPr algn="ctr" indent="0" marL="0">
              <a:buNone/>
            </a:pPr>
            <a:r>
              <a:rPr lang="en-US" sz="1600" b="1" dirty="0">
                <a:solidFill>
                  <a:srgbClr val="1B2A80"/>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6995160" y="1746504"/>
            <a:ext cx="4389120" cy="502920"/>
          </a:xfrm>
          <a:prstGeom prst="rect">
            <a:avLst/>
          </a:prstGeom>
          <a:noFill/>
          <a:ln/>
        </p:spPr>
        <p:txBody>
          <a:bodyPr wrap="square" lIns="0" tIns="0" rIns="0" bIns="0" rtlCol="0" anchor="ctr"/>
          <a:lstStyle/>
          <a:p>
            <a:pPr indent="0" marL="0">
              <a:buNone/>
            </a:pPr>
            <a:r>
              <a:rPr lang="en-US" sz="1400" b="1" dirty="0">
                <a:solidFill>
                  <a:srgbClr val="1B2A80"/>
                </a:solidFill>
                <a:latin typeface="Calibri" pitchFamily="34" charset="0"/>
                <a:ea typeface="Calibri" pitchFamily="34" charset="-122"/>
                <a:cs typeface="Calibri" pitchFamily="34" charset="-120"/>
              </a:rPr>
              <a:t>Launch files</a:t>
            </a:r>
            <a:endParaRPr lang="en-US" sz="1400" dirty="0"/>
          </a:p>
        </p:txBody>
      </p:sp>
      <p:sp>
        <p:nvSpPr>
          <p:cNvPr id="13" name="Text 11"/>
          <p:cNvSpPr/>
          <p:nvPr/>
        </p:nvSpPr>
        <p:spPr>
          <a:xfrm>
            <a:off x="6419088" y="2377440"/>
            <a:ext cx="4946904" cy="1106424"/>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Un sistema real arranca decenas de nodos; el launch los declara con sus parámetros y remapeos, y los levanta con una orden</a:t>
            </a:r>
            <a:endParaRPr lang="en-US" sz="1200" dirty="0"/>
          </a:p>
        </p:txBody>
      </p:sp>
      <p:sp>
        <p:nvSpPr>
          <p:cNvPr id="14" name="Shape 12"/>
          <p:cNvSpPr/>
          <p:nvPr/>
        </p:nvSpPr>
        <p:spPr>
          <a:xfrm>
            <a:off x="640080" y="3840480"/>
            <a:ext cx="5349240" cy="2011680"/>
          </a:xfrm>
          <a:prstGeom prst="roundRect">
            <a:avLst>
              <a:gd name="adj" fmla="val 3636"/>
            </a:avLst>
          </a:prstGeom>
          <a:solidFill>
            <a:srgbClr val="F2F4FB"/>
          </a:solidFill>
          <a:ln/>
        </p:spPr>
        <p:txBody>
          <a:bodyPr/>
          <a:p/>
        </p:txBody>
      </p:sp>
      <p:sp>
        <p:nvSpPr>
          <p:cNvPr id="15" name="Shape 13"/>
          <p:cNvSpPr/>
          <p:nvPr/>
        </p:nvSpPr>
        <p:spPr>
          <a:xfrm>
            <a:off x="822960" y="4023360"/>
            <a:ext cx="457200" cy="457200"/>
          </a:xfrm>
          <a:prstGeom prst="ellipse">
            <a:avLst/>
          </a:prstGeom>
          <a:solidFill>
            <a:srgbClr val="2FD26E"/>
          </a:solidFill>
          <a:ln/>
        </p:spPr>
        <p:txBody>
          <a:bodyPr/>
          <a:p/>
        </p:txBody>
      </p:sp>
      <p:sp>
        <p:nvSpPr>
          <p:cNvPr id="16" name="Text 14"/>
          <p:cNvSpPr/>
          <p:nvPr/>
        </p:nvSpPr>
        <p:spPr>
          <a:xfrm>
            <a:off x="822960" y="4023360"/>
            <a:ext cx="457200" cy="457200"/>
          </a:xfrm>
          <a:prstGeom prst="rect">
            <a:avLst/>
          </a:prstGeom>
          <a:noFill/>
          <a:ln/>
        </p:spPr>
        <p:txBody>
          <a:bodyPr wrap="square" lIns="0" tIns="0" rIns="0" bIns="0" rtlCol="0" anchor="ctr"/>
          <a:lstStyle/>
          <a:p>
            <a:pPr algn="ctr" indent="0" marL="0">
              <a:buNone/>
            </a:pPr>
            <a:r>
              <a:rPr lang="en-US" sz="1600" b="1" dirty="0">
                <a:solidFill>
                  <a:srgbClr val="1B2A80"/>
                </a:solidFill>
                <a:latin typeface="Calibri" pitchFamily="34" charset="0"/>
                <a:ea typeface="Calibri" pitchFamily="34" charset="-122"/>
                <a:cs typeface="Calibri" pitchFamily="34" charset="-120"/>
              </a:rPr>
              <a:t>3</a:t>
            </a:r>
            <a:endParaRPr lang="en-US" sz="1600" dirty="0"/>
          </a:p>
        </p:txBody>
      </p:sp>
      <p:sp>
        <p:nvSpPr>
          <p:cNvPr id="17" name="Text 15"/>
          <p:cNvSpPr/>
          <p:nvPr/>
        </p:nvSpPr>
        <p:spPr>
          <a:xfrm>
            <a:off x="1417320" y="3986784"/>
            <a:ext cx="4389120" cy="502920"/>
          </a:xfrm>
          <a:prstGeom prst="rect">
            <a:avLst/>
          </a:prstGeom>
          <a:noFill/>
          <a:ln/>
        </p:spPr>
        <p:txBody>
          <a:bodyPr wrap="square" lIns="0" tIns="0" rIns="0" bIns="0" rtlCol="0" anchor="ctr"/>
          <a:lstStyle/>
          <a:p>
            <a:pPr indent="0" marL="0">
              <a:buNone/>
            </a:pPr>
            <a:r>
              <a:rPr lang="en-US" sz="1400" b="1" dirty="0">
                <a:solidFill>
                  <a:srgbClr val="1B2A80"/>
                </a:solidFill>
                <a:latin typeface="Calibri" pitchFamily="34" charset="0"/>
                <a:ea typeface="Calibri" pitchFamily="34" charset="-122"/>
                <a:cs typeface="Calibri" pitchFamily="34" charset="-120"/>
              </a:rPr>
              <a:t>Workspace y paquetes</a:t>
            </a:r>
            <a:endParaRPr lang="en-US" sz="1400" dirty="0"/>
          </a:p>
        </p:txBody>
      </p:sp>
      <p:sp>
        <p:nvSpPr>
          <p:cNvPr id="18" name="Text 16"/>
          <p:cNvSpPr/>
          <p:nvPr/>
        </p:nvSpPr>
        <p:spPr>
          <a:xfrm>
            <a:off x="841248" y="4617720"/>
            <a:ext cx="4946904" cy="1106424"/>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El código vive en paquetes dentro de un workspace; el paquete es la unidad de reutilización y distribución</a:t>
            </a:r>
            <a:endParaRPr lang="en-US" sz="1200" dirty="0"/>
          </a:p>
        </p:txBody>
      </p:sp>
      <p:sp>
        <p:nvSpPr>
          <p:cNvPr id="19" name="Shape 17"/>
          <p:cNvSpPr/>
          <p:nvPr/>
        </p:nvSpPr>
        <p:spPr>
          <a:xfrm>
            <a:off x="6217920" y="3840480"/>
            <a:ext cx="5349240" cy="2011680"/>
          </a:xfrm>
          <a:prstGeom prst="roundRect">
            <a:avLst>
              <a:gd name="adj" fmla="val 3636"/>
            </a:avLst>
          </a:prstGeom>
          <a:solidFill>
            <a:srgbClr val="F2F4FB"/>
          </a:solidFill>
          <a:ln/>
        </p:spPr>
        <p:txBody>
          <a:bodyPr/>
          <a:p/>
        </p:txBody>
      </p:sp>
      <p:sp>
        <p:nvSpPr>
          <p:cNvPr id="20" name="Shape 18"/>
          <p:cNvSpPr/>
          <p:nvPr/>
        </p:nvSpPr>
        <p:spPr>
          <a:xfrm>
            <a:off x="6400800" y="4023360"/>
            <a:ext cx="457200" cy="457200"/>
          </a:xfrm>
          <a:prstGeom prst="ellipse">
            <a:avLst/>
          </a:prstGeom>
          <a:solidFill>
            <a:srgbClr val="2FD26E"/>
          </a:solidFill>
          <a:ln/>
        </p:spPr>
        <p:txBody>
          <a:bodyPr/>
          <a:p/>
        </p:txBody>
      </p:sp>
      <p:sp>
        <p:nvSpPr>
          <p:cNvPr id="21" name="Text 19"/>
          <p:cNvSpPr/>
          <p:nvPr/>
        </p:nvSpPr>
        <p:spPr>
          <a:xfrm>
            <a:off x="6400800" y="4023360"/>
            <a:ext cx="457200" cy="457200"/>
          </a:xfrm>
          <a:prstGeom prst="rect">
            <a:avLst/>
          </a:prstGeom>
          <a:noFill/>
          <a:ln/>
        </p:spPr>
        <p:txBody>
          <a:bodyPr wrap="square" lIns="0" tIns="0" rIns="0" bIns="0" rtlCol="0" anchor="ctr"/>
          <a:lstStyle/>
          <a:p>
            <a:pPr algn="ctr" indent="0" marL="0">
              <a:buNone/>
            </a:pPr>
            <a:r>
              <a:rPr lang="en-US" sz="1600" b="1" dirty="0">
                <a:solidFill>
                  <a:srgbClr val="1B2A80"/>
                </a:solidFill>
                <a:latin typeface="Calibri" pitchFamily="34" charset="0"/>
                <a:ea typeface="Calibri" pitchFamily="34" charset="-122"/>
                <a:cs typeface="Calibri" pitchFamily="34" charset="-120"/>
              </a:rPr>
              <a:t>4</a:t>
            </a:r>
            <a:endParaRPr lang="en-US" sz="1600" dirty="0"/>
          </a:p>
        </p:txBody>
      </p:sp>
      <p:sp>
        <p:nvSpPr>
          <p:cNvPr id="22" name="Text 20"/>
          <p:cNvSpPr/>
          <p:nvPr/>
        </p:nvSpPr>
        <p:spPr>
          <a:xfrm>
            <a:off x="6995160" y="3986784"/>
            <a:ext cx="4389120" cy="502920"/>
          </a:xfrm>
          <a:prstGeom prst="rect">
            <a:avLst/>
          </a:prstGeom>
          <a:noFill/>
          <a:ln/>
        </p:spPr>
        <p:txBody>
          <a:bodyPr wrap="square" lIns="0" tIns="0" rIns="0" bIns="0" rtlCol="0" anchor="ctr"/>
          <a:lstStyle/>
          <a:p>
            <a:pPr indent="0" marL="0">
              <a:buNone/>
            </a:pPr>
            <a:r>
              <a:rPr lang="en-US" sz="1400" b="1" dirty="0">
                <a:solidFill>
                  <a:srgbClr val="1B2A80"/>
                </a:solidFill>
                <a:latin typeface="Calibri" pitchFamily="34" charset="0"/>
                <a:ea typeface="Calibri" pitchFamily="34" charset="-122"/>
                <a:cs typeface="Calibri" pitchFamily="34" charset="-120"/>
              </a:rPr>
              <a:t>colcon</a:t>
            </a:r>
            <a:endParaRPr lang="en-US" sz="1400" dirty="0"/>
          </a:p>
        </p:txBody>
      </p:sp>
      <p:sp>
        <p:nvSpPr>
          <p:cNvPr id="23" name="Text 21"/>
          <p:cNvSpPr/>
          <p:nvPr/>
        </p:nvSpPr>
        <p:spPr>
          <a:xfrm>
            <a:off x="6419088" y="4617720"/>
            <a:ext cx="4946904" cy="1106424"/>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Construye todos los paquetes resolviendo dependencias. Con --symlink-install los cambios en Python se aplican sin reconstruir</a:t>
            </a:r>
            <a:endParaRPr lang="en-US" sz="1200" dirty="0"/>
          </a:p>
        </p:txBody>
      </p:sp>
      <p:sp>
        <p:nvSpPr>
          <p:cNvPr id="24" name="Shape 22"/>
          <p:cNvSpPr/>
          <p:nvPr/>
        </p:nvSpPr>
        <p:spPr>
          <a:xfrm>
            <a:off x="640080" y="5852160"/>
            <a:ext cx="10881360" cy="640080"/>
          </a:xfrm>
          <a:prstGeom prst="roundRect">
            <a:avLst>
              <a:gd name="adj" fmla="val 11429"/>
            </a:avLst>
          </a:prstGeom>
          <a:solidFill>
            <a:srgbClr val="E3F7EC"/>
          </a:solidFill>
          <a:ln/>
        </p:spPr>
        <p:txBody>
          <a:bodyPr/>
          <a:p/>
        </p:txBody>
      </p:sp>
      <p:sp>
        <p:nvSpPr>
          <p:cNvPr id="25" name="Text 23"/>
          <p:cNvSpPr/>
          <p:nvPr/>
        </p:nvSpPr>
        <p:spPr>
          <a:xfrm>
            <a:off x="841248" y="5961888"/>
            <a:ext cx="10479024" cy="402336"/>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Antes de S34: ros2 pkg create --build-type ament_python mi_paquete · colcon build --symlink-install · source install/setup.bash</a:t>
            </a:r>
            <a:endParaRPr lang="en-US" sz="1200" dirty="0"/>
          </a:p>
        </p:txBody>
      </p:sp>
      <p:sp>
        <p:nvSpPr>
          <p:cNvPr id="27" name="Text 24"/>
          <p:cNvSpPr/>
          <p:nvPr/>
        </p:nvSpPr>
        <p:spPr>
          <a:xfrm>
            <a:off x="640080" y="6446520"/>
            <a:ext cx="10972800" cy="274320"/>
          </a:xfrm>
          <a:prstGeom prst="rect">
            <a:avLst/>
          </a:prstGeom>
          <a:noFill/>
          <a:ln/>
        </p:spPr>
        <p:txBody>
          <a:bodyPr wrap="square" lIns="0" tIns="0" rIns="0" bIns="0"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docs.ros.org (Jazzy) · Creating a workspace, package and launch file</a:t>
            </a:r>
            <a:endParaRPr lang="en-US" sz="1000" dirty="0"/>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2A80"/>
        </a:solidFill>
      </p:bgPr>
    </p:bg>
    <p:spTree>
      <p:nvGrpSpPr>
        <p:cNvPr id="1" name=""/>
        <p:cNvGrpSpPr/>
        <p:nvPr/>
      </p:nvGrpSpPr>
      <p:grpSpPr>
        <a:xfrm>
          <a:off x="0" y="0"/>
          <a:ext cx="0" cy="0"/>
          <a:chOff x="0" y="0"/>
          <a:chExt cx="0" cy="0"/>
        </a:xfrm>
      </p:grpSpPr>
      <p:sp>
        <p:nvSpPr>
          <p:cNvPr id="2" name="Shape 0"/>
          <p:cNvSpPr/>
          <p:nvPr/>
        </p:nvSpPr>
        <p:spPr>
          <a:xfrm>
            <a:off x="-18288" y="2834640"/>
            <a:ext cx="5852160" cy="4041648"/>
          </a:xfrm>
          <a:prstGeom prst="rtTriangle">
            <a:avLst/>
          </a:prstGeom>
          <a:solidFill>
            <a:srgbClr val="2E3FA3"/>
          </a:solidFill>
          <a:ln/>
        </p:spPr>
        <p:txBody>
          <a:bodyPr/>
          <a:p/>
        </p:txBody>
      </p:sp>
      <p:sp>
        <p:nvSpPr>
          <p:cNvPr id="3" name="Shape 1"/>
          <p:cNvSpPr/>
          <p:nvPr/>
        </p:nvSpPr>
        <p:spPr>
          <a:xfrm>
            <a:off x="-18288" y="4846320"/>
            <a:ext cx="2926080" cy="2029968"/>
          </a:xfrm>
          <a:prstGeom prst="rtTriangle">
            <a:avLst/>
          </a:prstGeom>
          <a:solidFill>
            <a:srgbClr val="2FD26E"/>
          </a:solidFill>
          <a:ln/>
        </p:spPr>
        <p:txBody>
          <a:bodyPr/>
          <a:p/>
        </p:txBody>
      </p:sp>
      <p:sp>
        <p:nvSpPr>
          <p:cNvPr id="4" name="Shape 2"/>
          <p:cNvSpPr/>
          <p:nvPr/>
        </p:nvSpPr>
        <p:spPr>
          <a:xfrm>
            <a:off x="685800" y="1051560"/>
            <a:ext cx="1051560" cy="1051560"/>
          </a:xfrm>
          <a:prstGeom prst="ellipse">
            <a:avLst/>
          </a:prstGeom>
          <a:solidFill>
            <a:srgbClr val="2FD26E"/>
          </a:solidFill>
          <a:ln/>
        </p:spPr>
        <p:txBody>
          <a:bodyPr/>
          <a:p/>
        </p:txBody>
      </p:sp>
      <p:sp>
        <p:nvSpPr>
          <p:cNvPr id="5" name="Text 3"/>
          <p:cNvSpPr/>
          <p:nvPr/>
        </p:nvSpPr>
        <p:spPr>
          <a:xfrm>
            <a:off x="685800" y="1051560"/>
            <a:ext cx="1051560" cy="1051560"/>
          </a:xfrm>
          <a:prstGeom prst="rect">
            <a:avLst/>
          </a:prstGeom>
          <a:noFill/>
          <a:ln/>
        </p:spPr>
        <p:txBody>
          <a:bodyPr wrap="square" lIns="0" tIns="0" rIns="0" bIns="0" rtlCol="0" anchor="ctr"/>
          <a:lstStyle/>
          <a:p>
            <a:pPr algn="ctr" indent="0" marL="0">
              <a:buNone/>
            </a:pPr>
            <a:r>
              <a:rPr lang="en-US" sz="3000" b="1" dirty="0">
                <a:solidFill>
                  <a:srgbClr val="1B2A80"/>
                </a:solidFill>
                <a:latin typeface="Calibri" pitchFamily="34" charset="0"/>
                <a:ea typeface="Calibri" pitchFamily="34" charset="-122"/>
                <a:cs typeface="Calibri" pitchFamily="34" charset="-120"/>
              </a:rPr>
              <a:t>S34</a:t>
            </a:r>
            <a:endParaRPr lang="en-US" sz="3000" dirty="0"/>
          </a:p>
        </p:txBody>
      </p:sp>
      <p:sp>
        <p:nvSpPr>
          <p:cNvPr id="6" name="Text 4"/>
          <p:cNvSpPr/>
          <p:nvPr/>
        </p:nvSpPr>
        <p:spPr>
          <a:xfrm>
            <a:off x="2011680" y="914400"/>
            <a:ext cx="9418320" cy="137160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Taller: rclpy, Gazebo y TF2</a:t>
            </a:r>
            <a:endParaRPr lang="en-US" sz="3400" dirty="0"/>
          </a:p>
        </p:txBody>
      </p:sp>
      <p:sp>
        <p:nvSpPr>
          <p:cNvPr id="7" name="Text 5"/>
          <p:cNvSpPr/>
          <p:nvPr/>
        </p:nvSpPr>
        <p:spPr>
          <a:xfrm>
            <a:off x="2057400" y="2286000"/>
            <a:ext cx="8961120" cy="822960"/>
          </a:xfrm>
          <a:prstGeom prst="rect">
            <a:avLst/>
          </a:prstGeom>
          <a:noFill/>
          <a:ln/>
        </p:spPr>
        <p:txBody>
          <a:bodyPr wrap="square" lIns="0" tIns="0" rIns="0" bIns="0" rtlCol="0" anchor="ctr"/>
          <a:lstStyle/>
          <a:p>
            <a:pPr indent="0" marL="0">
              <a:buNone/>
            </a:pPr>
            <a:r>
              <a:rPr lang="en-US" sz="1600" dirty="0">
                <a:solidFill>
                  <a:srgbClr val="C9D2F5"/>
                </a:solidFill>
                <a:latin typeface="Calibri" pitchFamily="34" charset="0"/>
                <a:ea typeface="Calibri" pitchFamily="34" charset="-122"/>
                <a:cs typeface="Calibri" pitchFamily="34" charset="-120"/>
              </a:rPr>
              <a:t>Nodo en Python · simulación · árbol de transformadas</a:t>
            </a:r>
            <a:endParaRPr lang="en-US" sz="1600" dirty="0"/>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47472"/>
            <a:ext cx="10881360" cy="274320"/>
          </a:xfrm>
          <a:prstGeom prst="rect">
            <a:avLst/>
          </a:prstGeom>
          <a:noFill/>
          <a:ln/>
        </p:spPr>
        <p:txBody>
          <a:bodyPr wrap="square" lIns="0" tIns="0" rIns="0" bIns="0" rtlCol="0" anchor="ctr"/>
          <a:lstStyle/>
          <a:p>
            <a:pPr indent="0" marL="0">
              <a:buNone/>
            </a:pPr>
            <a:r>
              <a:rPr lang="en-US" sz="1200" b="1" spc="200" kern="0" dirty="0">
                <a:solidFill>
                  <a:srgbClr val="1FA355"/>
                </a:solidFill>
                <a:latin typeface="Calibri" pitchFamily="34" charset="0"/>
                <a:ea typeface="Calibri" pitchFamily="34" charset="-122"/>
                <a:cs typeface="Calibri" pitchFamily="34" charset="-120"/>
              </a:rPr>
              <a:t>S34 · TALLER</a:t>
            </a:r>
            <a:endParaRPr lang="en-US" sz="1200" dirty="0"/>
          </a:p>
        </p:txBody>
      </p:sp>
      <p:sp>
        <p:nvSpPr>
          <p:cNvPr id="3" name="Text 1"/>
          <p:cNvSpPr/>
          <p:nvPr/>
        </p:nvSpPr>
        <p:spPr>
          <a:xfrm>
            <a:off x="640080" y="566928"/>
            <a:ext cx="10881360" cy="685800"/>
          </a:xfrm>
          <a:prstGeom prst="rect">
            <a:avLst/>
          </a:prstGeom>
          <a:noFill/>
          <a:ln/>
        </p:spPr>
        <p:txBody>
          <a:bodyPr wrap="square" lIns="0" tIns="0" rIns="0" bIns="0" rtlCol="0" anchor="ctr"/>
          <a:lstStyle/>
          <a:p>
            <a:pPr indent="0" marL="0">
              <a:buNone/>
            </a:pPr>
            <a:r>
              <a:rPr lang="en-US" sz="3000" b="1" dirty="0">
                <a:solidFill>
                  <a:srgbClr val="1B2A80"/>
                </a:solidFill>
                <a:latin typeface="Calibri" pitchFamily="34" charset="0"/>
                <a:ea typeface="Calibri" pitchFamily="34" charset="-122"/>
                <a:cs typeface="Calibri" pitchFamily="34" charset="-120"/>
              </a:rPr>
              <a:t>Anatomía de un nodo y del taller</a:t>
            </a:r>
            <a:endParaRPr lang="en-US" sz="3000" dirty="0"/>
          </a:p>
        </p:txBody>
      </p:sp>
      <p:sp>
        <p:nvSpPr>
          <p:cNvPr id="4" name="Text 2"/>
          <p:cNvSpPr/>
          <p:nvPr/>
        </p:nvSpPr>
        <p:spPr>
          <a:xfrm>
            <a:off x="640080" y="1463040"/>
            <a:ext cx="6309360" cy="4846320"/>
          </a:xfrm>
          <a:prstGeom prst="rect">
            <a:avLst/>
          </a:prstGeom>
          <a:noFill/>
          <a:ln/>
        </p:spPr>
        <p:txBody>
          <a:bodyPr wrap="square" lIns="0" tIns="0" rIns="0" bIns="0" rtlCol="0" anchor="t"/>
          <a:lstStyle/>
          <a:p>
            <a:pPr indent="0" marL="0">
              <a:spcAft>
                <a:spcPts val="400"/>
              </a:spcAft>
              <a:buNone/>
            </a:pPr>
            <a:r>
              <a:rPr lang="en-US" sz="1500" b="1" dirty="0">
                <a:solidFill>
                  <a:srgbClr val="1B2A80"/>
                </a:solidFill>
                <a:latin typeface="Calibri" pitchFamily="34" charset="0"/>
                <a:ea typeface="Calibri" pitchFamily="34" charset="-122"/>
                <a:cs typeface="Calibri" pitchFamily="34" charset="-120"/>
              </a:rPr>
              <a:t>Un nodo rclpy en cinco piezas</a:t>
            </a:r>
            <a:endParaRPr lang="en-US" sz="1500" dirty="0"/>
          </a:p>
          <a:p>
            <a:pPr marL="177800" indent="-177800">
              <a:spcAft>
                <a:spcPts val="800"/>
              </a:spcAft>
              <a:buSzPct val="100000"/>
              <a:buChar char="•"/>
            </a:pPr>
            <a:r>
              <a:rPr lang="en-US" sz="1400" dirty="0">
                <a:solidFill>
                  <a:srgbClr val="1A1A2E"/>
                </a:solidFill>
                <a:latin typeface="Calibri" pitchFamily="34" charset="0"/>
                <a:ea typeface="Calibri" pitchFamily="34" charset="-122"/>
                <a:cs typeface="Calibri" pitchFamily="34" charset="-120"/>
              </a:rPr>
              <a:t>Heredar de Node y darle nombre; crear publicadores y suscriptores con su tipo de mensaje, tema y perfil de QoS.</a:t>
            </a:r>
            <a:endParaRPr lang="en-US" sz="1500" dirty="0"/>
          </a:p>
          <a:p>
            <a:pPr marL="177800" indent="-177800">
              <a:spcAft>
                <a:spcPts val="800"/>
              </a:spcAft>
              <a:buSzPct val="100000"/>
              <a:buChar char="•"/>
            </a:pPr>
            <a:r>
              <a:rPr lang="en-US" sz="1400" dirty="0">
                <a:solidFill>
                  <a:srgbClr val="1A1A2E"/>
                </a:solidFill>
                <a:latin typeface="Calibri" pitchFamily="34" charset="0"/>
                <a:ea typeface="Calibri" pitchFamily="34" charset="-122"/>
                <a:cs typeface="Calibri" pitchFamily="34" charset="-120"/>
              </a:rPr>
              <a:t>Un temporizador marca el ritmo de publicación; las devoluciones de llamada reaccionan a lo que llega.</a:t>
            </a:r>
            <a:endParaRPr lang="en-US" sz="1500" dirty="0"/>
          </a:p>
          <a:p>
            <a:pPr marL="177800" indent="-177800">
              <a:spcAft>
                <a:spcPts val="800"/>
              </a:spcAft>
              <a:buSzPct val="100000"/>
              <a:buChar char="•"/>
            </a:pPr>
            <a:r>
              <a:rPr lang="en-US" sz="1400" dirty="0">
                <a:solidFill>
                  <a:srgbClr val="1A1A2E"/>
                </a:solidFill>
                <a:latin typeface="Calibri" pitchFamily="34" charset="0"/>
                <a:ea typeface="Calibri" pitchFamily="34" charset="-122"/>
                <a:cs typeface="Calibri" pitchFamily="34" charset="-120"/>
              </a:rPr>
              <a:t>rclpy.spin cede el control al ejecutor: a partir de ahí manda el flujo de mensajes, no el programa.</a:t>
            </a:r>
            <a:endParaRPr lang="en-US" sz="1500" dirty="0"/>
          </a:p>
          <a:p>
            <a:pPr marL="177800" indent="-177800">
              <a:spcAft>
                <a:spcPts val="800"/>
              </a:spcAft>
              <a:buSzPct val="100000"/>
              <a:buChar char="•"/>
            </a:pPr>
            <a:r>
              <a:rPr lang="en-US" sz="1400" dirty="0">
                <a:solidFill>
                  <a:srgbClr val="1A1A2E"/>
                </a:solidFill>
                <a:latin typeface="Calibri" pitchFamily="34" charset="0"/>
                <a:ea typeface="Calibri" pitchFamily="34" charset="-122"/>
                <a:cs typeface="Calibri" pitchFamily="34" charset="-120"/>
              </a:rPr>
              <a:t>El punto de entrada se declara en setup.py para que colcon genere el ejecutable.</a:t>
            </a:r>
            <a:endParaRPr lang="en-US" sz="1500" dirty="0"/>
          </a:p>
        </p:txBody>
      </p:sp>
      <p:sp>
        <p:nvSpPr>
          <p:cNvPr id="5" name="Shape 3"/>
          <p:cNvSpPr/>
          <p:nvPr/>
        </p:nvSpPr>
        <p:spPr>
          <a:xfrm>
            <a:off x="7223760" y="1554480"/>
            <a:ext cx="4297680" cy="4480560"/>
          </a:xfrm>
          <a:prstGeom prst="roundRect">
            <a:avLst>
              <a:gd name="adj" fmla="val 1702"/>
            </a:avLst>
          </a:prstGeom>
          <a:solidFill>
            <a:srgbClr val="F2F4FB"/>
          </a:solidFill>
          <a:ln/>
        </p:spPr>
        <p:txBody>
          <a:bodyPr/>
          <a:p/>
        </p:txBody>
      </p:sp>
      <p:sp>
        <p:nvSpPr>
          <p:cNvPr id="6" name="Text 4"/>
          <p:cNvSpPr/>
          <p:nvPr/>
        </p:nvSpPr>
        <p:spPr>
          <a:xfrm>
            <a:off x="7424928" y="1700784"/>
            <a:ext cx="3895344" cy="502920"/>
          </a:xfrm>
          <a:prstGeom prst="rect">
            <a:avLst/>
          </a:prstGeom>
          <a:noFill/>
          <a:ln/>
        </p:spPr>
        <p:txBody>
          <a:bodyPr wrap="square" lIns="0" tIns="0" rIns="0" bIns="0" rtlCol="0" anchor="ctr"/>
          <a:lstStyle/>
          <a:p>
            <a:pPr indent="0" marL="0">
              <a:buNone/>
            </a:pPr>
            <a:r>
              <a:rPr lang="en-US" sz="1500" b="1" dirty="0">
                <a:solidFill>
                  <a:srgbClr val="1B2A80"/>
                </a:solidFill>
                <a:latin typeface="Calibri" pitchFamily="34" charset="0"/>
                <a:ea typeface="Calibri" pitchFamily="34" charset="-122"/>
                <a:cs typeface="Calibri" pitchFamily="34" charset="-120"/>
              </a:rPr>
              <a:t>Comandos del taller</a:t>
            </a:r>
            <a:endParaRPr lang="en-US" sz="1500" dirty="0"/>
          </a:p>
        </p:txBody>
      </p:sp>
      <p:sp>
        <p:nvSpPr>
          <p:cNvPr id="7" name="Text 5"/>
          <p:cNvSpPr/>
          <p:nvPr/>
        </p:nvSpPr>
        <p:spPr>
          <a:xfrm>
            <a:off x="7424928" y="2194560"/>
            <a:ext cx="3895344" cy="3712464"/>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ros2 run mi_paquete mi_nodo</a:t>
            </a: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ros2 topic echo /cmd_vel</a:t>
            </a: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ros2 topic hz /scan</a:t>
            </a: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rqt_graph</a:t>
            </a:r>
            <a:endParaRPr lang="en-US" sz="1200" dirty="0"/>
          </a:p>
          <a:p>
            <a:pPr indent="0" marL="0">
              <a:buNone/>
            </a:pP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ros2 launch nav2_bringup</a:t>
            </a: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 tb3_simulation_launch.py</a:t>
            </a:r>
            <a:endParaRPr lang="en-US" sz="1200" dirty="0"/>
          </a:p>
          <a:p>
            <a:pPr indent="0" marL="0">
              <a:buNone/>
            </a:pP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ros2 run tf2_tools view_frames</a:t>
            </a: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ros2 run tf2_ros tf2_echo map base_link</a:t>
            </a:r>
            <a:endParaRPr lang="en-US" sz="1200" dirty="0"/>
          </a:p>
        </p:txBody>
      </p:sp>
      <p:sp>
        <p:nvSpPr>
          <p:cNvPr id="9" name="Text 6"/>
          <p:cNvSpPr/>
          <p:nvPr/>
        </p:nvSpPr>
        <p:spPr>
          <a:xfrm>
            <a:off x="640080" y="6446520"/>
            <a:ext cx="10972800" cy="274320"/>
          </a:xfrm>
          <a:prstGeom prst="rect">
            <a:avLst/>
          </a:prstGeom>
          <a:noFill/>
          <a:ln/>
        </p:spPr>
        <p:txBody>
          <a:bodyPr wrap="square" lIns="0" tIns="0" rIns="0" bIns="0"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docs.ros.org (Jazzy) · rclpy · gazebosim.org · ros_gz</a:t>
            </a:r>
            <a:endParaRPr lang="en-US" sz="1000" dirty="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47472"/>
            <a:ext cx="10881360" cy="274320"/>
          </a:xfrm>
          <a:prstGeom prst="rect">
            <a:avLst/>
          </a:prstGeom>
          <a:noFill/>
          <a:ln/>
        </p:spPr>
        <p:txBody>
          <a:bodyPr wrap="square" lIns="0" tIns="0" rIns="0" bIns="0" rtlCol="0" anchor="ctr"/>
          <a:lstStyle/>
          <a:p>
            <a:pPr indent="0" marL="0">
              <a:buNone/>
            </a:pPr>
            <a:r>
              <a:rPr lang="en-US" sz="1200" b="1" spc="200" kern="0" dirty="0">
                <a:solidFill>
                  <a:srgbClr val="1FA355"/>
                </a:solidFill>
                <a:latin typeface="Calibri" pitchFamily="34" charset="0"/>
                <a:ea typeface="Calibri" pitchFamily="34" charset="-122"/>
                <a:cs typeface="Calibri" pitchFamily="34" charset="-120"/>
              </a:rPr>
              <a:t>S34 · GAZEBO Y TF2</a:t>
            </a:r>
            <a:endParaRPr lang="en-US" sz="1200" dirty="0"/>
          </a:p>
        </p:txBody>
      </p:sp>
      <p:sp>
        <p:nvSpPr>
          <p:cNvPr id="3" name="Text 1"/>
          <p:cNvSpPr/>
          <p:nvPr/>
        </p:nvSpPr>
        <p:spPr>
          <a:xfrm>
            <a:off x="640080" y="566928"/>
            <a:ext cx="10881360" cy="685800"/>
          </a:xfrm>
          <a:prstGeom prst="rect">
            <a:avLst/>
          </a:prstGeom>
          <a:noFill/>
          <a:ln/>
        </p:spPr>
        <p:txBody>
          <a:bodyPr wrap="square" lIns="0" tIns="0" rIns="0" bIns="0" rtlCol="0" anchor="ctr"/>
          <a:lstStyle/>
          <a:p>
            <a:pPr indent="0" marL="0">
              <a:buNone/>
            </a:pPr>
            <a:r>
              <a:rPr lang="en-US" sz="3000" b="1" dirty="0">
                <a:solidFill>
                  <a:srgbClr val="1B2A80"/>
                </a:solidFill>
                <a:latin typeface="Calibri" pitchFamily="34" charset="0"/>
                <a:ea typeface="Calibri" pitchFamily="34" charset="-122"/>
                <a:cs typeface="Calibri" pitchFamily="34" charset="-120"/>
              </a:rPr>
              <a:t>Simulación y el árbol de transformadas</a:t>
            </a:r>
            <a:endParaRPr lang="en-US" sz="3000" dirty="0"/>
          </a:p>
        </p:txBody>
      </p:sp>
      <p:sp>
        <p:nvSpPr>
          <p:cNvPr id="4" name="Shape 2"/>
          <p:cNvSpPr/>
          <p:nvPr/>
        </p:nvSpPr>
        <p:spPr>
          <a:xfrm>
            <a:off x="640080" y="1572768"/>
            <a:ext cx="5394960" cy="2286000"/>
          </a:xfrm>
          <a:prstGeom prst="roundRect">
            <a:avLst>
              <a:gd name="adj" fmla="val 3200"/>
            </a:avLst>
          </a:prstGeom>
          <a:solidFill>
            <a:srgbClr val="F2F4FB"/>
          </a:solidFill>
          <a:ln/>
        </p:spPr>
        <p:txBody>
          <a:bodyPr/>
          <a:p/>
        </p:txBody>
      </p:sp>
      <p:sp>
        <p:nvSpPr>
          <p:cNvPr id="5" name="Text 3"/>
          <p:cNvSpPr/>
          <p:nvPr/>
        </p:nvSpPr>
        <p:spPr>
          <a:xfrm>
            <a:off x="841248" y="1719072"/>
            <a:ext cx="4992624" cy="502920"/>
          </a:xfrm>
          <a:prstGeom prst="rect">
            <a:avLst/>
          </a:prstGeom>
          <a:noFill/>
          <a:ln/>
        </p:spPr>
        <p:txBody>
          <a:bodyPr wrap="square" lIns="0" tIns="0" rIns="0" bIns="0" rtlCol="0" anchor="ctr"/>
          <a:lstStyle/>
          <a:p>
            <a:pPr indent="0" marL="0">
              <a:buNone/>
            </a:pPr>
            <a:r>
              <a:rPr lang="en-US" sz="1500" b="1" dirty="0">
                <a:solidFill>
                  <a:srgbClr val="1B2A80"/>
                </a:solidFill>
                <a:latin typeface="Calibri" pitchFamily="34" charset="0"/>
                <a:ea typeface="Calibri" pitchFamily="34" charset="-122"/>
                <a:cs typeface="Calibri" pitchFamily="34" charset="-120"/>
              </a:rPr>
              <a:t>Gazebo y el puente ros_gz</a:t>
            </a:r>
            <a:endParaRPr lang="en-US" sz="1500" dirty="0"/>
          </a:p>
        </p:txBody>
      </p:sp>
      <p:sp>
        <p:nvSpPr>
          <p:cNvPr id="6" name="Text 4"/>
          <p:cNvSpPr/>
          <p:nvPr/>
        </p:nvSpPr>
        <p:spPr>
          <a:xfrm>
            <a:off x="841248" y="2212848"/>
            <a:ext cx="4992624" cy="1517904"/>
          </a:xfrm>
          <a:prstGeom prst="rect">
            <a:avLst/>
          </a:prstGeom>
          <a:noFill/>
          <a:ln/>
        </p:spPr>
        <p:txBody>
          <a:bodyPr wrap="square" lIns="0" tIns="0" rIns="0" bIns="0" rtlCol="0" anchor="ctr"/>
          <a:lstStyle/>
          <a:p>
            <a:pPr indent="0" marL="0">
              <a:buNone/>
            </a:pPr>
            <a:r>
              <a:rPr lang="en-US" sz="1250" dirty="0">
                <a:solidFill>
                  <a:srgbClr val="1A1A2E"/>
                </a:solidFill>
                <a:latin typeface="Calibri" pitchFamily="34" charset="0"/>
                <a:ea typeface="Calibri" pitchFamily="34" charset="-122"/>
                <a:cs typeface="Calibri" pitchFamily="34" charset="-120"/>
              </a:rPr>
              <a:t>El simulador aporta física, sensores sintéticos y mundo; el puente traduce entre los mensajes de Gazebo y los de ROS 2.</a:t>
            </a:r>
            <a:endParaRPr lang="en-US" sz="1250" dirty="0"/>
          </a:p>
          <a:p>
            <a:pPr indent="0" marL="0">
              <a:buNone/>
            </a:pPr>
            <a:endParaRPr lang="en-US" sz="1250" dirty="0"/>
          </a:p>
          <a:p>
            <a:pPr indent="0" marL="0">
              <a:buNone/>
            </a:pPr>
            <a:r>
              <a:rPr lang="en-US" sz="1250" dirty="0">
                <a:solidFill>
                  <a:srgbClr val="1A1A2E"/>
                </a:solidFill>
                <a:latin typeface="Calibri" pitchFamily="34" charset="0"/>
                <a:ea typeface="Calibri" pitchFamily="34" charset="-122"/>
                <a:cs typeface="Calibri" pitchFamily="34" charset="-120"/>
              </a:rPr>
              <a:t>Permite desarrollar el stack completo sin tocar hardware, y sin poder romperlo.</a:t>
            </a:r>
            <a:endParaRPr lang="en-US" sz="1250" dirty="0"/>
          </a:p>
        </p:txBody>
      </p:sp>
      <p:sp>
        <p:nvSpPr>
          <p:cNvPr id="7" name="Shape 5"/>
          <p:cNvSpPr/>
          <p:nvPr/>
        </p:nvSpPr>
        <p:spPr>
          <a:xfrm>
            <a:off x="6263640" y="1572768"/>
            <a:ext cx="5257800" cy="2286000"/>
          </a:xfrm>
          <a:prstGeom prst="roundRect">
            <a:avLst>
              <a:gd name="adj" fmla="val 3200"/>
            </a:avLst>
          </a:prstGeom>
          <a:solidFill>
            <a:srgbClr val="F2F4FB"/>
          </a:solidFill>
          <a:ln/>
        </p:spPr>
        <p:txBody>
          <a:bodyPr/>
          <a:p/>
        </p:txBody>
      </p:sp>
      <p:sp>
        <p:nvSpPr>
          <p:cNvPr id="8" name="Text 6"/>
          <p:cNvSpPr/>
          <p:nvPr/>
        </p:nvSpPr>
        <p:spPr>
          <a:xfrm>
            <a:off x="6464808" y="1719072"/>
            <a:ext cx="4855464" cy="502920"/>
          </a:xfrm>
          <a:prstGeom prst="rect">
            <a:avLst/>
          </a:prstGeom>
          <a:noFill/>
          <a:ln/>
        </p:spPr>
        <p:txBody>
          <a:bodyPr wrap="square" lIns="0" tIns="0" rIns="0" bIns="0" rtlCol="0" anchor="ctr"/>
          <a:lstStyle/>
          <a:p>
            <a:pPr indent="0" marL="0">
              <a:buNone/>
            </a:pPr>
            <a:r>
              <a:rPr lang="en-US" sz="1500" b="1" dirty="0">
                <a:solidFill>
                  <a:srgbClr val="1B2A80"/>
                </a:solidFill>
                <a:latin typeface="Calibri" pitchFamily="34" charset="0"/>
                <a:ea typeface="Calibri" pitchFamily="34" charset="-122"/>
                <a:cs typeface="Calibri" pitchFamily="34" charset="-120"/>
              </a:rPr>
              <a:t>TF2: quién está dónde</a:t>
            </a:r>
            <a:endParaRPr lang="en-US" sz="1500" dirty="0"/>
          </a:p>
        </p:txBody>
      </p:sp>
      <p:sp>
        <p:nvSpPr>
          <p:cNvPr id="9" name="Text 7"/>
          <p:cNvSpPr/>
          <p:nvPr/>
        </p:nvSpPr>
        <p:spPr>
          <a:xfrm>
            <a:off x="6464808" y="2212848"/>
            <a:ext cx="4855464" cy="1517904"/>
          </a:xfrm>
          <a:prstGeom prst="rect">
            <a:avLst/>
          </a:prstGeom>
          <a:noFill/>
          <a:ln/>
        </p:spPr>
        <p:txBody>
          <a:bodyPr wrap="square" lIns="0" tIns="0" rIns="0" bIns="0" rtlCol="0" anchor="ctr"/>
          <a:lstStyle/>
          <a:p>
            <a:pPr indent="0" marL="0">
              <a:buNone/>
            </a:pPr>
            <a:r>
              <a:rPr lang="en-US" sz="1250" dirty="0">
                <a:solidFill>
                  <a:srgbClr val="1A1A2E"/>
                </a:solidFill>
                <a:latin typeface="Calibri" pitchFamily="34" charset="0"/>
                <a:ea typeface="Calibri" pitchFamily="34" charset="-122"/>
                <a:cs typeface="Calibri" pitchFamily="34" charset="-120"/>
              </a:rPr>
              <a:t>Mantiene el árbol de transformadas entre todos los marcos del robot y del mundo, con su historia temporal.</a:t>
            </a:r>
            <a:endParaRPr lang="en-US" sz="1250" dirty="0"/>
          </a:p>
          <a:p>
            <a:pPr indent="0" marL="0">
              <a:buNone/>
            </a:pPr>
            <a:endParaRPr lang="en-US" sz="1250" dirty="0"/>
          </a:p>
          <a:p>
            <a:pPr indent="0" marL="0">
              <a:buNone/>
            </a:pPr>
            <a:r>
              <a:rPr lang="en-US" sz="1250" dirty="0">
                <a:solidFill>
                  <a:srgbClr val="1A1A2E"/>
                </a:solidFill>
                <a:latin typeface="Calibri" pitchFamily="34" charset="0"/>
                <a:ea typeface="Calibri" pitchFamily="34" charset="-122"/>
                <a:cs typeface="Calibri" pitchFamily="34" charset="-120"/>
              </a:rPr>
              <a:t>Permite preguntar «dónde estaba el sensor respecto al mapa en el instante de esta medida»: sin eso, fusionar sensores es imposible.</a:t>
            </a:r>
            <a:endParaRPr lang="en-US" sz="1250" dirty="0"/>
          </a:p>
        </p:txBody>
      </p:sp>
      <p:sp>
        <p:nvSpPr>
          <p:cNvPr id="10" name="Shape 8"/>
          <p:cNvSpPr/>
          <p:nvPr/>
        </p:nvSpPr>
        <p:spPr>
          <a:xfrm>
            <a:off x="640080" y="4041648"/>
            <a:ext cx="10881360" cy="2011680"/>
          </a:xfrm>
          <a:prstGeom prst="roundRect">
            <a:avLst>
              <a:gd name="adj" fmla="val 3636"/>
            </a:avLst>
          </a:prstGeom>
          <a:solidFill>
            <a:srgbClr val="E3F7EC"/>
          </a:solidFill>
          <a:ln/>
        </p:spPr>
        <p:txBody>
          <a:bodyPr/>
          <a:p/>
        </p:txBody>
      </p:sp>
      <p:sp>
        <p:nvSpPr>
          <p:cNvPr id="11" name="Text 9"/>
          <p:cNvSpPr/>
          <p:nvPr/>
        </p:nvSpPr>
        <p:spPr>
          <a:xfrm>
            <a:off x="841248" y="4187952"/>
            <a:ext cx="10479024" cy="502920"/>
          </a:xfrm>
          <a:prstGeom prst="rect">
            <a:avLst/>
          </a:prstGeom>
          <a:noFill/>
          <a:ln/>
        </p:spPr>
        <p:txBody>
          <a:bodyPr wrap="square" lIns="0" tIns="0" rIns="0" bIns="0" rtlCol="0" anchor="ctr"/>
          <a:lstStyle/>
          <a:p>
            <a:pPr indent="0" marL="0">
              <a:buNone/>
            </a:pPr>
            <a:r>
              <a:rPr lang="en-US" sz="1500" b="1" dirty="0">
                <a:solidFill>
                  <a:srgbClr val="1B2A80"/>
                </a:solidFill>
                <a:latin typeface="Calibri" pitchFamily="34" charset="0"/>
                <a:ea typeface="Calibri" pitchFamily="34" charset="-122"/>
                <a:cs typeface="Calibri" pitchFamily="34" charset="-120"/>
              </a:rPr>
              <a:t>La convención que ordena la navegación (REP 105)</a:t>
            </a:r>
            <a:endParaRPr lang="en-US" sz="1500" dirty="0"/>
          </a:p>
        </p:txBody>
      </p:sp>
      <p:sp>
        <p:nvSpPr>
          <p:cNvPr id="12" name="Text 10"/>
          <p:cNvSpPr/>
          <p:nvPr/>
        </p:nvSpPr>
        <p:spPr>
          <a:xfrm>
            <a:off x="841248" y="4681728"/>
            <a:ext cx="10479024" cy="1243584"/>
          </a:xfrm>
          <a:prstGeom prst="rect">
            <a:avLst/>
          </a:prstGeom>
          <a:noFill/>
          <a:ln/>
        </p:spPr>
        <p:txBody>
          <a:bodyPr wrap="square" lIns="0" tIns="0" rIns="0" bIns="0" rtlCol="0" anchor="ctr"/>
          <a:lstStyle/>
          <a:p>
            <a:pPr indent="0" marL="0">
              <a:buNone/>
            </a:pPr>
            <a:r>
              <a:rPr lang="en-US" sz="1250" dirty="0">
                <a:solidFill>
                  <a:srgbClr val="1A1A2E"/>
                </a:solidFill>
                <a:latin typeface="Calibri" pitchFamily="34" charset="0"/>
                <a:ea typeface="Calibri" pitchFamily="34" charset="-122"/>
                <a:cs typeface="Calibri" pitchFamily="34" charset="-120"/>
              </a:rPr>
              <a:t>map → odom → base_link → marcos de sensores. La transformada odom→base_link es continua pero deriva; la map→odom la corrige a saltos cuando la localización se actualiza. Entender esta cadena explica por qué el robot «salta» en RViz al cerrar un bucle, y conecta directamente con la localización del bloque 6 y con AMCL en S36.</a:t>
            </a:r>
            <a:endParaRPr lang="en-US" sz="1250" dirty="0"/>
          </a:p>
        </p:txBody>
      </p:sp>
      <p:sp>
        <p:nvSpPr>
          <p:cNvPr id="14" name="Text 11"/>
          <p:cNvSpPr/>
          <p:nvPr/>
        </p:nvSpPr>
        <p:spPr>
          <a:xfrm>
            <a:off x="640080" y="6446520"/>
            <a:ext cx="10972800" cy="274320"/>
          </a:xfrm>
          <a:prstGeom prst="rect">
            <a:avLst/>
          </a:prstGeom>
          <a:noFill/>
          <a:ln/>
        </p:spPr>
        <p:txBody>
          <a:bodyPr wrap="square" lIns="0" tIns="0" rIns="0" bIns="0"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docs.ros.org (Jazzy) · Introducing tf2 · REP 105</a:t>
            </a:r>
            <a:endParaRPr lang="en-US" sz="1000" dirty="0"/>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2A80"/>
        </a:solidFill>
      </p:bgPr>
    </p:bg>
    <p:spTree>
      <p:nvGrpSpPr>
        <p:cNvPr id="1" name=""/>
        <p:cNvGrpSpPr/>
        <p:nvPr/>
      </p:nvGrpSpPr>
      <p:grpSpPr>
        <a:xfrm>
          <a:off x="0" y="0"/>
          <a:ext cx="0" cy="0"/>
          <a:chOff x="0" y="0"/>
          <a:chExt cx="0" cy="0"/>
        </a:xfrm>
      </p:grpSpPr>
      <p:sp>
        <p:nvSpPr>
          <p:cNvPr id="2" name="Shape 0"/>
          <p:cNvSpPr/>
          <p:nvPr/>
        </p:nvSpPr>
        <p:spPr>
          <a:xfrm>
            <a:off x="-18288" y="2834640"/>
            <a:ext cx="5852160" cy="4041648"/>
          </a:xfrm>
          <a:prstGeom prst="rtTriangle">
            <a:avLst/>
          </a:prstGeom>
          <a:solidFill>
            <a:srgbClr val="2E3FA3"/>
          </a:solidFill>
          <a:ln/>
        </p:spPr>
        <p:txBody>
          <a:bodyPr/>
          <a:p/>
        </p:txBody>
      </p:sp>
      <p:sp>
        <p:nvSpPr>
          <p:cNvPr id="3" name="Shape 1"/>
          <p:cNvSpPr/>
          <p:nvPr/>
        </p:nvSpPr>
        <p:spPr>
          <a:xfrm>
            <a:off x="-18288" y="4846320"/>
            <a:ext cx="2926080" cy="2029968"/>
          </a:xfrm>
          <a:prstGeom prst="rtTriangle">
            <a:avLst/>
          </a:prstGeom>
          <a:solidFill>
            <a:srgbClr val="2FD26E"/>
          </a:solidFill>
          <a:ln/>
        </p:spPr>
        <p:txBody>
          <a:bodyPr/>
          <a:p/>
        </p:txBody>
      </p:sp>
      <p:sp>
        <p:nvSpPr>
          <p:cNvPr id="4" name="Shape 2"/>
          <p:cNvSpPr/>
          <p:nvPr/>
        </p:nvSpPr>
        <p:spPr>
          <a:xfrm>
            <a:off x="685800" y="1051560"/>
            <a:ext cx="1051560" cy="1051560"/>
          </a:xfrm>
          <a:prstGeom prst="ellipse">
            <a:avLst/>
          </a:prstGeom>
          <a:solidFill>
            <a:srgbClr val="2FD26E"/>
          </a:solidFill>
          <a:ln/>
        </p:spPr>
        <p:txBody>
          <a:bodyPr/>
          <a:p/>
        </p:txBody>
      </p:sp>
      <p:sp>
        <p:nvSpPr>
          <p:cNvPr id="5" name="Text 3"/>
          <p:cNvSpPr/>
          <p:nvPr/>
        </p:nvSpPr>
        <p:spPr>
          <a:xfrm>
            <a:off x="685800" y="1051560"/>
            <a:ext cx="1051560" cy="1051560"/>
          </a:xfrm>
          <a:prstGeom prst="rect">
            <a:avLst/>
          </a:prstGeom>
          <a:noFill/>
          <a:ln/>
        </p:spPr>
        <p:txBody>
          <a:bodyPr wrap="square" lIns="0" tIns="0" rIns="0" bIns="0" rtlCol="0" anchor="ctr"/>
          <a:lstStyle/>
          <a:p>
            <a:pPr algn="ctr" indent="0" marL="0">
              <a:buNone/>
            </a:pPr>
            <a:r>
              <a:rPr lang="en-US" sz="3000" b="1" dirty="0">
                <a:solidFill>
                  <a:srgbClr val="1B2A80"/>
                </a:solidFill>
                <a:latin typeface="Calibri" pitchFamily="34" charset="0"/>
                <a:ea typeface="Calibri" pitchFamily="34" charset="-122"/>
                <a:cs typeface="Calibri" pitchFamily="34" charset="-120"/>
              </a:rPr>
              <a:t>S35</a:t>
            </a:r>
            <a:endParaRPr lang="en-US" sz="3000" dirty="0"/>
          </a:p>
        </p:txBody>
      </p:sp>
      <p:sp>
        <p:nvSpPr>
          <p:cNvPr id="6" name="Text 4"/>
          <p:cNvSpPr/>
          <p:nvPr/>
        </p:nvSpPr>
        <p:spPr>
          <a:xfrm>
            <a:off x="2011680" y="914400"/>
            <a:ext cx="9418320" cy="137160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Planificación de trayectorias</a:t>
            </a:r>
            <a:endParaRPr lang="en-US" sz="3400" dirty="0"/>
          </a:p>
        </p:txBody>
      </p:sp>
      <p:sp>
        <p:nvSpPr>
          <p:cNvPr id="7" name="Text 5"/>
          <p:cNvSpPr/>
          <p:nvPr/>
        </p:nvSpPr>
        <p:spPr>
          <a:xfrm>
            <a:off x="2057400" y="2286000"/>
            <a:ext cx="8961120" cy="822960"/>
          </a:xfrm>
          <a:prstGeom prst="rect">
            <a:avLst/>
          </a:prstGeom>
          <a:noFill/>
          <a:ln/>
        </p:spPr>
        <p:txBody>
          <a:bodyPr wrap="square" lIns="0" tIns="0" rIns="0" bIns="0" rtlCol="0" anchor="ctr"/>
          <a:lstStyle/>
          <a:p>
            <a:pPr indent="0" marL="0">
              <a:buNone/>
            </a:pPr>
            <a:r>
              <a:rPr lang="en-US" sz="1600" dirty="0">
                <a:solidFill>
                  <a:srgbClr val="C9D2F5"/>
                </a:solidFill>
                <a:latin typeface="Calibri" pitchFamily="34" charset="0"/>
                <a:ea typeface="Calibri" pitchFamily="34" charset="-122"/>
                <a:cs typeface="Calibri" pitchFamily="34" charset="-120"/>
              </a:rPr>
              <a:t>Mapas y C-space · A* · PRM y RRT · campos potenciales</a:t>
            </a:r>
            <a:endParaRPr lang="en-US" sz="1600" dirty="0"/>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47472"/>
            <a:ext cx="10881360" cy="274320"/>
          </a:xfrm>
          <a:prstGeom prst="rect">
            <a:avLst/>
          </a:prstGeom>
          <a:noFill/>
          <a:ln/>
        </p:spPr>
        <p:txBody>
          <a:bodyPr wrap="square" lIns="0" tIns="0" rIns="0" bIns="0" rtlCol="0" anchor="ctr"/>
          <a:lstStyle/>
          <a:p>
            <a:pPr indent="0" marL="0">
              <a:buNone/>
            </a:pPr>
            <a:r>
              <a:rPr lang="en-US" sz="1200" b="1" spc="200" kern="0" dirty="0">
                <a:solidFill>
                  <a:srgbClr val="1FA355"/>
                </a:solidFill>
                <a:latin typeface="Calibri" pitchFamily="34" charset="0"/>
                <a:ea typeface="Calibri" pitchFamily="34" charset="-122"/>
                <a:cs typeface="Calibri" pitchFamily="34" charset="-120"/>
              </a:rPr>
              <a:t>S35 · FIGURA Y ANIMACIÓN</a:t>
            </a:r>
            <a:endParaRPr lang="en-US" sz="1200" dirty="0"/>
          </a:p>
        </p:txBody>
      </p:sp>
      <p:sp>
        <p:nvSpPr>
          <p:cNvPr id="3" name="Text 1"/>
          <p:cNvSpPr/>
          <p:nvPr/>
        </p:nvSpPr>
        <p:spPr>
          <a:xfrm>
            <a:off x="640080" y="566928"/>
            <a:ext cx="10881360" cy="685800"/>
          </a:xfrm>
          <a:prstGeom prst="rect">
            <a:avLst/>
          </a:prstGeom>
          <a:noFill/>
          <a:ln/>
        </p:spPr>
        <p:txBody>
          <a:bodyPr wrap="square" lIns="0" tIns="0" rIns="0" bIns="0" rtlCol="0" anchor="ctr"/>
          <a:lstStyle/>
          <a:p>
            <a:pPr indent="0" marL="0">
              <a:buNone/>
            </a:pPr>
            <a:r>
              <a:rPr lang="en-US" sz="3000" b="1" dirty="0">
                <a:solidFill>
                  <a:srgbClr val="1B2A80"/>
                </a:solidFill>
                <a:latin typeface="Calibri" pitchFamily="34" charset="0"/>
                <a:ea typeface="Calibri" pitchFamily="34" charset="-122"/>
                <a:cs typeface="Calibri" pitchFamily="34" charset="-120"/>
              </a:rPr>
              <a:t>Buscar y muestrear, en imágenes</a:t>
            </a:r>
            <a:endParaRPr lang="en-US" sz="3000" dirty="0"/>
          </a:p>
        </p:txBody>
      </p:sp>
      <p:pic>
        <p:nvPicPr>
          <p:cNvPr id="4" name="Image 0" descr="/home/claude/work/curso_82514/media/figs/b7_astar_dijkstra.png">    </p:cNvPr>
          <p:cNvPicPr>
            <a:picLocks noChangeAspect="1"/>
          </p:cNvPicPr>
          <p:nvPr/>
        </p:nvPicPr>
        <p:blipFill>
          <a:blip r:embed="rId1"/>
          <a:stretch>
            <a:fillRect/>
          </a:stretch>
        </p:blipFill>
        <p:spPr>
          <a:xfrm>
            <a:off x="640080" y="1849435"/>
            <a:ext cx="6675120" cy="2244731"/>
          </a:xfrm>
          <a:prstGeom prst="rect">
            <a:avLst/>
          </a:prstGeom>
        </p:spPr>
      </p:pic>
      <p:sp>
        <p:nvSpPr>
          <p:cNvPr id="5" name="Text 2"/>
          <p:cNvSpPr/>
          <p:nvPr/>
        </p:nvSpPr>
        <p:spPr>
          <a:xfrm>
            <a:off x="640080" y="4130741"/>
            <a:ext cx="6675120" cy="292608"/>
          </a:xfrm>
          <a:prstGeom prst="rect">
            <a:avLst/>
          </a:prstGeom>
          <a:noFill/>
          <a:ln/>
        </p:spPr>
        <p:txBody>
          <a:bodyPr wrap="square" lIns="0" tIns="0" rIns="0" bIns="0" rtlCol="0" anchor="ctr"/>
          <a:lstStyle/>
          <a:p>
            <a:pPr algn="ctr" indent="0" marL="0">
              <a:buNone/>
            </a:pPr>
            <a:r>
              <a:rPr lang="en-US" sz="1050" dirty="0">
                <a:solidFill>
                  <a:srgbClr val="595959"/>
                </a:solidFill>
                <a:latin typeface="Calibri" pitchFamily="34" charset="0"/>
                <a:ea typeface="Calibri" pitchFamily="34" charset="-122"/>
                <a:cs typeface="Calibri" pitchFamily="34" charset="-120"/>
              </a:rPr>
              <a:t>Mismo mapa, mismo camino óptimo: A* expande menos de la mitad de nodos</a:t>
            </a:r>
            <a:endParaRPr lang="en-US" sz="1050" dirty="0"/>
          </a:p>
        </p:txBody>
      </p:sp>
      <p:pic>
        <p:nvPicPr>
          <p:cNvPr id="6" name="Image 1" descr="/home/claude/work/curso_82514/media/gifs/b7_rrt.gif">    </p:cNvPr>
          <p:cNvPicPr>
            <a:picLocks noChangeAspect="1"/>
          </p:cNvPicPr>
          <p:nvPr/>
        </p:nvPicPr>
        <p:blipFill>
          <a:blip r:embed="rId2"/>
          <a:stretch>
            <a:fillRect/>
          </a:stretch>
        </p:blipFill>
        <p:spPr>
          <a:xfrm>
            <a:off x="7452360" y="1631224"/>
            <a:ext cx="4069080" cy="3778431"/>
          </a:xfrm>
          <a:prstGeom prst="rect">
            <a:avLst/>
          </a:prstGeom>
        </p:spPr>
      </p:pic>
      <p:sp>
        <p:nvSpPr>
          <p:cNvPr id="7" name="Text 3"/>
          <p:cNvSpPr/>
          <p:nvPr/>
        </p:nvSpPr>
        <p:spPr>
          <a:xfrm>
            <a:off x="7452360" y="5446232"/>
            <a:ext cx="4069080" cy="292608"/>
          </a:xfrm>
          <a:prstGeom prst="rect">
            <a:avLst/>
          </a:prstGeom>
          <a:noFill/>
          <a:ln/>
        </p:spPr>
        <p:txBody>
          <a:bodyPr wrap="square" lIns="0" tIns="0" rIns="0" bIns="0" rtlCol="0" anchor="ctr"/>
          <a:lstStyle/>
          <a:p>
            <a:pPr algn="ctr" indent="0" marL="0">
              <a:buNone/>
            </a:pPr>
            <a:r>
              <a:rPr lang="en-US" sz="1050" dirty="0">
                <a:solidFill>
                  <a:srgbClr val="595959"/>
                </a:solidFill>
                <a:latin typeface="Calibri" pitchFamily="34" charset="0"/>
                <a:ea typeface="Calibri" pitchFamily="34" charset="-122"/>
                <a:cs typeface="Calibri" pitchFamily="34" charset="-120"/>
              </a:rPr>
              <a:t>RRT: las muestras tiran del árbol (cuaderno S35)</a:t>
            </a:r>
            <a:endParaRPr lang="en-US" sz="1050" dirty="0"/>
          </a:p>
        </p:txBody>
      </p:sp>
      <p:sp>
        <p:nvSpPr>
          <p:cNvPr id="8" name="Text 4"/>
          <p:cNvSpPr/>
          <p:nvPr/>
        </p:nvSpPr>
        <p:spPr>
          <a:xfrm>
            <a:off x="640080" y="6446520"/>
            <a:ext cx="10972800" cy="274320"/>
          </a:xfrm>
          <a:prstGeom prst="rect">
            <a:avLst/>
          </a:prstGeom>
          <a:noFill/>
          <a:ln/>
        </p:spPr>
        <p:txBody>
          <a:bodyPr wrap="square" lIns="0" tIns="0" rIns="0" bIns="0" rtlCol="0" anchor="ctr"/>
          <a:lstStyle/>
          <a:p>
            <a:pPr indent="0" marL="0">
              <a:buNone/>
            </a:pPr>
            <a:r>
              <a:rPr lang="en-US" sz="1000" dirty="0">
                <a:solidFill>
                  <a:srgbClr val="595959"/>
                </a:solidFill>
                <a:latin typeface="Calibri" pitchFamily="34" charset="0"/>
                <a:ea typeface="Calibri" pitchFamily="34" charset="-122"/>
                <a:cs typeface="Calibri" pitchFamily="34" charset="-120"/>
              </a:rPr>
              <a:t>Figura y animación propias del curso (cuaderno S35)</a:t>
            </a:r>
            <a:endParaRPr lang="en-US" sz="1000" dirty="0"/>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47472"/>
            <a:ext cx="10881360" cy="274320"/>
          </a:xfrm>
          <a:prstGeom prst="rect">
            <a:avLst/>
          </a:prstGeom>
          <a:noFill/>
          <a:ln/>
        </p:spPr>
        <p:txBody>
          <a:bodyPr wrap="square" lIns="0" tIns="0" rIns="0" bIns="0" rtlCol="0" anchor="ctr"/>
          <a:lstStyle/>
          <a:p>
            <a:pPr indent="0" marL="0">
              <a:buNone/>
            </a:pPr>
            <a:r>
              <a:rPr lang="en-US" sz="1200" b="1" spc="200" kern="0" dirty="0">
                <a:solidFill>
                  <a:srgbClr val="1FA355"/>
                </a:solidFill>
                <a:latin typeface="Calibri" pitchFamily="34" charset="0"/>
                <a:ea typeface="Calibri" pitchFamily="34" charset="-122"/>
                <a:cs typeface="Calibri" pitchFamily="34" charset="-120"/>
              </a:rPr>
              <a:t>S35 · FORMULACIÓN</a:t>
            </a:r>
            <a:endParaRPr lang="en-US" sz="1200" dirty="0"/>
          </a:p>
        </p:txBody>
      </p:sp>
      <p:sp>
        <p:nvSpPr>
          <p:cNvPr id="3" name="Text 1"/>
          <p:cNvSpPr/>
          <p:nvPr/>
        </p:nvSpPr>
        <p:spPr>
          <a:xfrm>
            <a:off x="640080" y="566928"/>
            <a:ext cx="10881360" cy="685800"/>
          </a:xfrm>
          <a:prstGeom prst="rect">
            <a:avLst/>
          </a:prstGeom>
          <a:noFill/>
          <a:ln/>
        </p:spPr>
        <p:txBody>
          <a:bodyPr wrap="square" lIns="0" tIns="0" rIns="0" bIns="0" rtlCol="0" anchor="ctr"/>
          <a:lstStyle/>
          <a:p>
            <a:pPr indent="0" marL="0">
              <a:buNone/>
            </a:pPr>
            <a:r>
              <a:rPr lang="en-US" sz="3000" b="1" dirty="0">
                <a:solidFill>
                  <a:srgbClr val="1B2A80"/>
                </a:solidFill>
                <a:latin typeface="Calibri" pitchFamily="34" charset="0"/>
                <a:ea typeface="Calibri" pitchFamily="34" charset="-122"/>
                <a:cs typeface="Calibri" pitchFamily="34" charset="-120"/>
              </a:rPr>
              <a:t>Del mapa al espacio de configuraciones</a:t>
            </a:r>
            <a:endParaRPr lang="en-US" sz="3000" dirty="0"/>
          </a:p>
        </p:txBody>
      </p:sp>
      <p:sp>
        <p:nvSpPr>
          <p:cNvPr id="4" name="Text 2"/>
          <p:cNvSpPr/>
          <p:nvPr/>
        </p:nvSpPr>
        <p:spPr>
          <a:xfrm>
            <a:off x="640080" y="1463040"/>
            <a:ext cx="6400800" cy="4846320"/>
          </a:xfrm>
          <a:prstGeom prst="rect">
            <a:avLst/>
          </a:prstGeom>
          <a:noFill/>
          <a:ln/>
        </p:spPr>
        <p:txBody>
          <a:bodyPr wrap="square" lIns="0" tIns="0" rIns="0" bIns="0" rtlCol="0" anchor="t"/>
          <a:lstStyle/>
          <a:p>
            <a:pPr indent="0" marL="0">
              <a:spcAft>
                <a:spcPts val="400"/>
              </a:spcAft>
              <a:buNone/>
            </a:pPr>
            <a:r>
              <a:rPr lang="en-US" sz="1500" b="1" dirty="0">
                <a:solidFill>
                  <a:srgbClr val="1B2A80"/>
                </a:solidFill>
                <a:latin typeface="Calibri" pitchFamily="34" charset="0"/>
                <a:ea typeface="Calibri" pitchFamily="34" charset="-122"/>
                <a:cs typeface="Calibri" pitchFamily="34" charset="-120"/>
              </a:rPr>
              <a:t>Planificar no es dibujar una línea en el mapa</a:t>
            </a:r>
            <a:endParaRPr lang="en-US" sz="1500" dirty="0"/>
          </a:p>
          <a:p>
            <a:pPr marL="177800" indent="-177800">
              <a:spcAft>
                <a:spcPts val="800"/>
              </a:spcAft>
              <a:buSzPct val="100000"/>
              <a:buChar char="•"/>
            </a:pPr>
            <a:r>
              <a:rPr lang="en-US" sz="1400" dirty="0">
                <a:solidFill>
                  <a:srgbClr val="1A1A2E"/>
                </a:solidFill>
                <a:latin typeface="Calibri" pitchFamily="34" charset="0"/>
                <a:ea typeface="Calibri" pitchFamily="34" charset="-122"/>
                <a:cs typeface="Calibri" pitchFamily="34" charset="-120"/>
              </a:rPr>
              <a:t>El problema se plantea en el espacio de configuraciones: hallar un camino en C</a:t>
            </a:r>
            <a:pPr indent="0" marL="0">
              <a:spcAft>
                <a:spcPts val="800"/>
              </a:spcAft>
              <a:buNone/>
            </a:pPr>
            <a:r>
              <a:rPr lang="en-US" sz="1400" baseline="-40000" dirty="0">
                <a:solidFill>
                  <a:srgbClr val="1A1A2E"/>
                </a:solidFill>
                <a:latin typeface="Calibri" pitchFamily="34" charset="0"/>
                <a:ea typeface="Calibri" pitchFamily="34" charset="-122"/>
                <a:cs typeface="Calibri" pitchFamily="34" charset="-120"/>
              </a:rPr>
              <a:t>libre</a:t>
            </a:r>
            <a:pPr indent="0" marL="0">
              <a:spcAft>
                <a:spcPts val="800"/>
              </a:spcAft>
              <a:buNone/>
            </a:pPr>
            <a:r>
              <a:rPr lang="en-US" sz="1400" dirty="0">
                <a:solidFill>
                  <a:srgbClr val="1A1A2E"/>
                </a:solidFill>
                <a:latin typeface="Calibri" pitchFamily="34" charset="0"/>
                <a:ea typeface="Calibri" pitchFamily="34" charset="-122"/>
                <a:cs typeface="Calibri" pitchFamily="34" charset="-120"/>
              </a:rPr>
              <a:t> desde la configuración inicial a la meta (Lynch y Park, 2017, p. 353).</a:t>
            </a:r>
            <a:endParaRPr lang="en-US" sz="1500" dirty="0"/>
          </a:p>
          <a:p>
            <a:pPr marL="177800" indent="-177800">
              <a:spcAft>
                <a:spcPts val="800"/>
              </a:spcAft>
              <a:buSzPct val="100000"/>
              <a:buChar char="•"/>
            </a:pPr>
            <a:r>
              <a:rPr lang="en-US" sz="1400" dirty="0">
                <a:solidFill>
                  <a:srgbClr val="1A1A2E"/>
                </a:solidFill>
                <a:latin typeface="Calibri" pitchFamily="34" charset="0"/>
                <a:ea typeface="Calibri" pitchFamily="34" charset="-122"/>
                <a:cs typeface="Calibri" pitchFamily="34" charset="-120"/>
              </a:rPr>
              <a:t>Un robot circular en el plano se convierte en un punto si se inflan los obstáculos con su radio (Lynch y Park, 2017, p. 359).</a:t>
            </a:r>
            <a:endParaRPr lang="en-US" sz="1500" dirty="0"/>
          </a:p>
          <a:p>
            <a:pPr marL="177800" indent="-177800">
              <a:spcAft>
                <a:spcPts val="800"/>
              </a:spcAft>
              <a:buSzPct val="100000"/>
              <a:buChar char="•"/>
            </a:pPr>
            <a:r>
              <a:rPr lang="en-US" sz="1400" dirty="0">
                <a:solidFill>
                  <a:srgbClr val="1A1A2E"/>
                </a:solidFill>
                <a:latin typeface="Calibri" pitchFamily="34" charset="0"/>
                <a:ea typeface="Calibri" pitchFamily="34" charset="-122"/>
                <a:cs typeface="Calibri" pitchFamily="34" charset="-120"/>
              </a:rPr>
              <a:t>Inflar el obstáculo con el tamaño del robot es exactamente lo que hace la capa de inflado del costmap (Corke, 2023, p. 181).</a:t>
            </a:r>
            <a:endParaRPr lang="en-US" sz="1500" dirty="0"/>
          </a:p>
          <a:p>
            <a:pPr marL="177800" indent="-177800">
              <a:spcAft>
                <a:spcPts val="800"/>
              </a:spcAft>
              <a:buSzPct val="100000"/>
              <a:buChar char="•"/>
            </a:pPr>
            <a:r>
              <a:rPr lang="en-US" sz="1400" dirty="0">
                <a:solidFill>
                  <a:srgbClr val="1A1A2E"/>
                </a:solidFill>
                <a:latin typeface="Calibri" pitchFamily="34" charset="0"/>
                <a:ea typeface="Calibri" pitchFamily="34" charset="-122"/>
                <a:cs typeface="Calibri" pitchFamily="34" charset="-120"/>
              </a:rPr>
              <a:t>Completitud: un planificador puede ser completo, completo en resolución o completo probabilísticamente (Lynch y Park, 2017, p. 356).</a:t>
            </a:r>
            <a:endParaRPr lang="en-US" sz="1500" dirty="0"/>
          </a:p>
        </p:txBody>
      </p:sp>
      <p:sp>
        <p:nvSpPr>
          <p:cNvPr id="5" name="Shape 3"/>
          <p:cNvSpPr/>
          <p:nvPr/>
        </p:nvSpPr>
        <p:spPr>
          <a:xfrm>
            <a:off x="7315200" y="1554480"/>
            <a:ext cx="4206240" cy="4480560"/>
          </a:xfrm>
          <a:prstGeom prst="roundRect">
            <a:avLst>
              <a:gd name="adj" fmla="val 1739"/>
            </a:avLst>
          </a:prstGeom>
          <a:solidFill>
            <a:srgbClr val="F2F4FB"/>
          </a:solidFill>
          <a:ln/>
        </p:spPr>
        <p:txBody>
          <a:bodyPr/>
          <a:p/>
        </p:txBody>
      </p:sp>
      <p:sp>
        <p:nvSpPr>
          <p:cNvPr id="6" name="Text 4"/>
          <p:cNvSpPr/>
          <p:nvPr/>
        </p:nvSpPr>
        <p:spPr>
          <a:xfrm>
            <a:off x="7516368" y="1700784"/>
            <a:ext cx="3803904" cy="502920"/>
          </a:xfrm>
          <a:prstGeom prst="rect">
            <a:avLst/>
          </a:prstGeom>
          <a:noFill/>
          <a:ln/>
        </p:spPr>
        <p:txBody>
          <a:bodyPr wrap="square" lIns="0" tIns="0" rIns="0" bIns="0" rtlCol="0" anchor="ctr"/>
          <a:lstStyle/>
          <a:p>
            <a:pPr indent="0" marL="0">
              <a:buNone/>
            </a:pPr>
            <a:r>
              <a:rPr lang="en-US" sz="1500" b="1" dirty="0">
                <a:solidFill>
                  <a:srgbClr val="1B2A80"/>
                </a:solidFill>
                <a:latin typeface="Calibri" pitchFamily="34" charset="0"/>
                <a:ea typeface="Calibri" pitchFamily="34" charset="-122"/>
                <a:cs typeface="Calibri" pitchFamily="34" charset="-120"/>
              </a:rPr>
              <a:t>Dos mapas, dos papeles</a:t>
            </a:r>
            <a:endParaRPr lang="en-US" sz="1500" dirty="0"/>
          </a:p>
        </p:txBody>
      </p:sp>
      <p:sp>
        <p:nvSpPr>
          <p:cNvPr id="7" name="Text 5"/>
          <p:cNvSpPr/>
          <p:nvPr/>
        </p:nvSpPr>
        <p:spPr>
          <a:xfrm>
            <a:off x="7516368" y="2194560"/>
            <a:ext cx="3803904" cy="3712464"/>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Mapa de ocupación: qué celdas están libres, ocupadas o desconocidas, evidencia acumulada (Thrun et al., 2005, pp. 284-286).</a:t>
            </a:r>
            <a:endParaRPr lang="en-US" sz="1200" dirty="0"/>
          </a:p>
          <a:p>
            <a:pPr indent="0" marL="0">
              <a:buNone/>
            </a:pP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Mapa de coste: cuánto cuesta pasar por cada celda, con obstáculos inflados y gradiente de proximidad (Corke, 2023, p. 182).</a:t>
            </a:r>
            <a:endParaRPr lang="en-US" sz="1200" dirty="0"/>
          </a:p>
          <a:p>
            <a:pPr indent="0" marL="0">
              <a:buNone/>
            </a:pPr>
            <a:endParaRPr lang="en-US" sz="1200" dirty="0"/>
          </a:p>
          <a:p>
            <a:pPr indent="0" marL="0">
              <a:buNone/>
            </a:pPr>
            <a:r>
              <a:rPr lang="en-US" sz="1200" dirty="0">
                <a:solidFill>
                  <a:srgbClr val="1A1A2E"/>
                </a:solidFill>
                <a:latin typeface="Calibri" pitchFamily="34" charset="0"/>
                <a:ea typeface="Calibri" pitchFamily="34" charset="-122"/>
                <a:cs typeface="Calibri" pitchFamily="34" charset="-120"/>
              </a:rPr>
              <a:t>El primero describe el mundo; el segundo codifica la política de conducción.</a:t>
            </a:r>
            <a:endParaRPr lang="en-US" sz="1200" dirty="0"/>
          </a:p>
        </p:txBody>
      </p:sp>
      <p:sp>
        <p:nvSpPr>
          <p:cNvPr id="9" name="Text 6"/>
          <p:cNvSpPr/>
          <p:nvPr/>
        </p:nvSpPr>
        <p:spPr>
          <a:xfrm>
            <a:off x="640080" y="6446520"/>
            <a:ext cx="10972800" cy="274320"/>
          </a:xfrm>
          <a:prstGeom prst="rect">
            <a:avLst/>
          </a:prstGeom>
          <a:noFill/>
          <a:ln/>
        </p:spPr>
        <p:txBody>
          <a:bodyPr wrap="square" lIns="0" tIns="0" rIns="0" bIns="0" rtlCol="0" anchor="ctr"/>
          <a:lstStyle/>
          <a:p>
            <a:pPr indent="0" marL="0">
              <a:buNone/>
            </a:pPr>
            <a:r>
              <a:rPr lang="en-US" sz="1000" dirty="0">
                <a:solidFill>
                  <a:srgbClr val="595959"/>
                </a:solidFill>
                <a:latin typeface="Calibri" pitchFamily="34" charset="0"/>
                <a:ea typeface="Calibri" pitchFamily="34" charset="-122"/>
                <a:cs typeface="Calibri" pitchFamily="34" charset="-120"/>
              </a:rPr>
              <a:t>Lynch y Park, 2017, pp. 353-359 · Corke, 2023, pp. 177-182</a:t>
            </a:r>
            <a:endParaRPr lang="en-US" sz="1000" dirty="0"/>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47472"/>
            <a:ext cx="10881360" cy="274320"/>
          </a:xfrm>
          <a:prstGeom prst="rect">
            <a:avLst/>
          </a:prstGeom>
          <a:noFill/>
          <a:ln/>
        </p:spPr>
        <p:txBody>
          <a:bodyPr wrap="square" lIns="0" tIns="0" rIns="0" bIns="0" rtlCol="0" anchor="ctr"/>
          <a:lstStyle/>
          <a:p>
            <a:pPr indent="0" marL="0">
              <a:buNone/>
            </a:pPr>
            <a:r>
              <a:rPr lang="en-US" sz="1200" b="1" spc="200" kern="0" dirty="0">
                <a:solidFill>
                  <a:srgbClr val="1FA355"/>
                </a:solidFill>
                <a:latin typeface="Calibri" pitchFamily="34" charset="0"/>
                <a:ea typeface="Calibri" pitchFamily="34" charset="-122"/>
                <a:cs typeface="Calibri" pitchFamily="34" charset="-120"/>
              </a:rPr>
              <a:t>S35 · ALGORITMOS</a:t>
            </a:r>
            <a:endParaRPr lang="en-US" sz="1200" dirty="0"/>
          </a:p>
        </p:txBody>
      </p:sp>
      <p:sp>
        <p:nvSpPr>
          <p:cNvPr id="3" name="Text 1"/>
          <p:cNvSpPr/>
          <p:nvPr/>
        </p:nvSpPr>
        <p:spPr>
          <a:xfrm>
            <a:off x="640080" y="566928"/>
            <a:ext cx="10881360" cy="685800"/>
          </a:xfrm>
          <a:prstGeom prst="rect">
            <a:avLst/>
          </a:prstGeom>
          <a:noFill/>
          <a:ln/>
        </p:spPr>
        <p:txBody>
          <a:bodyPr wrap="square" lIns="0" tIns="0" rIns="0" bIns="0" rtlCol="0" anchor="ctr"/>
          <a:lstStyle/>
          <a:p>
            <a:pPr indent="0" marL="0">
              <a:buNone/>
            </a:pPr>
            <a:r>
              <a:rPr lang="en-US" sz="3000" b="1" dirty="0">
                <a:solidFill>
                  <a:srgbClr val="1B2A80"/>
                </a:solidFill>
                <a:latin typeface="Calibri" pitchFamily="34" charset="0"/>
                <a:ea typeface="Calibri" pitchFamily="34" charset="-122"/>
                <a:cs typeface="Calibri" pitchFamily="34" charset="-120"/>
              </a:rPr>
              <a:t>Buscar y muestrear</a:t>
            </a:r>
            <a:endParaRPr lang="en-US" sz="3000" dirty="0"/>
          </a:p>
        </p:txBody>
      </p:sp>
      <p:sp>
        <p:nvSpPr>
          <p:cNvPr id="4" name="Shape 2"/>
          <p:cNvSpPr/>
          <p:nvPr/>
        </p:nvSpPr>
        <p:spPr>
          <a:xfrm>
            <a:off x="640080" y="1572768"/>
            <a:ext cx="5349240" cy="2057400"/>
          </a:xfrm>
          <a:prstGeom prst="roundRect">
            <a:avLst>
              <a:gd name="adj" fmla="val 3556"/>
            </a:avLst>
          </a:prstGeom>
          <a:solidFill>
            <a:srgbClr val="F2F4FB"/>
          </a:solidFill>
          <a:ln/>
        </p:spPr>
        <p:txBody>
          <a:bodyPr/>
          <a:p/>
        </p:txBody>
      </p:sp>
      <p:sp>
        <p:nvSpPr>
          <p:cNvPr id="5" name="Shape 3"/>
          <p:cNvSpPr/>
          <p:nvPr/>
        </p:nvSpPr>
        <p:spPr>
          <a:xfrm>
            <a:off x="822960" y="1755648"/>
            <a:ext cx="457200" cy="457200"/>
          </a:xfrm>
          <a:prstGeom prst="ellipse">
            <a:avLst/>
          </a:prstGeom>
          <a:solidFill>
            <a:srgbClr val="2FD26E"/>
          </a:solidFill>
          <a:ln/>
        </p:spPr>
        <p:txBody>
          <a:bodyPr/>
          <a:p/>
        </p:txBody>
      </p:sp>
      <p:sp>
        <p:nvSpPr>
          <p:cNvPr id="6" name="Text 4"/>
          <p:cNvSpPr/>
          <p:nvPr/>
        </p:nvSpPr>
        <p:spPr>
          <a:xfrm>
            <a:off x="822960" y="1755648"/>
            <a:ext cx="457200" cy="457200"/>
          </a:xfrm>
          <a:prstGeom prst="rect">
            <a:avLst/>
          </a:prstGeom>
          <a:noFill/>
          <a:ln/>
        </p:spPr>
        <p:txBody>
          <a:bodyPr wrap="square" lIns="0" tIns="0" rIns="0" bIns="0" rtlCol="0" anchor="ctr"/>
          <a:lstStyle/>
          <a:p>
            <a:pPr algn="ctr" indent="0" marL="0">
              <a:buNone/>
            </a:pPr>
            <a:r>
              <a:rPr lang="en-US" sz="1600" b="1" dirty="0">
                <a:solidFill>
                  <a:srgbClr val="1B2A80"/>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1417320" y="1719072"/>
            <a:ext cx="4389120" cy="502920"/>
          </a:xfrm>
          <a:prstGeom prst="rect">
            <a:avLst/>
          </a:prstGeom>
          <a:noFill/>
          <a:ln/>
        </p:spPr>
        <p:txBody>
          <a:bodyPr wrap="square" lIns="0" tIns="0" rIns="0" bIns="0" rtlCol="0" anchor="ctr"/>
          <a:lstStyle/>
          <a:p>
            <a:pPr indent="0" marL="0">
              <a:buNone/>
            </a:pPr>
            <a:r>
              <a:rPr lang="en-US" sz="1400" b="1" dirty="0">
                <a:solidFill>
                  <a:srgbClr val="1B2A80"/>
                </a:solidFill>
                <a:latin typeface="Calibri" pitchFamily="34" charset="0"/>
                <a:ea typeface="Calibri" pitchFamily="34" charset="-122"/>
                <a:cs typeface="Calibri" pitchFamily="34" charset="-120"/>
              </a:rPr>
              <a:t>Transformada de distancia</a:t>
            </a:r>
            <a:endParaRPr lang="en-US" sz="1400" dirty="0"/>
          </a:p>
        </p:txBody>
      </p:sp>
      <p:sp>
        <p:nvSpPr>
          <p:cNvPr id="8" name="Text 6"/>
          <p:cNvSpPr/>
          <p:nvPr/>
        </p:nvSpPr>
        <p:spPr>
          <a:xfrm>
            <a:off x="841248" y="2350008"/>
            <a:ext cx="4946904" cy="1152144"/>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Propaga la distancia a la meta por todo el mapa; después basta descender el gradiente. Cara, pero da el camino óptimo desde cualquier punto (Corke, 2023, pp. 177-181).</a:t>
            </a:r>
            <a:endParaRPr lang="en-US" sz="1150" dirty="0"/>
          </a:p>
        </p:txBody>
      </p:sp>
      <p:sp>
        <p:nvSpPr>
          <p:cNvPr id="9" name="Shape 7"/>
          <p:cNvSpPr/>
          <p:nvPr/>
        </p:nvSpPr>
        <p:spPr>
          <a:xfrm>
            <a:off x="6217920" y="1572768"/>
            <a:ext cx="5349240" cy="2057400"/>
          </a:xfrm>
          <a:prstGeom prst="roundRect">
            <a:avLst>
              <a:gd name="adj" fmla="val 3556"/>
            </a:avLst>
          </a:prstGeom>
          <a:solidFill>
            <a:srgbClr val="F2F4FB"/>
          </a:solidFill>
          <a:ln/>
        </p:spPr>
        <p:txBody>
          <a:bodyPr/>
          <a:p/>
        </p:txBody>
      </p:sp>
      <p:sp>
        <p:nvSpPr>
          <p:cNvPr id="10" name="Shape 8"/>
          <p:cNvSpPr/>
          <p:nvPr/>
        </p:nvSpPr>
        <p:spPr>
          <a:xfrm>
            <a:off x="6400800" y="1755648"/>
            <a:ext cx="457200" cy="457200"/>
          </a:xfrm>
          <a:prstGeom prst="ellipse">
            <a:avLst/>
          </a:prstGeom>
          <a:solidFill>
            <a:srgbClr val="2FD26E"/>
          </a:solidFill>
          <a:ln/>
        </p:spPr>
        <p:txBody>
          <a:bodyPr/>
          <a:p/>
        </p:txBody>
      </p:sp>
      <p:sp>
        <p:nvSpPr>
          <p:cNvPr id="11" name="Text 9"/>
          <p:cNvSpPr/>
          <p:nvPr/>
        </p:nvSpPr>
        <p:spPr>
          <a:xfrm>
            <a:off x="6400800" y="1755648"/>
            <a:ext cx="457200" cy="457200"/>
          </a:xfrm>
          <a:prstGeom prst="rect">
            <a:avLst/>
          </a:prstGeom>
          <a:noFill/>
          <a:ln/>
        </p:spPr>
        <p:txBody>
          <a:bodyPr wrap="square" lIns="0" tIns="0" rIns="0" bIns="0" rtlCol="0" anchor="ctr"/>
          <a:lstStyle/>
          <a:p>
            <a:pPr algn="ctr" indent="0" marL="0">
              <a:buNone/>
            </a:pPr>
            <a:r>
              <a:rPr lang="en-US" sz="1600" b="1" dirty="0">
                <a:solidFill>
                  <a:srgbClr val="1B2A80"/>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6995160" y="1719072"/>
            <a:ext cx="4389120" cy="502920"/>
          </a:xfrm>
          <a:prstGeom prst="rect">
            <a:avLst/>
          </a:prstGeom>
          <a:noFill/>
          <a:ln/>
        </p:spPr>
        <p:txBody>
          <a:bodyPr wrap="square" lIns="0" tIns="0" rIns="0" bIns="0" rtlCol="0" anchor="ctr"/>
          <a:lstStyle/>
          <a:p>
            <a:pPr indent="0" marL="0">
              <a:buNone/>
            </a:pPr>
            <a:r>
              <a:rPr lang="en-US" sz="1400" b="1" dirty="0">
                <a:solidFill>
                  <a:srgbClr val="1B2A80"/>
                </a:solidFill>
                <a:latin typeface="Calibri" pitchFamily="34" charset="0"/>
                <a:ea typeface="Calibri" pitchFamily="34" charset="-122"/>
                <a:cs typeface="Calibri" pitchFamily="34" charset="-120"/>
              </a:rPr>
              <a:t>A*</a:t>
            </a:r>
            <a:endParaRPr lang="en-US" sz="1400" dirty="0"/>
          </a:p>
        </p:txBody>
      </p:sp>
      <p:sp>
        <p:nvSpPr>
          <p:cNvPr id="13" name="Text 11"/>
          <p:cNvSpPr/>
          <p:nvPr/>
        </p:nvSpPr>
        <p:spPr>
          <a:xfrm>
            <a:off x="6419088" y="2350008"/>
            <a:ext cx="4946904" cy="1152144"/>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Búsqueda informada: coste acumulado más heurística de coste restante. Garantiza optimalidad solo si la heurística es admisible, es decir, nunca sobreestima (Corke, 2023, p. 175).</a:t>
            </a:r>
            <a:endParaRPr lang="en-US" sz="1150" dirty="0"/>
          </a:p>
        </p:txBody>
      </p:sp>
      <p:sp>
        <p:nvSpPr>
          <p:cNvPr id="14" name="Shape 12"/>
          <p:cNvSpPr/>
          <p:nvPr/>
        </p:nvSpPr>
        <p:spPr>
          <a:xfrm>
            <a:off x="640080" y="3858768"/>
            <a:ext cx="5349240" cy="2057400"/>
          </a:xfrm>
          <a:prstGeom prst="roundRect">
            <a:avLst>
              <a:gd name="adj" fmla="val 3556"/>
            </a:avLst>
          </a:prstGeom>
          <a:solidFill>
            <a:srgbClr val="F2F4FB"/>
          </a:solidFill>
          <a:ln/>
        </p:spPr>
        <p:txBody>
          <a:bodyPr/>
          <a:p/>
        </p:txBody>
      </p:sp>
      <p:sp>
        <p:nvSpPr>
          <p:cNvPr id="15" name="Shape 13"/>
          <p:cNvSpPr/>
          <p:nvPr/>
        </p:nvSpPr>
        <p:spPr>
          <a:xfrm>
            <a:off x="822960" y="4041648"/>
            <a:ext cx="457200" cy="457200"/>
          </a:xfrm>
          <a:prstGeom prst="ellipse">
            <a:avLst/>
          </a:prstGeom>
          <a:solidFill>
            <a:srgbClr val="2FD26E"/>
          </a:solidFill>
          <a:ln/>
        </p:spPr>
        <p:txBody>
          <a:bodyPr/>
          <a:p/>
        </p:txBody>
      </p:sp>
      <p:sp>
        <p:nvSpPr>
          <p:cNvPr id="16" name="Text 14"/>
          <p:cNvSpPr/>
          <p:nvPr/>
        </p:nvSpPr>
        <p:spPr>
          <a:xfrm>
            <a:off x="822960" y="4041648"/>
            <a:ext cx="457200" cy="457200"/>
          </a:xfrm>
          <a:prstGeom prst="rect">
            <a:avLst/>
          </a:prstGeom>
          <a:noFill/>
          <a:ln/>
        </p:spPr>
        <p:txBody>
          <a:bodyPr wrap="square" lIns="0" tIns="0" rIns="0" bIns="0" rtlCol="0" anchor="ctr"/>
          <a:lstStyle/>
          <a:p>
            <a:pPr algn="ctr" indent="0" marL="0">
              <a:buNone/>
            </a:pPr>
            <a:r>
              <a:rPr lang="en-US" sz="1600" b="1" dirty="0">
                <a:solidFill>
                  <a:srgbClr val="1B2A80"/>
                </a:solidFill>
                <a:latin typeface="Calibri" pitchFamily="34" charset="0"/>
                <a:ea typeface="Calibri" pitchFamily="34" charset="-122"/>
                <a:cs typeface="Calibri" pitchFamily="34" charset="-120"/>
              </a:rPr>
              <a:t>3</a:t>
            </a:r>
            <a:endParaRPr lang="en-US" sz="1600" dirty="0"/>
          </a:p>
        </p:txBody>
      </p:sp>
      <p:sp>
        <p:nvSpPr>
          <p:cNvPr id="17" name="Text 15"/>
          <p:cNvSpPr/>
          <p:nvPr/>
        </p:nvSpPr>
        <p:spPr>
          <a:xfrm>
            <a:off x="1417320" y="4005072"/>
            <a:ext cx="4389120" cy="502920"/>
          </a:xfrm>
          <a:prstGeom prst="rect">
            <a:avLst/>
          </a:prstGeom>
          <a:noFill/>
          <a:ln/>
        </p:spPr>
        <p:txBody>
          <a:bodyPr wrap="square" lIns="0" tIns="0" rIns="0" bIns="0" rtlCol="0" anchor="ctr"/>
          <a:lstStyle/>
          <a:p>
            <a:pPr indent="0" marL="0">
              <a:buNone/>
            </a:pPr>
            <a:r>
              <a:rPr lang="en-US" sz="1400" b="1" dirty="0">
                <a:solidFill>
                  <a:srgbClr val="1B2A80"/>
                </a:solidFill>
                <a:latin typeface="Calibri" pitchFamily="34" charset="0"/>
                <a:ea typeface="Calibri" pitchFamily="34" charset="-122"/>
                <a:cs typeface="Calibri" pitchFamily="34" charset="-120"/>
              </a:rPr>
              <a:t>PRM</a:t>
            </a:r>
            <a:endParaRPr lang="en-US" sz="1400" dirty="0"/>
          </a:p>
        </p:txBody>
      </p:sp>
      <p:sp>
        <p:nvSpPr>
          <p:cNvPr id="18" name="Text 16"/>
          <p:cNvSpPr/>
          <p:nvPr/>
        </p:nvSpPr>
        <p:spPr>
          <a:xfrm>
            <a:off x="841248" y="4636008"/>
            <a:ext cx="4946904" cy="1152144"/>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Muestrea configuraciones libres, las conecta en un grafo y luego consulta con A*. Compensa cuando hay muchas consultas sobre el mismo mapa (Lynch y Park, 2017, p. 384).</a:t>
            </a:r>
            <a:endParaRPr lang="en-US" sz="1150" dirty="0"/>
          </a:p>
        </p:txBody>
      </p:sp>
      <p:sp>
        <p:nvSpPr>
          <p:cNvPr id="19" name="Shape 17"/>
          <p:cNvSpPr/>
          <p:nvPr/>
        </p:nvSpPr>
        <p:spPr>
          <a:xfrm>
            <a:off x="6217920" y="3858768"/>
            <a:ext cx="5349240" cy="2057400"/>
          </a:xfrm>
          <a:prstGeom prst="roundRect">
            <a:avLst>
              <a:gd name="adj" fmla="val 3556"/>
            </a:avLst>
          </a:prstGeom>
          <a:solidFill>
            <a:srgbClr val="F2F4FB"/>
          </a:solidFill>
          <a:ln/>
        </p:spPr>
        <p:txBody>
          <a:bodyPr/>
          <a:p/>
        </p:txBody>
      </p:sp>
      <p:sp>
        <p:nvSpPr>
          <p:cNvPr id="20" name="Shape 18"/>
          <p:cNvSpPr/>
          <p:nvPr/>
        </p:nvSpPr>
        <p:spPr>
          <a:xfrm>
            <a:off x="6400800" y="4041648"/>
            <a:ext cx="457200" cy="457200"/>
          </a:xfrm>
          <a:prstGeom prst="ellipse">
            <a:avLst/>
          </a:prstGeom>
          <a:solidFill>
            <a:srgbClr val="2FD26E"/>
          </a:solidFill>
          <a:ln/>
        </p:spPr>
        <p:txBody>
          <a:bodyPr/>
          <a:p/>
        </p:txBody>
      </p:sp>
      <p:sp>
        <p:nvSpPr>
          <p:cNvPr id="21" name="Text 19"/>
          <p:cNvSpPr/>
          <p:nvPr/>
        </p:nvSpPr>
        <p:spPr>
          <a:xfrm>
            <a:off x="6400800" y="4041648"/>
            <a:ext cx="457200" cy="457200"/>
          </a:xfrm>
          <a:prstGeom prst="rect">
            <a:avLst/>
          </a:prstGeom>
          <a:noFill/>
          <a:ln/>
        </p:spPr>
        <p:txBody>
          <a:bodyPr wrap="square" lIns="0" tIns="0" rIns="0" bIns="0" rtlCol="0" anchor="ctr"/>
          <a:lstStyle/>
          <a:p>
            <a:pPr algn="ctr" indent="0" marL="0">
              <a:buNone/>
            </a:pPr>
            <a:r>
              <a:rPr lang="en-US" sz="1600" b="1" dirty="0">
                <a:solidFill>
                  <a:srgbClr val="1B2A80"/>
                </a:solidFill>
                <a:latin typeface="Calibri" pitchFamily="34" charset="0"/>
                <a:ea typeface="Calibri" pitchFamily="34" charset="-122"/>
                <a:cs typeface="Calibri" pitchFamily="34" charset="-120"/>
              </a:rPr>
              <a:t>4</a:t>
            </a:r>
            <a:endParaRPr lang="en-US" sz="1600" dirty="0"/>
          </a:p>
        </p:txBody>
      </p:sp>
      <p:sp>
        <p:nvSpPr>
          <p:cNvPr id="22" name="Text 20"/>
          <p:cNvSpPr/>
          <p:nvPr/>
        </p:nvSpPr>
        <p:spPr>
          <a:xfrm>
            <a:off x="6995160" y="4005072"/>
            <a:ext cx="4389120" cy="502920"/>
          </a:xfrm>
          <a:prstGeom prst="rect">
            <a:avLst/>
          </a:prstGeom>
          <a:noFill/>
          <a:ln/>
        </p:spPr>
        <p:txBody>
          <a:bodyPr wrap="square" lIns="0" tIns="0" rIns="0" bIns="0" rtlCol="0" anchor="ctr"/>
          <a:lstStyle/>
          <a:p>
            <a:pPr indent="0" marL="0">
              <a:buNone/>
            </a:pPr>
            <a:r>
              <a:rPr lang="en-US" sz="1400" b="1" dirty="0">
                <a:solidFill>
                  <a:srgbClr val="1B2A80"/>
                </a:solidFill>
                <a:latin typeface="Calibri" pitchFamily="34" charset="0"/>
                <a:ea typeface="Calibri" pitchFamily="34" charset="-122"/>
                <a:cs typeface="Calibri" pitchFamily="34" charset="-120"/>
              </a:rPr>
              <a:t>RRT</a:t>
            </a:r>
            <a:endParaRPr lang="en-US" sz="1400" dirty="0"/>
          </a:p>
        </p:txBody>
      </p:sp>
      <p:sp>
        <p:nvSpPr>
          <p:cNvPr id="23" name="Text 21"/>
          <p:cNvSpPr/>
          <p:nvPr/>
        </p:nvSpPr>
        <p:spPr>
          <a:xfrm>
            <a:off x="6419088" y="4636008"/>
            <a:ext cx="4946904" cy="1152144"/>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Crece un árbol hacia muestras aleatorias: «las muestras tiran del árbol» (Lynch y Park, 2017, p. 379). Domina en alta dimensión y admite restricciones no holonómicas (Corke, 2023, pp. 196-199).</a:t>
            </a:r>
            <a:endParaRPr lang="en-US" sz="1150" dirty="0"/>
          </a:p>
        </p:txBody>
      </p:sp>
      <p:sp>
        <p:nvSpPr>
          <p:cNvPr id="25" name="Text 22"/>
          <p:cNvSpPr/>
          <p:nvPr/>
        </p:nvSpPr>
        <p:spPr>
          <a:xfrm>
            <a:off x="640080" y="6446520"/>
            <a:ext cx="10972800" cy="274320"/>
          </a:xfrm>
          <a:prstGeom prst="rect">
            <a:avLst/>
          </a:prstGeom>
          <a:noFill/>
          <a:ln/>
        </p:spPr>
        <p:txBody>
          <a:bodyPr wrap="square" lIns="0" tIns="0" rIns="0" bIns="0" rtlCol="0" anchor="ctr"/>
          <a:lstStyle/>
          <a:p>
            <a:pPr indent="0" marL="0">
              <a:buNone/>
            </a:pPr>
            <a:r>
              <a:rPr lang="en-US" sz="1000" dirty="0">
                <a:solidFill>
                  <a:srgbClr val="595959"/>
                </a:solidFill>
                <a:latin typeface="Calibri" pitchFamily="34" charset="0"/>
                <a:ea typeface="Calibri" pitchFamily="34" charset="-122"/>
                <a:cs typeface="Calibri" pitchFamily="34" charset="-120"/>
              </a:rPr>
              <a:t>Corke, 2023, pp. 174-199 · Lynch y Park, 2017, pp. 378-386</a:t>
            </a:r>
            <a:endParaRPr lang="en-US" sz="1000" dirty="0"/>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B2A80"/>
        </a:solidFill>
      </p:bgPr>
    </p:bg>
    <p:spTree>
      <p:nvGrpSpPr>
        <p:cNvPr id="1" name=""/>
        <p:cNvGrpSpPr/>
        <p:nvPr/>
      </p:nvGrpSpPr>
      <p:grpSpPr>
        <a:xfrm>
          <a:off x="0" y="0"/>
          <a:ext cx="0" cy="0"/>
          <a:chOff x="0" y="0"/>
          <a:chExt cx="0" cy="0"/>
        </a:xfrm>
      </p:grpSpPr>
      <p:sp>
        <p:nvSpPr>
          <p:cNvPr id="2" name="Shape 0"/>
          <p:cNvSpPr/>
          <p:nvPr/>
        </p:nvSpPr>
        <p:spPr>
          <a:xfrm>
            <a:off x="-18288" y="2834640"/>
            <a:ext cx="5852160" cy="4041648"/>
          </a:xfrm>
          <a:prstGeom prst="rtTriangle">
            <a:avLst/>
          </a:prstGeom>
          <a:solidFill>
            <a:srgbClr val="2E3FA3"/>
          </a:solidFill>
          <a:ln/>
        </p:spPr>
        <p:txBody>
          <a:bodyPr/>
          <a:p/>
        </p:txBody>
      </p:sp>
      <p:sp>
        <p:nvSpPr>
          <p:cNvPr id="3" name="Shape 1"/>
          <p:cNvSpPr/>
          <p:nvPr/>
        </p:nvSpPr>
        <p:spPr>
          <a:xfrm>
            <a:off x="-18288" y="4846320"/>
            <a:ext cx="2926080" cy="2029968"/>
          </a:xfrm>
          <a:prstGeom prst="rtTriangle">
            <a:avLst/>
          </a:prstGeom>
          <a:solidFill>
            <a:srgbClr val="2FD26E"/>
          </a:solidFill>
          <a:ln/>
        </p:spPr>
        <p:txBody>
          <a:bodyPr/>
          <a:p/>
        </p:txBody>
      </p:sp>
      <p:sp>
        <p:nvSpPr>
          <p:cNvPr id="4" name="Shape 2"/>
          <p:cNvSpPr/>
          <p:nvPr/>
        </p:nvSpPr>
        <p:spPr>
          <a:xfrm>
            <a:off x="685800" y="1051560"/>
            <a:ext cx="1051560" cy="1051560"/>
          </a:xfrm>
          <a:prstGeom prst="ellipse">
            <a:avLst/>
          </a:prstGeom>
          <a:solidFill>
            <a:srgbClr val="2FD26E"/>
          </a:solidFill>
          <a:ln/>
        </p:spPr>
        <p:txBody>
          <a:bodyPr/>
          <a:p/>
        </p:txBody>
      </p:sp>
      <p:sp>
        <p:nvSpPr>
          <p:cNvPr id="5" name="Text 3"/>
          <p:cNvSpPr/>
          <p:nvPr/>
        </p:nvSpPr>
        <p:spPr>
          <a:xfrm>
            <a:off x="685800" y="1051560"/>
            <a:ext cx="1051560" cy="1051560"/>
          </a:xfrm>
          <a:prstGeom prst="rect">
            <a:avLst/>
          </a:prstGeom>
          <a:noFill/>
          <a:ln/>
        </p:spPr>
        <p:txBody>
          <a:bodyPr wrap="square" lIns="0" tIns="0" rIns="0" bIns="0" rtlCol="0" anchor="ctr"/>
          <a:lstStyle/>
          <a:p>
            <a:pPr algn="ctr" indent="0" marL="0">
              <a:buNone/>
            </a:pPr>
            <a:r>
              <a:rPr lang="en-US" sz="3000" b="1" dirty="0">
                <a:solidFill>
                  <a:srgbClr val="1B2A80"/>
                </a:solidFill>
                <a:latin typeface="Calibri" pitchFamily="34" charset="0"/>
                <a:ea typeface="Calibri" pitchFamily="34" charset="-122"/>
                <a:cs typeface="Calibri" pitchFamily="34" charset="-120"/>
              </a:rPr>
              <a:t>S36</a:t>
            </a:r>
            <a:endParaRPr lang="en-US" sz="3000" dirty="0"/>
          </a:p>
        </p:txBody>
      </p:sp>
      <p:sp>
        <p:nvSpPr>
          <p:cNvPr id="6" name="Text 4"/>
          <p:cNvSpPr/>
          <p:nvPr/>
        </p:nvSpPr>
        <p:spPr>
          <a:xfrm>
            <a:off x="2011680" y="914400"/>
            <a:ext cx="9418320" cy="137160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Navegación autónoma con Nav2</a:t>
            </a:r>
            <a:endParaRPr lang="en-US" sz="3400" dirty="0"/>
          </a:p>
        </p:txBody>
      </p:sp>
      <p:sp>
        <p:nvSpPr>
          <p:cNvPr id="7" name="Text 5"/>
          <p:cNvSpPr/>
          <p:nvPr/>
        </p:nvSpPr>
        <p:spPr>
          <a:xfrm>
            <a:off x="2057400" y="2286000"/>
            <a:ext cx="8961120" cy="822960"/>
          </a:xfrm>
          <a:prstGeom prst="rect">
            <a:avLst/>
          </a:prstGeom>
          <a:noFill/>
          <a:ln/>
        </p:spPr>
        <p:txBody>
          <a:bodyPr wrap="square" lIns="0" tIns="0" rIns="0" bIns="0" rtlCol="0" anchor="ctr"/>
          <a:lstStyle/>
          <a:p>
            <a:pPr indent="0" marL="0">
              <a:buNone/>
            </a:pPr>
            <a:r>
              <a:rPr lang="en-US" sz="1600" dirty="0">
                <a:solidFill>
                  <a:srgbClr val="C9D2F5"/>
                </a:solidFill>
                <a:latin typeface="Calibri" pitchFamily="34" charset="0"/>
                <a:ea typeface="Calibri" pitchFamily="34" charset="-122"/>
                <a:cs typeface="Calibri" pitchFamily="34" charset="-120"/>
              </a:rPr>
              <a:t>Servidores · costmaps por capas · behavior trees · AMCL</a:t>
            </a:r>
            <a:endParaRPr lang="en-US" sz="1600" dirty="0"/>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47472"/>
            <a:ext cx="10881360" cy="274320"/>
          </a:xfrm>
          <a:prstGeom prst="rect">
            <a:avLst/>
          </a:prstGeom>
          <a:noFill/>
          <a:ln/>
        </p:spPr>
        <p:txBody>
          <a:bodyPr wrap="square" lIns="0" tIns="0" rIns="0" bIns="0" rtlCol="0" anchor="ctr"/>
          <a:lstStyle/>
          <a:p>
            <a:pPr indent="0" marL="0">
              <a:buNone/>
            </a:pPr>
            <a:r>
              <a:rPr lang="en-US" sz="1200" b="1" spc="200" kern="0" dirty="0">
                <a:solidFill>
                  <a:srgbClr val="1FA355"/>
                </a:solidFill>
                <a:latin typeface="Calibri" pitchFamily="34" charset="0"/>
                <a:ea typeface="Calibri" pitchFamily="34" charset="-122"/>
                <a:cs typeface="Calibri" pitchFamily="34" charset="-120"/>
              </a:rPr>
              <a:t>S36 · ARQUITECTURA</a:t>
            </a:r>
            <a:endParaRPr lang="en-US" sz="1200" dirty="0"/>
          </a:p>
        </p:txBody>
      </p:sp>
      <p:sp>
        <p:nvSpPr>
          <p:cNvPr id="3" name="Text 1"/>
          <p:cNvSpPr/>
          <p:nvPr/>
        </p:nvSpPr>
        <p:spPr>
          <a:xfrm>
            <a:off x="640080" y="566928"/>
            <a:ext cx="10881360" cy="685800"/>
          </a:xfrm>
          <a:prstGeom prst="rect">
            <a:avLst/>
          </a:prstGeom>
          <a:noFill/>
          <a:ln/>
        </p:spPr>
        <p:txBody>
          <a:bodyPr wrap="square" lIns="0" tIns="0" rIns="0" bIns="0" rtlCol="0" anchor="ctr"/>
          <a:lstStyle/>
          <a:p>
            <a:pPr indent="0" marL="0">
              <a:buNone/>
            </a:pPr>
            <a:r>
              <a:rPr lang="en-US" sz="3000" b="1" dirty="0">
                <a:solidFill>
                  <a:srgbClr val="1B2A80"/>
                </a:solidFill>
                <a:latin typeface="Calibri" pitchFamily="34" charset="0"/>
                <a:ea typeface="Calibri" pitchFamily="34" charset="-122"/>
                <a:cs typeface="Calibri" pitchFamily="34" charset="-120"/>
              </a:rPr>
              <a:t>Nav2: cómo se organiza un stack real</a:t>
            </a:r>
            <a:endParaRPr lang="en-US" sz="3000" dirty="0"/>
          </a:p>
        </p:txBody>
      </p:sp>
      <p:sp>
        <p:nvSpPr>
          <p:cNvPr id="4" name="Shape 2"/>
          <p:cNvSpPr/>
          <p:nvPr/>
        </p:nvSpPr>
        <p:spPr>
          <a:xfrm>
            <a:off x="640080" y="1572768"/>
            <a:ext cx="5349240" cy="2057400"/>
          </a:xfrm>
          <a:prstGeom prst="roundRect">
            <a:avLst>
              <a:gd name="adj" fmla="val 3556"/>
            </a:avLst>
          </a:prstGeom>
          <a:solidFill>
            <a:srgbClr val="F2F4FB"/>
          </a:solidFill>
          <a:ln/>
        </p:spPr>
        <p:txBody>
          <a:bodyPr/>
          <a:p/>
        </p:txBody>
      </p:sp>
      <p:sp>
        <p:nvSpPr>
          <p:cNvPr id="5" name="Shape 3"/>
          <p:cNvSpPr/>
          <p:nvPr/>
        </p:nvSpPr>
        <p:spPr>
          <a:xfrm>
            <a:off x="822960" y="1755648"/>
            <a:ext cx="457200" cy="457200"/>
          </a:xfrm>
          <a:prstGeom prst="ellipse">
            <a:avLst/>
          </a:prstGeom>
          <a:solidFill>
            <a:srgbClr val="2FD26E"/>
          </a:solidFill>
          <a:ln/>
        </p:spPr>
        <p:txBody>
          <a:bodyPr/>
          <a:p/>
        </p:txBody>
      </p:sp>
      <p:sp>
        <p:nvSpPr>
          <p:cNvPr id="6" name="Text 4"/>
          <p:cNvSpPr/>
          <p:nvPr/>
        </p:nvSpPr>
        <p:spPr>
          <a:xfrm>
            <a:off x="822960" y="1755648"/>
            <a:ext cx="457200" cy="457200"/>
          </a:xfrm>
          <a:prstGeom prst="rect">
            <a:avLst/>
          </a:prstGeom>
          <a:noFill/>
          <a:ln/>
        </p:spPr>
        <p:txBody>
          <a:bodyPr wrap="square" lIns="0" tIns="0" rIns="0" bIns="0" rtlCol="0" anchor="ctr"/>
          <a:lstStyle/>
          <a:p>
            <a:pPr algn="ctr" indent="0" marL="0">
              <a:buNone/>
            </a:pPr>
            <a:r>
              <a:rPr lang="en-US" sz="1600" b="1" dirty="0">
                <a:solidFill>
                  <a:srgbClr val="1B2A80"/>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1417320" y="1719072"/>
            <a:ext cx="4389120" cy="502920"/>
          </a:xfrm>
          <a:prstGeom prst="rect">
            <a:avLst/>
          </a:prstGeom>
          <a:noFill/>
          <a:ln/>
        </p:spPr>
        <p:txBody>
          <a:bodyPr wrap="square" lIns="0" tIns="0" rIns="0" bIns="0" rtlCol="0" anchor="ctr"/>
          <a:lstStyle/>
          <a:p>
            <a:pPr indent="0" marL="0">
              <a:buNone/>
            </a:pPr>
            <a:r>
              <a:rPr lang="en-US" sz="1400" b="1" dirty="0">
                <a:solidFill>
                  <a:srgbClr val="1B2A80"/>
                </a:solidFill>
                <a:latin typeface="Calibri" pitchFamily="34" charset="0"/>
                <a:ea typeface="Calibri" pitchFamily="34" charset="-122"/>
                <a:cs typeface="Calibri" pitchFamily="34" charset="-120"/>
              </a:rPr>
              <a:t>Servidores especializados</a:t>
            </a:r>
            <a:endParaRPr lang="en-US" sz="1400" dirty="0"/>
          </a:p>
        </p:txBody>
      </p:sp>
      <p:sp>
        <p:nvSpPr>
          <p:cNvPr id="8" name="Text 6"/>
          <p:cNvSpPr/>
          <p:nvPr/>
        </p:nvSpPr>
        <p:spPr>
          <a:xfrm>
            <a:off x="841248" y="2350008"/>
            <a:ext cx="4946904" cy="1152144"/>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Planificador global, controlador local, suavizador, comportamientos de recuperación: cada uno es un servidor con su interfaz de acción, sustituible por configuración</a:t>
            </a:r>
            <a:endParaRPr lang="en-US" sz="1150" dirty="0"/>
          </a:p>
        </p:txBody>
      </p:sp>
      <p:sp>
        <p:nvSpPr>
          <p:cNvPr id="9" name="Shape 7"/>
          <p:cNvSpPr/>
          <p:nvPr/>
        </p:nvSpPr>
        <p:spPr>
          <a:xfrm>
            <a:off x="6217920" y="1572768"/>
            <a:ext cx="5349240" cy="2057400"/>
          </a:xfrm>
          <a:prstGeom prst="roundRect">
            <a:avLst>
              <a:gd name="adj" fmla="val 3556"/>
            </a:avLst>
          </a:prstGeom>
          <a:solidFill>
            <a:srgbClr val="F2F4FB"/>
          </a:solidFill>
          <a:ln/>
        </p:spPr>
        <p:txBody>
          <a:bodyPr/>
          <a:p/>
        </p:txBody>
      </p:sp>
      <p:sp>
        <p:nvSpPr>
          <p:cNvPr id="10" name="Shape 8"/>
          <p:cNvSpPr/>
          <p:nvPr/>
        </p:nvSpPr>
        <p:spPr>
          <a:xfrm>
            <a:off x="6400800" y="1755648"/>
            <a:ext cx="457200" cy="457200"/>
          </a:xfrm>
          <a:prstGeom prst="ellipse">
            <a:avLst/>
          </a:prstGeom>
          <a:solidFill>
            <a:srgbClr val="2FD26E"/>
          </a:solidFill>
          <a:ln/>
        </p:spPr>
        <p:txBody>
          <a:bodyPr/>
          <a:p/>
        </p:txBody>
      </p:sp>
      <p:sp>
        <p:nvSpPr>
          <p:cNvPr id="11" name="Text 9"/>
          <p:cNvSpPr/>
          <p:nvPr/>
        </p:nvSpPr>
        <p:spPr>
          <a:xfrm>
            <a:off x="6400800" y="1755648"/>
            <a:ext cx="457200" cy="457200"/>
          </a:xfrm>
          <a:prstGeom prst="rect">
            <a:avLst/>
          </a:prstGeom>
          <a:noFill/>
          <a:ln/>
        </p:spPr>
        <p:txBody>
          <a:bodyPr wrap="square" lIns="0" tIns="0" rIns="0" bIns="0" rtlCol="0" anchor="ctr"/>
          <a:lstStyle/>
          <a:p>
            <a:pPr algn="ctr" indent="0" marL="0">
              <a:buNone/>
            </a:pPr>
            <a:r>
              <a:rPr lang="en-US" sz="1600" b="1" dirty="0">
                <a:solidFill>
                  <a:srgbClr val="1B2A80"/>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6995160" y="1719072"/>
            <a:ext cx="4389120" cy="502920"/>
          </a:xfrm>
          <a:prstGeom prst="rect">
            <a:avLst/>
          </a:prstGeom>
          <a:noFill/>
          <a:ln/>
        </p:spPr>
        <p:txBody>
          <a:bodyPr wrap="square" lIns="0" tIns="0" rIns="0" bIns="0" rtlCol="0" anchor="ctr"/>
          <a:lstStyle/>
          <a:p>
            <a:pPr indent="0" marL="0">
              <a:buNone/>
            </a:pPr>
            <a:r>
              <a:rPr lang="en-US" sz="1400" b="1" dirty="0">
                <a:solidFill>
                  <a:srgbClr val="1B2A80"/>
                </a:solidFill>
                <a:latin typeface="Calibri" pitchFamily="34" charset="0"/>
                <a:ea typeface="Calibri" pitchFamily="34" charset="-122"/>
                <a:cs typeface="Calibri" pitchFamily="34" charset="-120"/>
              </a:rPr>
              <a:t>Costmaps por capas</a:t>
            </a:r>
            <a:endParaRPr lang="en-US" sz="1400" dirty="0"/>
          </a:p>
        </p:txBody>
      </p:sp>
      <p:sp>
        <p:nvSpPr>
          <p:cNvPr id="13" name="Text 11"/>
          <p:cNvSpPr/>
          <p:nvPr/>
        </p:nvSpPr>
        <p:spPr>
          <a:xfrm>
            <a:off x="6419088" y="2350008"/>
            <a:ext cx="4946904" cy="1152144"/>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Estática (el mapa), obstáculos (sensores en vivo), inflado (margen del robot). Se combinan en un único mapa de coste maestro</a:t>
            </a:r>
            <a:endParaRPr lang="en-US" sz="1150" dirty="0"/>
          </a:p>
        </p:txBody>
      </p:sp>
      <p:sp>
        <p:nvSpPr>
          <p:cNvPr id="14" name="Shape 12"/>
          <p:cNvSpPr/>
          <p:nvPr/>
        </p:nvSpPr>
        <p:spPr>
          <a:xfrm>
            <a:off x="640080" y="3858768"/>
            <a:ext cx="5349240" cy="2057400"/>
          </a:xfrm>
          <a:prstGeom prst="roundRect">
            <a:avLst>
              <a:gd name="adj" fmla="val 3556"/>
            </a:avLst>
          </a:prstGeom>
          <a:solidFill>
            <a:srgbClr val="F2F4FB"/>
          </a:solidFill>
          <a:ln/>
        </p:spPr>
        <p:txBody>
          <a:bodyPr/>
          <a:p/>
        </p:txBody>
      </p:sp>
      <p:sp>
        <p:nvSpPr>
          <p:cNvPr id="15" name="Shape 13"/>
          <p:cNvSpPr/>
          <p:nvPr/>
        </p:nvSpPr>
        <p:spPr>
          <a:xfrm>
            <a:off x="822960" y="4041648"/>
            <a:ext cx="457200" cy="457200"/>
          </a:xfrm>
          <a:prstGeom prst="ellipse">
            <a:avLst/>
          </a:prstGeom>
          <a:solidFill>
            <a:srgbClr val="2FD26E"/>
          </a:solidFill>
          <a:ln/>
        </p:spPr>
        <p:txBody>
          <a:bodyPr/>
          <a:p/>
        </p:txBody>
      </p:sp>
      <p:sp>
        <p:nvSpPr>
          <p:cNvPr id="16" name="Text 14"/>
          <p:cNvSpPr/>
          <p:nvPr/>
        </p:nvSpPr>
        <p:spPr>
          <a:xfrm>
            <a:off x="822960" y="4041648"/>
            <a:ext cx="457200" cy="457200"/>
          </a:xfrm>
          <a:prstGeom prst="rect">
            <a:avLst/>
          </a:prstGeom>
          <a:noFill/>
          <a:ln/>
        </p:spPr>
        <p:txBody>
          <a:bodyPr wrap="square" lIns="0" tIns="0" rIns="0" bIns="0" rtlCol="0" anchor="ctr"/>
          <a:lstStyle/>
          <a:p>
            <a:pPr algn="ctr" indent="0" marL="0">
              <a:buNone/>
            </a:pPr>
            <a:r>
              <a:rPr lang="en-US" sz="1600" b="1" dirty="0">
                <a:solidFill>
                  <a:srgbClr val="1B2A80"/>
                </a:solidFill>
                <a:latin typeface="Calibri" pitchFamily="34" charset="0"/>
                <a:ea typeface="Calibri" pitchFamily="34" charset="-122"/>
                <a:cs typeface="Calibri" pitchFamily="34" charset="-120"/>
              </a:rPr>
              <a:t>3</a:t>
            </a:r>
            <a:endParaRPr lang="en-US" sz="1600" dirty="0"/>
          </a:p>
        </p:txBody>
      </p:sp>
      <p:sp>
        <p:nvSpPr>
          <p:cNvPr id="17" name="Text 15"/>
          <p:cNvSpPr/>
          <p:nvPr/>
        </p:nvSpPr>
        <p:spPr>
          <a:xfrm>
            <a:off x="1417320" y="4005072"/>
            <a:ext cx="4389120" cy="502920"/>
          </a:xfrm>
          <a:prstGeom prst="rect">
            <a:avLst/>
          </a:prstGeom>
          <a:noFill/>
          <a:ln/>
        </p:spPr>
        <p:txBody>
          <a:bodyPr wrap="square" lIns="0" tIns="0" rIns="0" bIns="0" rtlCol="0" anchor="ctr"/>
          <a:lstStyle/>
          <a:p>
            <a:pPr indent="0" marL="0">
              <a:buNone/>
            </a:pPr>
            <a:r>
              <a:rPr lang="en-US" sz="1400" b="1" dirty="0">
                <a:solidFill>
                  <a:srgbClr val="1B2A80"/>
                </a:solidFill>
                <a:latin typeface="Calibri" pitchFamily="34" charset="0"/>
                <a:ea typeface="Calibri" pitchFamily="34" charset="-122"/>
                <a:cs typeface="Calibri" pitchFamily="34" charset="-120"/>
              </a:rPr>
              <a:t>Behavior tree</a:t>
            </a:r>
            <a:endParaRPr lang="en-US" sz="1400" dirty="0"/>
          </a:p>
        </p:txBody>
      </p:sp>
      <p:sp>
        <p:nvSpPr>
          <p:cNvPr id="18" name="Text 16"/>
          <p:cNvSpPr/>
          <p:nvPr/>
        </p:nvSpPr>
        <p:spPr>
          <a:xfrm>
            <a:off x="841248" y="4636008"/>
            <a:ext cx="4946904" cy="1152144"/>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La lógica de navegación no está cableada: es un árbol que decide qué hacer y cómo reaccionar al fallo, reintentar, limpiar el costmap, girar en el sitio</a:t>
            </a:r>
            <a:endParaRPr lang="en-US" sz="1150" dirty="0"/>
          </a:p>
        </p:txBody>
      </p:sp>
      <p:sp>
        <p:nvSpPr>
          <p:cNvPr id="19" name="Shape 17"/>
          <p:cNvSpPr/>
          <p:nvPr/>
        </p:nvSpPr>
        <p:spPr>
          <a:xfrm>
            <a:off x="6217920" y="3858768"/>
            <a:ext cx="5349240" cy="2057400"/>
          </a:xfrm>
          <a:prstGeom prst="roundRect">
            <a:avLst>
              <a:gd name="adj" fmla="val 3556"/>
            </a:avLst>
          </a:prstGeom>
          <a:solidFill>
            <a:srgbClr val="F2F4FB"/>
          </a:solidFill>
          <a:ln/>
        </p:spPr>
        <p:txBody>
          <a:bodyPr/>
          <a:p/>
        </p:txBody>
      </p:sp>
      <p:sp>
        <p:nvSpPr>
          <p:cNvPr id="20" name="Shape 18"/>
          <p:cNvSpPr/>
          <p:nvPr/>
        </p:nvSpPr>
        <p:spPr>
          <a:xfrm>
            <a:off x="6400800" y="4041648"/>
            <a:ext cx="457200" cy="457200"/>
          </a:xfrm>
          <a:prstGeom prst="ellipse">
            <a:avLst/>
          </a:prstGeom>
          <a:solidFill>
            <a:srgbClr val="2FD26E"/>
          </a:solidFill>
          <a:ln/>
        </p:spPr>
        <p:txBody>
          <a:bodyPr/>
          <a:p/>
        </p:txBody>
      </p:sp>
      <p:sp>
        <p:nvSpPr>
          <p:cNvPr id="21" name="Text 19"/>
          <p:cNvSpPr/>
          <p:nvPr/>
        </p:nvSpPr>
        <p:spPr>
          <a:xfrm>
            <a:off x="6400800" y="4041648"/>
            <a:ext cx="457200" cy="457200"/>
          </a:xfrm>
          <a:prstGeom prst="rect">
            <a:avLst/>
          </a:prstGeom>
          <a:noFill/>
          <a:ln/>
        </p:spPr>
        <p:txBody>
          <a:bodyPr wrap="square" lIns="0" tIns="0" rIns="0" bIns="0" rtlCol="0" anchor="ctr"/>
          <a:lstStyle/>
          <a:p>
            <a:pPr algn="ctr" indent="0" marL="0">
              <a:buNone/>
            </a:pPr>
            <a:r>
              <a:rPr lang="en-US" sz="1600" b="1" dirty="0">
                <a:solidFill>
                  <a:srgbClr val="1B2A80"/>
                </a:solidFill>
                <a:latin typeface="Calibri" pitchFamily="34" charset="0"/>
                <a:ea typeface="Calibri" pitchFamily="34" charset="-122"/>
                <a:cs typeface="Calibri" pitchFamily="34" charset="-120"/>
              </a:rPr>
              <a:t>4</a:t>
            </a:r>
            <a:endParaRPr lang="en-US" sz="1600" dirty="0"/>
          </a:p>
        </p:txBody>
      </p:sp>
      <p:sp>
        <p:nvSpPr>
          <p:cNvPr id="22" name="Text 20"/>
          <p:cNvSpPr/>
          <p:nvPr/>
        </p:nvSpPr>
        <p:spPr>
          <a:xfrm>
            <a:off x="6995160" y="4005072"/>
            <a:ext cx="4389120" cy="502920"/>
          </a:xfrm>
          <a:prstGeom prst="rect">
            <a:avLst/>
          </a:prstGeom>
          <a:noFill/>
          <a:ln/>
        </p:spPr>
        <p:txBody>
          <a:bodyPr wrap="square" lIns="0" tIns="0" rIns="0" bIns="0" rtlCol="0" anchor="ctr"/>
          <a:lstStyle/>
          <a:p>
            <a:pPr indent="0" marL="0">
              <a:buNone/>
            </a:pPr>
            <a:r>
              <a:rPr lang="en-US" sz="1400" b="1" dirty="0">
                <a:solidFill>
                  <a:srgbClr val="1B2A80"/>
                </a:solidFill>
                <a:latin typeface="Calibri" pitchFamily="34" charset="0"/>
                <a:ea typeface="Calibri" pitchFamily="34" charset="-122"/>
                <a:cs typeface="Calibri" pitchFamily="34" charset="-120"/>
              </a:rPr>
              <a:t>AMCL</a:t>
            </a:r>
            <a:endParaRPr lang="en-US" sz="1400" dirty="0"/>
          </a:p>
        </p:txBody>
      </p:sp>
      <p:sp>
        <p:nvSpPr>
          <p:cNvPr id="23" name="Text 21"/>
          <p:cNvSpPr/>
          <p:nvPr/>
        </p:nvSpPr>
        <p:spPr>
          <a:xfrm>
            <a:off x="6419088" y="4636008"/>
            <a:ext cx="4946904" cy="1152144"/>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La localización de Nav2 es el filtro de partículas adaptativo del bloque 6: aquí es donde aquella teoría se convierte en un nodo que se lanza</a:t>
            </a:r>
            <a:endParaRPr lang="en-US" sz="1150" dirty="0"/>
          </a:p>
        </p:txBody>
      </p:sp>
      <p:sp>
        <p:nvSpPr>
          <p:cNvPr id="25" name="Text 22"/>
          <p:cNvSpPr/>
          <p:nvPr/>
        </p:nvSpPr>
        <p:spPr>
          <a:xfrm>
            <a:off x="640080" y="6446520"/>
            <a:ext cx="10972800" cy="274320"/>
          </a:xfrm>
          <a:prstGeom prst="rect">
            <a:avLst/>
          </a:prstGeom>
          <a:noFill/>
          <a:ln/>
        </p:spPr>
        <p:txBody>
          <a:bodyPr wrap="square" lIns="0" tIns="0" rIns="0" bIns="0"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docs.nav2.org · Navigation Concepts, Costmap 2D, Behavior Trees, AMCL</a:t>
            </a:r>
            <a:endParaRPr lang="en-US" sz="1000" dirty="0"/>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B2A80"/>
        </a:solidFill>
      </p:bgPr>
    </p:bg>
    <p:spTree>
      <p:nvGrpSpPr>
        <p:cNvPr id="1" name=""/>
        <p:cNvGrpSpPr/>
        <p:nvPr/>
      </p:nvGrpSpPr>
      <p:grpSpPr>
        <a:xfrm>
          <a:off x="0" y="0"/>
          <a:ext cx="0" cy="0"/>
          <a:chOff x="0" y="0"/>
          <a:chExt cx="0" cy="0"/>
        </a:xfrm>
      </p:grpSpPr>
      <p:sp>
        <p:nvSpPr>
          <p:cNvPr id="2" name="Shape 0"/>
          <p:cNvSpPr/>
          <p:nvPr/>
        </p:nvSpPr>
        <p:spPr>
          <a:xfrm>
            <a:off x="-18288" y="2834640"/>
            <a:ext cx="5852160" cy="4041648"/>
          </a:xfrm>
          <a:prstGeom prst="rtTriangle">
            <a:avLst/>
          </a:prstGeom>
          <a:solidFill>
            <a:srgbClr val="2E3FA3"/>
          </a:solidFill>
          <a:ln/>
        </p:spPr>
        <p:txBody>
          <a:bodyPr/>
          <a:p/>
        </p:txBody>
      </p:sp>
      <p:sp>
        <p:nvSpPr>
          <p:cNvPr id="3" name="Shape 1"/>
          <p:cNvSpPr/>
          <p:nvPr/>
        </p:nvSpPr>
        <p:spPr>
          <a:xfrm>
            <a:off x="-18288" y="4846320"/>
            <a:ext cx="2926080" cy="2029968"/>
          </a:xfrm>
          <a:prstGeom prst="rtTriangle">
            <a:avLst/>
          </a:prstGeom>
          <a:solidFill>
            <a:srgbClr val="2FD26E"/>
          </a:solidFill>
          <a:ln/>
        </p:spPr>
        <p:txBody>
          <a:bodyPr/>
          <a:p/>
        </p:txBody>
      </p:sp>
      <p:sp>
        <p:nvSpPr>
          <p:cNvPr id="4" name="Shape 2"/>
          <p:cNvSpPr/>
          <p:nvPr/>
        </p:nvSpPr>
        <p:spPr>
          <a:xfrm>
            <a:off x="685800" y="1051560"/>
            <a:ext cx="1051560" cy="1051560"/>
          </a:xfrm>
          <a:prstGeom prst="ellipse">
            <a:avLst/>
          </a:prstGeom>
          <a:solidFill>
            <a:srgbClr val="2FD26E"/>
          </a:solidFill>
          <a:ln/>
        </p:spPr>
        <p:txBody>
          <a:bodyPr/>
          <a:p/>
        </p:txBody>
      </p:sp>
      <p:sp>
        <p:nvSpPr>
          <p:cNvPr id="5" name="Text 3"/>
          <p:cNvSpPr/>
          <p:nvPr/>
        </p:nvSpPr>
        <p:spPr>
          <a:xfrm>
            <a:off x="685800" y="1051560"/>
            <a:ext cx="1051560" cy="1051560"/>
          </a:xfrm>
          <a:prstGeom prst="rect">
            <a:avLst/>
          </a:prstGeom>
          <a:noFill/>
          <a:ln/>
        </p:spPr>
        <p:txBody>
          <a:bodyPr wrap="square" lIns="0" tIns="0" rIns="0" bIns="0" rtlCol="0" anchor="ctr"/>
          <a:lstStyle/>
          <a:p>
            <a:pPr algn="ctr" indent="0" marL="0">
              <a:buNone/>
            </a:pPr>
            <a:r>
              <a:rPr lang="en-US" sz="3000" b="1" dirty="0">
                <a:solidFill>
                  <a:srgbClr val="1B2A80"/>
                </a:solidFill>
                <a:latin typeface="Calibri" pitchFamily="34" charset="0"/>
                <a:ea typeface="Calibri" pitchFamily="34" charset="-122"/>
                <a:cs typeface="Calibri" pitchFamily="34" charset="-120"/>
              </a:rPr>
              <a:t>S37</a:t>
            </a:r>
            <a:endParaRPr lang="en-US" sz="3000" dirty="0"/>
          </a:p>
        </p:txBody>
      </p:sp>
      <p:sp>
        <p:nvSpPr>
          <p:cNvPr id="6" name="Text 4"/>
          <p:cNvSpPr/>
          <p:nvPr/>
        </p:nvSpPr>
        <p:spPr>
          <a:xfrm>
            <a:off x="2011680" y="914400"/>
            <a:ext cx="9418320" cy="137160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MoveIt 2 e integración del stack</a:t>
            </a:r>
            <a:endParaRPr lang="en-US" sz="3400" dirty="0"/>
          </a:p>
        </p:txBody>
      </p:sp>
      <p:sp>
        <p:nvSpPr>
          <p:cNvPr id="7" name="Text 5"/>
          <p:cNvSpPr/>
          <p:nvPr/>
        </p:nvSpPr>
        <p:spPr>
          <a:xfrm>
            <a:off x="2057400" y="2286000"/>
            <a:ext cx="8961120" cy="822960"/>
          </a:xfrm>
          <a:prstGeom prst="rect">
            <a:avLst/>
          </a:prstGeom>
          <a:noFill/>
          <a:ln/>
        </p:spPr>
        <p:txBody>
          <a:bodyPr wrap="square" lIns="0" tIns="0" rIns="0" bIns="0" rtlCol="0" anchor="ctr"/>
          <a:lstStyle/>
          <a:p>
            <a:pPr indent="0" marL="0">
              <a:buNone/>
            </a:pPr>
            <a:r>
              <a:rPr lang="en-US" sz="1600" dirty="0">
                <a:solidFill>
                  <a:srgbClr val="C9D2F5"/>
                </a:solidFill>
                <a:latin typeface="Calibri" pitchFamily="34" charset="0"/>
                <a:ea typeface="Calibri" pitchFamily="34" charset="-122"/>
                <a:cs typeface="Calibri" pitchFamily="34" charset="-120"/>
              </a:rPr>
              <a:t>move_group · planning scene · OMPL · planificación cartesiana</a:t>
            </a:r>
            <a:endParaRPr lang="en-US" sz="1600" dirty="0"/>
          </a:p>
        </p:txBody>
      </p:sp>
      <p:pic>
        <p:nvPicPr>
          <p:cNvPr id="8" name="Image 0" descr="/home/claude/work/curso_82514/media/fotos/b4_paletizado.png">    </p:cNvPr>
          <p:cNvPicPr>
            <a:picLocks noChangeAspect="1"/>
          </p:cNvPicPr>
          <p:nvPr/>
        </p:nvPicPr>
        <p:blipFill>
          <a:blip r:embed="rId1"/>
          <a:stretch>
            <a:fillRect/>
          </a:stretch>
        </p:blipFill>
        <p:spPr>
          <a:xfrm>
            <a:off x="7818120" y="3216443"/>
            <a:ext cx="3749040" cy="2564810"/>
          </a:xfrm>
          <a:prstGeom prst="rect">
            <a:avLst/>
          </a:prstGeom>
        </p:spPr>
      </p:pic>
      <p:sp>
        <p:nvSpPr>
          <p:cNvPr id="9" name="Shape 6"/>
          <p:cNvSpPr/>
          <p:nvPr/>
        </p:nvSpPr>
        <p:spPr>
          <a:xfrm>
            <a:off x="7818120" y="5781253"/>
            <a:ext cx="3749040" cy="54864"/>
          </a:xfrm>
          <a:prstGeom prst="rect">
            <a:avLst/>
          </a:prstGeom>
          <a:solidFill>
            <a:srgbClr val="2FD26E"/>
          </a:solidFill>
          <a:ln/>
        </p:spPr>
        <p:txBody>
          <a:bodyPr/>
          <a:p/>
        </p:txBody>
      </p:sp>
      <p:sp>
        <p:nvSpPr>
          <p:cNvPr id="10" name="Text 7"/>
          <p:cNvSpPr/>
          <p:nvPr/>
        </p:nvSpPr>
        <p:spPr>
          <a:xfrm>
            <a:off x="7589520" y="5909269"/>
            <a:ext cx="4160520" cy="502920"/>
          </a:xfrm>
          <a:prstGeom prst="rect">
            <a:avLst/>
          </a:prstGeom>
          <a:noFill/>
          <a:ln/>
        </p:spPr>
        <p:txBody>
          <a:bodyPr wrap="square" lIns="0" tIns="0" rIns="0" bIns="0" rtlCol="0" anchor="ctr"/>
          <a:lstStyle/>
          <a:p>
            <a:pPr algn="ctr" indent="0" marL="0">
              <a:buNone/>
            </a:pPr>
            <a:r>
              <a:rPr lang="en-US" sz="1000" dirty="0">
                <a:solidFill>
                  <a:srgbClr val="C9D2F5"/>
                </a:solidFill>
                <a:latin typeface="Calibri" pitchFamily="34" charset="0"/>
                <a:ea typeface="Calibri" pitchFamily="34" charset="-122"/>
                <a:cs typeface="Calibri" pitchFamily="34" charset="-120"/>
              </a:rPr>
              <a:t>Pick and place: la tarea canónica de MoveIt</a:t>
            </a:r>
            <a:endParaRPr lang="en-US" sz="1000" dirty="0"/>
          </a:p>
        </p:txBody>
      </p:sp>
      <p:sp>
        <p:nvSpPr>
          <p:cNvPr id="11" name="Text 8"/>
          <p:cNvSpPr/>
          <p:nvPr/>
        </p:nvSpPr>
        <p:spPr>
          <a:xfrm>
            <a:off x="6675120" y="6528816"/>
            <a:ext cx="5074920" cy="228600"/>
          </a:xfrm>
          <a:prstGeom prst="rect">
            <a:avLst/>
          </a:prstGeom>
          <a:noFill/>
          <a:ln/>
        </p:spPr>
        <p:txBody>
          <a:bodyPr wrap="square" lIns="0" tIns="0" rIns="0" bIns="0" rtlCol="0" anchor="ctr"/>
          <a:lstStyle/>
          <a:p>
            <a:pPr algn="r" indent="0" marL="0">
              <a:buNone/>
            </a:pPr>
            <a:r>
              <a:rPr lang="en-US" sz="800" dirty="0">
                <a:solidFill>
                  <a:srgbClr val="8A97D8"/>
                </a:solidFill>
                <a:latin typeface="Calibri" pitchFamily="34" charset="0"/>
                <a:ea typeface="Calibri" pitchFamily="34" charset="-122"/>
                <a:cs typeface="Calibri" pitchFamily="34" charset="-120"/>
              </a:rPr>
              <a:t>Foto: CollaborativePalletizer CC BY-SA 4.0 · Wikimedia Commons</a:t>
            </a:r>
            <a:endParaRPr lang="en-US" sz="800" dirty="0"/>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47472"/>
            <a:ext cx="10881360" cy="274320"/>
          </a:xfrm>
          <a:prstGeom prst="rect">
            <a:avLst/>
          </a:prstGeom>
          <a:noFill/>
          <a:ln/>
        </p:spPr>
        <p:txBody>
          <a:bodyPr wrap="square" lIns="0" tIns="0" rIns="0" bIns="0" rtlCol="0" anchor="ctr"/>
          <a:lstStyle/>
          <a:p>
            <a:pPr indent="0" marL="0">
              <a:buNone/>
            </a:pPr>
            <a:r>
              <a:rPr lang="en-US" sz="1200" b="1" spc="200" kern="0" dirty="0">
                <a:solidFill>
                  <a:srgbClr val="1FA355"/>
                </a:solidFill>
                <a:latin typeface="Calibri" pitchFamily="34" charset="0"/>
                <a:ea typeface="Calibri" pitchFamily="34" charset="-122"/>
                <a:cs typeface="Calibri" pitchFamily="34" charset="-120"/>
              </a:rPr>
              <a:t>S37 · MANIPULACIÓN</a:t>
            </a:r>
            <a:endParaRPr lang="en-US" sz="1200" dirty="0"/>
          </a:p>
        </p:txBody>
      </p:sp>
      <p:sp>
        <p:nvSpPr>
          <p:cNvPr id="3" name="Text 1"/>
          <p:cNvSpPr/>
          <p:nvPr/>
        </p:nvSpPr>
        <p:spPr>
          <a:xfrm>
            <a:off x="640080" y="566928"/>
            <a:ext cx="10881360" cy="685800"/>
          </a:xfrm>
          <a:prstGeom prst="rect">
            <a:avLst/>
          </a:prstGeom>
          <a:noFill/>
          <a:ln/>
        </p:spPr>
        <p:txBody>
          <a:bodyPr wrap="square" lIns="0" tIns="0" rIns="0" bIns="0" rtlCol="0" anchor="ctr"/>
          <a:lstStyle/>
          <a:p>
            <a:pPr indent="0" marL="0">
              <a:buNone/>
            </a:pPr>
            <a:r>
              <a:rPr lang="en-US" sz="3000" b="1" dirty="0">
                <a:solidFill>
                  <a:srgbClr val="1B2A80"/>
                </a:solidFill>
                <a:latin typeface="Calibri" pitchFamily="34" charset="0"/>
                <a:ea typeface="Calibri" pitchFamily="34" charset="-122"/>
                <a:cs typeface="Calibri" pitchFamily="34" charset="-120"/>
              </a:rPr>
              <a:t>MoveIt 2: planificar con el mundo dentro</a:t>
            </a:r>
            <a:endParaRPr lang="en-US" sz="3000" dirty="0"/>
          </a:p>
        </p:txBody>
      </p:sp>
      <p:sp>
        <p:nvSpPr>
          <p:cNvPr id="4" name="Shape 2"/>
          <p:cNvSpPr/>
          <p:nvPr/>
        </p:nvSpPr>
        <p:spPr>
          <a:xfrm>
            <a:off x="640080" y="1572768"/>
            <a:ext cx="5394960" cy="2240280"/>
          </a:xfrm>
          <a:prstGeom prst="roundRect">
            <a:avLst>
              <a:gd name="adj" fmla="val 3265"/>
            </a:avLst>
          </a:prstGeom>
          <a:solidFill>
            <a:srgbClr val="F2F4FB"/>
          </a:solidFill>
          <a:ln/>
        </p:spPr>
        <p:txBody>
          <a:bodyPr/>
          <a:p/>
        </p:txBody>
      </p:sp>
      <p:sp>
        <p:nvSpPr>
          <p:cNvPr id="5" name="Text 3"/>
          <p:cNvSpPr/>
          <p:nvPr/>
        </p:nvSpPr>
        <p:spPr>
          <a:xfrm>
            <a:off x="841248" y="1719072"/>
            <a:ext cx="4992624" cy="502920"/>
          </a:xfrm>
          <a:prstGeom prst="rect">
            <a:avLst/>
          </a:prstGeom>
          <a:noFill/>
          <a:ln/>
        </p:spPr>
        <p:txBody>
          <a:bodyPr wrap="square" lIns="0" tIns="0" rIns="0" bIns="0" rtlCol="0" anchor="ctr"/>
          <a:lstStyle/>
          <a:p>
            <a:pPr indent="0" marL="0">
              <a:buNone/>
            </a:pPr>
            <a:r>
              <a:rPr lang="en-US" sz="1500" b="1" dirty="0">
                <a:solidFill>
                  <a:srgbClr val="1B2A80"/>
                </a:solidFill>
                <a:latin typeface="Calibri" pitchFamily="34" charset="0"/>
                <a:ea typeface="Calibri" pitchFamily="34" charset="-122"/>
                <a:cs typeface="Calibri" pitchFamily="34" charset="-120"/>
              </a:rPr>
              <a:t>move_group</a:t>
            </a:r>
            <a:endParaRPr lang="en-US" sz="1500" dirty="0"/>
          </a:p>
        </p:txBody>
      </p:sp>
      <p:sp>
        <p:nvSpPr>
          <p:cNvPr id="6" name="Text 4"/>
          <p:cNvSpPr/>
          <p:nvPr/>
        </p:nvSpPr>
        <p:spPr>
          <a:xfrm>
            <a:off x="841248" y="2212848"/>
            <a:ext cx="4992624" cy="1472184"/>
          </a:xfrm>
          <a:prstGeom prst="rect">
            <a:avLst/>
          </a:prstGeom>
          <a:noFill/>
          <a:ln/>
        </p:spPr>
        <p:txBody>
          <a:bodyPr wrap="square" lIns="0" tIns="0" rIns="0" bIns="0" rtlCol="0" anchor="ctr"/>
          <a:lstStyle/>
          <a:p>
            <a:pPr indent="0" marL="0">
              <a:buNone/>
            </a:pPr>
            <a:r>
              <a:rPr lang="en-US" sz="1250" dirty="0">
                <a:solidFill>
                  <a:srgbClr val="1A1A2E"/>
                </a:solidFill>
                <a:latin typeface="Calibri" pitchFamily="34" charset="0"/>
                <a:ea typeface="Calibri" pitchFamily="34" charset="-122"/>
                <a:cs typeface="Calibri" pitchFamily="34" charset="-120"/>
              </a:rPr>
              <a:t>El nodo orquestador: recibe objetivos como acción, consulta la cinemática del bloque 4, invoca al planificador y devuelve una trayectoria ejecutable.</a:t>
            </a:r>
            <a:endParaRPr lang="en-US" sz="1250" dirty="0"/>
          </a:p>
        </p:txBody>
      </p:sp>
      <p:sp>
        <p:nvSpPr>
          <p:cNvPr id="7" name="Shape 5"/>
          <p:cNvSpPr/>
          <p:nvPr/>
        </p:nvSpPr>
        <p:spPr>
          <a:xfrm>
            <a:off x="6263640" y="1572768"/>
            <a:ext cx="5257800" cy="2240280"/>
          </a:xfrm>
          <a:prstGeom prst="roundRect">
            <a:avLst>
              <a:gd name="adj" fmla="val 3265"/>
            </a:avLst>
          </a:prstGeom>
          <a:solidFill>
            <a:srgbClr val="F2F4FB"/>
          </a:solidFill>
          <a:ln/>
        </p:spPr>
        <p:txBody>
          <a:bodyPr/>
          <a:p/>
        </p:txBody>
      </p:sp>
      <p:sp>
        <p:nvSpPr>
          <p:cNvPr id="8" name="Text 6"/>
          <p:cNvSpPr/>
          <p:nvPr/>
        </p:nvSpPr>
        <p:spPr>
          <a:xfrm>
            <a:off x="6464808" y="1719072"/>
            <a:ext cx="4855464" cy="502920"/>
          </a:xfrm>
          <a:prstGeom prst="rect">
            <a:avLst/>
          </a:prstGeom>
          <a:noFill/>
          <a:ln/>
        </p:spPr>
        <p:txBody>
          <a:bodyPr wrap="square" lIns="0" tIns="0" rIns="0" bIns="0" rtlCol="0" anchor="ctr"/>
          <a:lstStyle/>
          <a:p>
            <a:pPr indent="0" marL="0">
              <a:buNone/>
            </a:pPr>
            <a:r>
              <a:rPr lang="en-US" sz="1500" b="1" dirty="0">
                <a:solidFill>
                  <a:srgbClr val="1B2A80"/>
                </a:solidFill>
                <a:latin typeface="Calibri" pitchFamily="34" charset="0"/>
                <a:ea typeface="Calibri" pitchFamily="34" charset="-122"/>
                <a:cs typeface="Calibri" pitchFamily="34" charset="-120"/>
              </a:rPr>
              <a:t>Planning scene</a:t>
            </a:r>
            <a:endParaRPr lang="en-US" sz="1500" dirty="0"/>
          </a:p>
        </p:txBody>
      </p:sp>
      <p:sp>
        <p:nvSpPr>
          <p:cNvPr id="9" name="Text 7"/>
          <p:cNvSpPr/>
          <p:nvPr/>
        </p:nvSpPr>
        <p:spPr>
          <a:xfrm>
            <a:off x="6464808" y="2212848"/>
            <a:ext cx="4855464" cy="1472184"/>
          </a:xfrm>
          <a:prstGeom prst="rect">
            <a:avLst/>
          </a:prstGeom>
          <a:noFill/>
          <a:ln/>
        </p:spPr>
        <p:txBody>
          <a:bodyPr wrap="square" lIns="0" tIns="0" rIns="0" bIns="0" rtlCol="0" anchor="ctr"/>
          <a:lstStyle/>
          <a:p>
            <a:pPr indent="0" marL="0">
              <a:buNone/>
            </a:pPr>
            <a:r>
              <a:rPr lang="en-US" sz="1250" dirty="0">
                <a:solidFill>
                  <a:srgbClr val="1A1A2E"/>
                </a:solidFill>
                <a:latin typeface="Calibri" pitchFamily="34" charset="0"/>
                <a:ea typeface="Calibri" pitchFamily="34" charset="-122"/>
                <a:cs typeface="Calibri" pitchFamily="34" charset="-120"/>
              </a:rPr>
              <a:t>El modelo del mundo del manipulador: el robot, los obstáculos conocidos y los objetos percibidos.</a:t>
            </a:r>
            <a:endParaRPr lang="en-US" sz="1250" dirty="0"/>
          </a:p>
          <a:p>
            <a:pPr indent="0" marL="0">
              <a:buNone/>
            </a:pPr>
            <a:endParaRPr lang="en-US" sz="1250" dirty="0"/>
          </a:p>
          <a:p>
            <a:pPr indent="0" marL="0">
              <a:buNone/>
            </a:pPr>
            <a:r>
              <a:rPr lang="en-US" sz="1250" dirty="0">
                <a:solidFill>
                  <a:srgbClr val="1A1A2E"/>
                </a:solidFill>
                <a:latin typeface="Calibri" pitchFamily="34" charset="0"/>
                <a:ea typeface="Calibri" pitchFamily="34" charset="-122"/>
                <a:cs typeface="Calibri" pitchFamily="34" charset="-120"/>
              </a:rPr>
              <a:t>Planificar sin escena es planificar contra el aire: aquí entra la percepción del bloque 6.</a:t>
            </a:r>
            <a:endParaRPr lang="en-US" sz="1250" dirty="0"/>
          </a:p>
        </p:txBody>
      </p:sp>
      <p:sp>
        <p:nvSpPr>
          <p:cNvPr id="10" name="Shape 8"/>
          <p:cNvSpPr/>
          <p:nvPr/>
        </p:nvSpPr>
        <p:spPr>
          <a:xfrm>
            <a:off x="640080" y="3995928"/>
            <a:ext cx="5394960" cy="2057400"/>
          </a:xfrm>
          <a:prstGeom prst="roundRect">
            <a:avLst>
              <a:gd name="adj" fmla="val 3556"/>
            </a:avLst>
          </a:prstGeom>
          <a:solidFill>
            <a:srgbClr val="F2F4FB"/>
          </a:solidFill>
          <a:ln/>
        </p:spPr>
        <p:txBody>
          <a:bodyPr/>
          <a:p/>
        </p:txBody>
      </p:sp>
      <p:sp>
        <p:nvSpPr>
          <p:cNvPr id="11" name="Text 9"/>
          <p:cNvSpPr/>
          <p:nvPr/>
        </p:nvSpPr>
        <p:spPr>
          <a:xfrm>
            <a:off x="841248" y="4142232"/>
            <a:ext cx="4992624" cy="502920"/>
          </a:xfrm>
          <a:prstGeom prst="rect">
            <a:avLst/>
          </a:prstGeom>
          <a:noFill/>
          <a:ln/>
        </p:spPr>
        <p:txBody>
          <a:bodyPr wrap="square" lIns="0" tIns="0" rIns="0" bIns="0" rtlCol="0" anchor="ctr"/>
          <a:lstStyle/>
          <a:p>
            <a:pPr indent="0" marL="0">
              <a:buNone/>
            </a:pPr>
            <a:r>
              <a:rPr lang="en-US" sz="1500" b="1" dirty="0">
                <a:solidFill>
                  <a:srgbClr val="1B2A80"/>
                </a:solidFill>
                <a:latin typeface="Calibri" pitchFamily="34" charset="0"/>
                <a:ea typeface="Calibri" pitchFamily="34" charset="-122"/>
                <a:cs typeface="Calibri" pitchFamily="34" charset="-120"/>
              </a:rPr>
              <a:t>OMPL y la elección del planificador</a:t>
            </a:r>
            <a:endParaRPr lang="en-US" sz="1500" dirty="0"/>
          </a:p>
        </p:txBody>
      </p:sp>
      <p:sp>
        <p:nvSpPr>
          <p:cNvPr id="12" name="Text 10"/>
          <p:cNvSpPr/>
          <p:nvPr/>
        </p:nvSpPr>
        <p:spPr>
          <a:xfrm>
            <a:off x="841248" y="4636008"/>
            <a:ext cx="4992624" cy="1289304"/>
          </a:xfrm>
          <a:prstGeom prst="rect">
            <a:avLst/>
          </a:prstGeom>
          <a:noFill/>
          <a:ln/>
        </p:spPr>
        <p:txBody>
          <a:bodyPr wrap="square" lIns="0" tIns="0" rIns="0" bIns="0" rtlCol="0" anchor="ctr"/>
          <a:lstStyle/>
          <a:p>
            <a:pPr indent="0" marL="0">
              <a:buNone/>
            </a:pPr>
            <a:r>
              <a:rPr lang="en-US" sz="1250" dirty="0">
                <a:solidFill>
                  <a:srgbClr val="1A1A2E"/>
                </a:solidFill>
                <a:latin typeface="Calibri" pitchFamily="34" charset="0"/>
                <a:ea typeface="Calibri" pitchFamily="34" charset="-122"/>
                <a:cs typeface="Calibri" pitchFamily="34" charset="-120"/>
              </a:rPr>
              <a:t>La biblioteca de planificadores de muestreo por defecto. RRT-Connect, el RRT bidireccional de Lynch y Park, 2017, p. 382, es el caballo de batalla: rápido, sin garantía de optimalidad.</a:t>
            </a:r>
            <a:endParaRPr lang="en-US" sz="1250" dirty="0"/>
          </a:p>
        </p:txBody>
      </p:sp>
      <p:sp>
        <p:nvSpPr>
          <p:cNvPr id="13" name="Shape 11"/>
          <p:cNvSpPr/>
          <p:nvPr/>
        </p:nvSpPr>
        <p:spPr>
          <a:xfrm>
            <a:off x="6263640" y="3995928"/>
            <a:ext cx="5257800" cy="2057400"/>
          </a:xfrm>
          <a:prstGeom prst="roundRect">
            <a:avLst>
              <a:gd name="adj" fmla="val 3556"/>
            </a:avLst>
          </a:prstGeom>
          <a:solidFill>
            <a:srgbClr val="F2F4FB"/>
          </a:solidFill>
          <a:ln/>
        </p:spPr>
        <p:txBody>
          <a:bodyPr/>
          <a:p/>
        </p:txBody>
      </p:sp>
      <p:sp>
        <p:nvSpPr>
          <p:cNvPr id="14" name="Text 12"/>
          <p:cNvSpPr/>
          <p:nvPr/>
        </p:nvSpPr>
        <p:spPr>
          <a:xfrm>
            <a:off x="6464808" y="4142232"/>
            <a:ext cx="4855464" cy="502920"/>
          </a:xfrm>
          <a:prstGeom prst="rect">
            <a:avLst/>
          </a:prstGeom>
          <a:noFill/>
          <a:ln/>
        </p:spPr>
        <p:txBody>
          <a:bodyPr wrap="square" lIns="0" tIns="0" rIns="0" bIns="0" rtlCol="0" anchor="ctr"/>
          <a:lstStyle/>
          <a:p>
            <a:pPr indent="0" marL="0">
              <a:buNone/>
            </a:pPr>
            <a:r>
              <a:rPr lang="en-US" sz="1500" b="1" dirty="0">
                <a:solidFill>
                  <a:srgbClr val="1B2A80"/>
                </a:solidFill>
                <a:latin typeface="Calibri" pitchFamily="34" charset="0"/>
                <a:ea typeface="Calibri" pitchFamily="34" charset="-122"/>
                <a:cs typeface="Calibri" pitchFamily="34" charset="-120"/>
              </a:rPr>
              <a:t>Cartesiano frente a articular</a:t>
            </a:r>
            <a:endParaRPr lang="en-US" sz="1500" dirty="0"/>
          </a:p>
        </p:txBody>
      </p:sp>
      <p:sp>
        <p:nvSpPr>
          <p:cNvPr id="15" name="Text 13"/>
          <p:cNvSpPr/>
          <p:nvPr/>
        </p:nvSpPr>
        <p:spPr>
          <a:xfrm>
            <a:off x="6464808" y="4636008"/>
            <a:ext cx="4855464" cy="1289304"/>
          </a:xfrm>
          <a:prstGeom prst="rect">
            <a:avLst/>
          </a:prstGeom>
          <a:noFill/>
          <a:ln/>
        </p:spPr>
        <p:txBody>
          <a:bodyPr wrap="square" lIns="0" tIns="0" rIns="0" bIns="0" rtlCol="0" anchor="ctr"/>
          <a:lstStyle/>
          <a:p>
            <a:pPr indent="0" marL="0">
              <a:buNone/>
            </a:pPr>
            <a:r>
              <a:rPr lang="en-US" sz="1250" dirty="0">
                <a:solidFill>
                  <a:srgbClr val="1A1A2E"/>
                </a:solidFill>
                <a:latin typeface="Calibri" pitchFamily="34" charset="0"/>
                <a:ea typeface="Calibri" pitchFamily="34" charset="-122"/>
                <a:cs typeface="Calibri" pitchFamily="34" charset="-120"/>
              </a:rPr>
              <a:t>Si la tarea exige una trayectoria recta del efector, soldar, dispensar, insertar, se planifica en el espacio cartesiano y se paga en riesgo de singularidad (bloque 4). Si no, la planificación articular es más robusta.</a:t>
            </a:r>
            <a:endParaRPr lang="en-US" sz="1250" dirty="0"/>
          </a:p>
        </p:txBody>
      </p:sp>
      <p:sp>
        <p:nvSpPr>
          <p:cNvPr id="17" name="Text 14"/>
          <p:cNvSpPr/>
          <p:nvPr/>
        </p:nvSpPr>
        <p:spPr>
          <a:xfrm>
            <a:off x="640080" y="6446520"/>
            <a:ext cx="10972800" cy="274320"/>
          </a:xfrm>
          <a:prstGeom prst="rect">
            <a:avLst/>
          </a:prstGeom>
          <a:noFill/>
          <a:ln/>
        </p:spPr>
        <p:txBody>
          <a:bodyPr wrap="square" lIns="0" tIns="0" rIns="0" bIns="0" rtlCol="0" anchor="ctr"/>
          <a:lstStyle/>
          <a:p>
            <a:pPr indent="0" marL="0">
              <a:buNone/>
            </a:pPr>
            <a:r>
              <a:rPr lang="en-US" sz="1000" dirty="0">
                <a:solidFill>
                  <a:srgbClr val="595959"/>
                </a:solidFill>
                <a:latin typeface="Calibri" pitchFamily="34" charset="0"/>
                <a:ea typeface="Calibri" pitchFamily="34" charset="-122"/>
                <a:cs typeface="Calibri" pitchFamily="34" charset="-120"/>
              </a:rPr>
              <a:t>moveit.picknik.ai · Concepts, OMPL, computeCartesianPath</a:t>
            </a:r>
            <a:endParaRPr lang="en-US" sz="100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2026-08-11T07:26:38Z</dcterms:created>
  <dcterms:modified xsi:type="dcterms:W3CDTF">2026-08-11T07:26:38Z</dcterms:modified>
</cp:coreProperties>
</file>