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media/image-4-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que faltaba en la asignatura anterior. ROS 2, simulación, planificación y los dos stacks (Nav2 y MoveIt 2), todo en simulación sobre los ordenadores existentes.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estructura: dos sesiones de fundamentos, el taller grande del viernes, y la capa inteligente (planificación, Nav2, MoveIt 2). Compromiso: al cerrar el bloque, cada equipo con su proyecto corriendo en ROS 2. Los comandos de preparación del taller se publican tras S33. Avisar de que el bloque entra entero en el parcial 2 del 11 de diciembre.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Idea organizadora: un robot no es un programa, es un grafo de procesos que se comunican. La foto del Roomba por debajo sirve de ejercicio mental: cada sensor como un nodo publicando mensajes. Plan: 0-5 apertura; 5-20 del programa único al grafo; 20-40 topics y mensajes; 40-55 DDS y QoS con casos; 55-60 preparación del taller.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caras del mismo software: el TurtleBot3 como plataforma de referencia de los tutoriales (y del taller de S34 en simulación) y la flota de Ocado como el mismo patrón en producción. Mensaje: del juguete didáctico a la operación industrial hay diferencia de escala, no de arquitectura.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Dibujar en pizarra el grafo de un móvil completo: sensor, localización, planificador, controlador, actuadores. Recorrer ventajas (sustituir sin tocar, reutilizar, depurar por partes) y el precio (no hay traza única). Presentar los cinco comandos de supervivencia de la tarjeta; con ellos se resuelve la mayoría del taller. Frase para dictar: depurar ROS es mirar el grafo, no leer un main.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que ROS 2 se apoya en DDS y por eso no hay nodo maestro. Consecuencia práctica inmediata: si dos ordenadores comparten red, sus grafos se ven; aislar con ROS_DOMAIN_ID distintos. De QoS, recorrer los tres casos de las tarjetas y detenerse en el maldito: perfiles incompatibles no se conectan y no dan error visible. Anticiparlo ahorra media sesión de taller, y cae en el parcial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Segunda sesión de fundamentos: servicios, acciones y la fontanería (parámetros, launch, colcon). Objetivo de salida: el entorno del taller preparado hoy. Plan: 0-5 recuperación; 5-25 servicios y acciones; 25-42 parámetros y launch; 42-55 workspaces y colcon; 55-60 preparación del entorno.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tres semánticas con sus frases de la tarjeta y dictar la regla práctica: si puede tardar y podría querer cancelarse, es una acción; Nav2 y MoveIt 2 exponen así sus interfaces principales. Señalar el error típico del principiante: resolverlo todo con topics y reinventar a mano la lógica de una acción. Ejercicio: clasificar cinco interacciones del proyecto de cada equipo.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piezas con su motivo: parámetros para no recompilar, launch para levantar decenas de nodos de una orden, paquetes como unidad de reutilización, colcon con symlink-install para que los cambios en Python no exijan reconstruir. Cierre imprescindible: dejar el entorno preparado con los tres comandos del recuadro y publicarlos en el campus; quien llegue sin workspace pierde la primera media hora del taller.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programación: nodo en Python desde plantilla, TurtleBot simulado y árbol de transformadas. Regla de ritmo: cada media hora, algo funcionando y visible. Plan: 0-15 anatomía del nodo; 15-45 publicador y suscriptor vistos en el grafo; 45-55 descanso; 55-85 Gazebo con el puente; 85-110 TF2 con view_frames y tf2_echo; 110-120 puesta en común de errores.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cinco piezas del nodo y los comandos del día en orden de uso. Dos reglas de gestión del taller: nadie pasa a Gazebo sin haber visto su nodo en rqt_graph, y recorrer los puestos los primeros quince minutos porque ahí se cazan los fallos de entorno.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 Gazebo, quedarse con el reparto: el simulador pone física y sensores, el puente traduce mensajes. De TF2, la pregunta que lo justifica: dónde estaba el sensor respecto al mapa en el instante de esta medida; sin eso no hay fusión. Explicar la cadena de REP 105 con su lectura: la transformada de odometría es continua pero deriva, y la de mapa la corrige a saltos; por eso el robot salta en RViz al cerrar un bucle. El árbol roto es el segundo fallo más común del taller tras QoS; enseñar view_frames como primer diagnóstico.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 el robot comunicado y simulado, toca decidir por dónde ir: espacio de configuraciones, búsqueda en grafos y métodos de muestreo. Avisar de que el A* de hoy cae con números en el parcial 2. Plan: 0-5 recuperación; 5-15 formulación; 15-25 mapas de ocupación y de coste; 25-40 transformada de distancia y A*; 40-52 PRM y RRT; 52-60 campos potenciales y cierre.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Leer las dos figuras de los cuadernos. La izquierda es el argumento visual de la heurística admisible: mismo camino óptimo, pero Dijkstra expande 2332 nodos y A* solo 1017; la heurística no cambia la respuesta, cambia el trabajo. La derecha muestra el RRT creciendo: cada muestra tira del árbol hacia el espacio vacío, que es literalmente la frase de Lynch y Park.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Formular el problema en el espacio de configuraciones y explicar el truco fundacional: inflar los obstáculos con el radio convierte al robot en un punto, y es exactamente la capa de inflado del costmap de Nav2. Distinguir los dos mapas con el ejemplo preparado: dos rutas igual de cortas, una pegada a la pared y otra por el centro; decide el coste, no la ocupación. Dejar el vocabulario de garantías enunciado.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cuatro algoritmos con su criterio de uso. Contar la anécdota de Shakey y el origen de A* en 1968. Mencionar D* (replanifica en marcha) y la variante con recableado de RRT. Para el parcial basta A*: coste acumulado más heurística, y optimalidad solo con heurística admisible.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Mensaje arquitectónico: Nav2 no es un algoritmo sino la casa donde viven los algoritmos de S35 y los filtros de B6. Plan: 0-5 recuperación; 5-20 servidores; 20-38 costmaps por capas; 38-52 árboles de comportamiento y AMCL; 52-60 demostración en simulación.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piezas subrayando los dos reencuentros: las capas del costmap son la teoría de S35 hecha plugin, y AMCL es el filtro de partículas de B6 convertido en nodo. En la demostración, fijar una meta en RViz y narrar qué servidor actúa y qué rama del árbol se dispara al bloquear el paso.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bloque y del semestre técnico: manipulación e integración. La foto de paletizado es la tarea canónica. Plan: 0-10 recuperación; 10-35 move_group y planning scene; 35-55 OMPL; 55-65 descanso; 65-90 planificación cartesiana; 90-105 integración y síntesis; 105-120 cuestionario B7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tarjetas: el orquestador, el modelo del mundo (planificar sin escena es planificar contra el aire; aquí entra la percepción de B6), la biblioteca de planificadores con RRT-Connect como caballo de batalla, y la decisión cartesiano frente a articular con su riesgo de singularidad. Cierre del semestre técnico en pizarra: dibujar el stack completo señalando qué bloque aporta cada caja. Últimos 15 minutos: cuestionario B7 en Moodle.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olab.research.google.com/github/grcarmenaty/MecatronicaRobotica/blob/claude/verify-teaching-materials-7mpq8x/cuadernos/82514_S34_Entorno_ROS2_TF2.ipyn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olab.research.google.com/github/grcarmenaty/MecatronicaRobotica/blob/claude/verify-teaching-materials-7mpq8x/cuadernos/82514_S35_Planificacion.ipynb"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gif"/><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7</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Software robótico: ROS 2,</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simulación y planificación</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S32–S37 · 8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25, 26 y 27 de noviembre y 2, 3 y 4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7</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554480"/>
            <a:ext cx="10881360" cy="713232"/>
          </a:xfrm>
          <a:prstGeom prst="roundRect">
            <a:avLst>
              <a:gd name="adj" fmla="val 10256"/>
            </a:avLst>
          </a:prstGeom>
          <a:solidFill>
            <a:srgbClr val="F2F4FB"/>
          </a:solidFill>
          <a:ln/>
        </p:spPr>
        <p:txBody>
          <a:bodyPr/>
          <a:p/>
        </p:txBody>
      </p:sp>
      <p:sp>
        <p:nvSpPr>
          <p:cNvPr id="5" name="Shape 3"/>
          <p:cNvSpPr/>
          <p:nvPr/>
        </p:nvSpPr>
        <p:spPr>
          <a:xfrm>
            <a:off x="841248" y="1682496"/>
            <a:ext cx="457200" cy="457200"/>
          </a:xfrm>
          <a:prstGeom prst="ellipse">
            <a:avLst/>
          </a:prstGeom>
          <a:solidFill>
            <a:srgbClr val="2FD26E"/>
          </a:solidFill>
          <a:ln/>
        </p:spPr>
        <p:txBody>
          <a:bodyPr/>
          <a:p/>
        </p:txBody>
      </p:sp>
      <p:sp>
        <p:nvSpPr>
          <p:cNvPr id="6" name="Text 4"/>
          <p:cNvSpPr/>
          <p:nvPr/>
        </p:nvSpPr>
        <p:spPr>
          <a:xfrm>
            <a:off x="841248" y="16824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554480"/>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S32 · mié 25 nov · 1 h </a:t>
            </a:r>
            <a:pPr indent="0" marL="0">
              <a:buNone/>
            </a:pPr>
            <a:r>
              <a:rPr lang="en-US" sz="1200" dirty="0">
                <a:solidFill>
                  <a:srgbClr val="1A1A2E"/>
                </a:solidFill>
                <a:latin typeface="Calibri" pitchFamily="34" charset="0"/>
                <a:ea typeface="Calibri" pitchFamily="34" charset="-122"/>
                <a:cs typeface="Calibri" pitchFamily="34" charset="-120"/>
              </a:rPr>
              <a:t>, Arquitectura de ROS 2: nodos, topics, DDS y QoS</a:t>
            </a:r>
            <a:endParaRPr lang="en-US" sz="1300" dirty="0"/>
          </a:p>
        </p:txBody>
      </p:sp>
      <p:sp>
        <p:nvSpPr>
          <p:cNvPr id="8" name="Shape 6"/>
          <p:cNvSpPr/>
          <p:nvPr/>
        </p:nvSpPr>
        <p:spPr>
          <a:xfrm>
            <a:off x="640080" y="2395728"/>
            <a:ext cx="10881360" cy="713232"/>
          </a:xfrm>
          <a:prstGeom prst="roundRect">
            <a:avLst>
              <a:gd name="adj" fmla="val 10256"/>
            </a:avLst>
          </a:prstGeom>
          <a:solidFill>
            <a:srgbClr val="F2F4FB"/>
          </a:solidFill>
          <a:ln/>
        </p:spPr>
        <p:txBody>
          <a:bodyPr/>
          <a:p/>
        </p:txBody>
      </p:sp>
      <p:sp>
        <p:nvSpPr>
          <p:cNvPr id="9" name="Shape 7"/>
          <p:cNvSpPr/>
          <p:nvPr/>
        </p:nvSpPr>
        <p:spPr>
          <a:xfrm>
            <a:off x="841248" y="2523744"/>
            <a:ext cx="457200" cy="457200"/>
          </a:xfrm>
          <a:prstGeom prst="ellipse">
            <a:avLst/>
          </a:prstGeom>
          <a:solidFill>
            <a:srgbClr val="2FD26E"/>
          </a:solidFill>
          <a:ln/>
        </p:spPr>
        <p:txBody>
          <a:bodyPr/>
          <a:p/>
        </p:txBody>
      </p:sp>
      <p:sp>
        <p:nvSpPr>
          <p:cNvPr id="10" name="Text 8"/>
          <p:cNvSpPr/>
          <p:nvPr/>
        </p:nvSpPr>
        <p:spPr>
          <a:xfrm>
            <a:off x="841248" y="2523744"/>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395728"/>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S33 · jue 26 nov · 1 h </a:t>
            </a:r>
            <a:pPr indent="0" marL="0">
              <a:buNone/>
            </a:pPr>
            <a:r>
              <a:rPr lang="en-US" sz="1200" dirty="0">
                <a:solidFill>
                  <a:srgbClr val="1A1A2E"/>
                </a:solidFill>
                <a:latin typeface="Calibri" pitchFamily="34" charset="0"/>
                <a:ea typeface="Calibri" pitchFamily="34" charset="-122"/>
                <a:cs typeface="Calibri" pitchFamily="34" charset="-120"/>
              </a:rPr>
              <a:t>, Servicios, acciones, parámetros, launch y colcon</a:t>
            </a:r>
            <a:endParaRPr lang="en-US" sz="1300" dirty="0"/>
          </a:p>
        </p:txBody>
      </p:sp>
      <p:sp>
        <p:nvSpPr>
          <p:cNvPr id="12" name="Shape 10"/>
          <p:cNvSpPr/>
          <p:nvPr/>
        </p:nvSpPr>
        <p:spPr>
          <a:xfrm>
            <a:off x="640080" y="3236976"/>
            <a:ext cx="10881360" cy="713232"/>
          </a:xfrm>
          <a:prstGeom prst="roundRect">
            <a:avLst>
              <a:gd name="adj" fmla="val 10256"/>
            </a:avLst>
          </a:prstGeom>
          <a:solidFill>
            <a:srgbClr val="F2F4FB"/>
          </a:solidFill>
          <a:ln/>
        </p:spPr>
        <p:txBody>
          <a:bodyPr/>
          <a:p/>
        </p:txBody>
      </p:sp>
      <p:sp>
        <p:nvSpPr>
          <p:cNvPr id="13" name="Shape 11"/>
          <p:cNvSpPr/>
          <p:nvPr/>
        </p:nvSpPr>
        <p:spPr>
          <a:xfrm>
            <a:off x="841248" y="3364992"/>
            <a:ext cx="457200" cy="457200"/>
          </a:xfrm>
          <a:prstGeom prst="ellipse">
            <a:avLst/>
          </a:prstGeom>
          <a:solidFill>
            <a:srgbClr val="2FD26E"/>
          </a:solidFill>
          <a:ln/>
        </p:spPr>
        <p:txBody>
          <a:bodyPr/>
          <a:p/>
        </p:txBody>
      </p:sp>
      <p:sp>
        <p:nvSpPr>
          <p:cNvPr id="14" name="Text 12"/>
          <p:cNvSpPr/>
          <p:nvPr/>
        </p:nvSpPr>
        <p:spPr>
          <a:xfrm>
            <a:off x="841248" y="3364992"/>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236976"/>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S34 · vie 27 nov · 2 h </a:t>
            </a:r>
            <a:pPr indent="0" marL="0">
              <a:buNone/>
            </a:pPr>
            <a:r>
              <a:rPr lang="en-US" sz="1200" dirty="0">
                <a:solidFill>
                  <a:srgbClr val="1A1A2E"/>
                </a:solidFill>
                <a:latin typeface="Calibri" pitchFamily="34" charset="0"/>
                <a:ea typeface="Calibri" pitchFamily="34" charset="-122"/>
                <a:cs typeface="Calibri" pitchFamily="34" charset="-120"/>
              </a:rPr>
              <a:t>, Taller: nodo rclpy, simulación en Gazebo y TF2</a:t>
            </a:r>
            <a:endParaRPr lang="en-US" sz="1300" dirty="0"/>
          </a:p>
        </p:txBody>
      </p:sp>
      <p:sp>
        <p:nvSpPr>
          <p:cNvPr id="16" name="Shape 14"/>
          <p:cNvSpPr/>
          <p:nvPr/>
        </p:nvSpPr>
        <p:spPr>
          <a:xfrm>
            <a:off x="640080" y="4078224"/>
            <a:ext cx="10881360" cy="713232"/>
          </a:xfrm>
          <a:prstGeom prst="roundRect">
            <a:avLst>
              <a:gd name="adj" fmla="val 10256"/>
            </a:avLst>
          </a:prstGeom>
          <a:solidFill>
            <a:srgbClr val="F2F4FB"/>
          </a:solidFill>
          <a:ln/>
        </p:spPr>
        <p:txBody>
          <a:bodyPr/>
          <a:p/>
        </p:txBody>
      </p:sp>
      <p:sp>
        <p:nvSpPr>
          <p:cNvPr id="17" name="Shape 15"/>
          <p:cNvSpPr/>
          <p:nvPr/>
        </p:nvSpPr>
        <p:spPr>
          <a:xfrm>
            <a:off x="841248" y="4206240"/>
            <a:ext cx="457200" cy="457200"/>
          </a:xfrm>
          <a:prstGeom prst="ellipse">
            <a:avLst/>
          </a:prstGeom>
          <a:solidFill>
            <a:srgbClr val="2FD26E"/>
          </a:solidFill>
          <a:ln/>
        </p:spPr>
        <p:txBody>
          <a:bodyPr/>
          <a:p/>
        </p:txBody>
      </p:sp>
      <p:sp>
        <p:nvSpPr>
          <p:cNvPr id="18" name="Text 16"/>
          <p:cNvSpPr/>
          <p:nvPr/>
        </p:nvSpPr>
        <p:spPr>
          <a:xfrm>
            <a:off x="841248" y="4206240"/>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078224"/>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S35 · mié 2 dic · 1 h </a:t>
            </a:r>
            <a:pPr indent="0" marL="0">
              <a:buNone/>
            </a:pPr>
            <a:r>
              <a:rPr lang="en-US" sz="1200" dirty="0">
                <a:solidFill>
                  <a:srgbClr val="1A1A2E"/>
                </a:solidFill>
                <a:latin typeface="Calibri" pitchFamily="34" charset="0"/>
                <a:ea typeface="Calibri" pitchFamily="34" charset="-122"/>
                <a:cs typeface="Calibri" pitchFamily="34" charset="-120"/>
              </a:rPr>
              <a:t>, Planificación: mapas, A*, PRM y RRT</a:t>
            </a:r>
            <a:endParaRPr lang="en-US" sz="1300" dirty="0"/>
          </a:p>
        </p:txBody>
      </p:sp>
      <p:sp>
        <p:nvSpPr>
          <p:cNvPr id="20" name="Shape 18"/>
          <p:cNvSpPr/>
          <p:nvPr/>
        </p:nvSpPr>
        <p:spPr>
          <a:xfrm>
            <a:off x="640080" y="4919472"/>
            <a:ext cx="10881360" cy="713232"/>
          </a:xfrm>
          <a:prstGeom prst="roundRect">
            <a:avLst>
              <a:gd name="adj" fmla="val 10256"/>
            </a:avLst>
          </a:prstGeom>
          <a:solidFill>
            <a:srgbClr val="F2F4FB"/>
          </a:solidFill>
          <a:ln/>
        </p:spPr>
        <p:txBody>
          <a:bodyPr/>
          <a:p/>
        </p:txBody>
      </p:sp>
      <p:sp>
        <p:nvSpPr>
          <p:cNvPr id="21" name="Shape 19"/>
          <p:cNvSpPr/>
          <p:nvPr/>
        </p:nvSpPr>
        <p:spPr>
          <a:xfrm>
            <a:off x="841248" y="5047488"/>
            <a:ext cx="457200" cy="457200"/>
          </a:xfrm>
          <a:prstGeom prst="ellipse">
            <a:avLst/>
          </a:prstGeom>
          <a:solidFill>
            <a:srgbClr val="2FD26E"/>
          </a:solidFill>
          <a:ln/>
        </p:spPr>
        <p:txBody>
          <a:bodyPr/>
          <a:p/>
        </p:txBody>
      </p:sp>
      <p:sp>
        <p:nvSpPr>
          <p:cNvPr id="22" name="Text 20"/>
          <p:cNvSpPr/>
          <p:nvPr/>
        </p:nvSpPr>
        <p:spPr>
          <a:xfrm>
            <a:off x="841248" y="504748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4919472"/>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S36 · jue 3 dic · 1 h </a:t>
            </a:r>
            <a:pPr indent="0" marL="0">
              <a:buNone/>
            </a:pPr>
            <a:r>
              <a:rPr lang="en-US" sz="1200" dirty="0">
                <a:solidFill>
                  <a:srgbClr val="1A1A2E"/>
                </a:solidFill>
                <a:latin typeface="Calibri" pitchFamily="34" charset="0"/>
                <a:ea typeface="Calibri" pitchFamily="34" charset="-122"/>
                <a:cs typeface="Calibri" pitchFamily="34" charset="-120"/>
              </a:rPr>
              <a:t>, Navegación autónoma con Nav2</a:t>
            </a:r>
            <a:endParaRPr lang="en-US" sz="1300" dirty="0"/>
          </a:p>
        </p:txBody>
      </p:sp>
      <p:sp>
        <p:nvSpPr>
          <p:cNvPr id="24" name="Shape 22"/>
          <p:cNvSpPr/>
          <p:nvPr/>
        </p:nvSpPr>
        <p:spPr>
          <a:xfrm>
            <a:off x="640080" y="5760720"/>
            <a:ext cx="10881360" cy="713232"/>
          </a:xfrm>
          <a:prstGeom prst="roundRect">
            <a:avLst>
              <a:gd name="adj" fmla="val 10256"/>
            </a:avLst>
          </a:prstGeom>
          <a:solidFill>
            <a:srgbClr val="F2F4FB"/>
          </a:solidFill>
          <a:ln/>
        </p:spPr>
        <p:txBody>
          <a:bodyPr/>
          <a:p/>
        </p:txBody>
      </p:sp>
      <p:sp>
        <p:nvSpPr>
          <p:cNvPr id="25" name="Shape 23"/>
          <p:cNvSpPr/>
          <p:nvPr/>
        </p:nvSpPr>
        <p:spPr>
          <a:xfrm>
            <a:off x="841248" y="5888736"/>
            <a:ext cx="457200" cy="457200"/>
          </a:xfrm>
          <a:prstGeom prst="ellipse">
            <a:avLst/>
          </a:prstGeom>
          <a:solidFill>
            <a:srgbClr val="2FD26E"/>
          </a:solidFill>
          <a:ln/>
        </p:spPr>
        <p:txBody>
          <a:bodyPr/>
          <a:p/>
        </p:txBody>
      </p:sp>
      <p:sp>
        <p:nvSpPr>
          <p:cNvPr id="26" name="Text 24"/>
          <p:cNvSpPr/>
          <p:nvPr/>
        </p:nvSpPr>
        <p:spPr>
          <a:xfrm>
            <a:off x="841248" y="58887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1481328" y="5760720"/>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S37 · vie 4 dic · 2 h </a:t>
            </a:r>
            <a:pPr indent="0" marL="0">
              <a:buNone/>
            </a:pPr>
            <a:r>
              <a:rPr lang="en-US" sz="1200" dirty="0">
                <a:solidFill>
                  <a:srgbClr val="1A1A2E"/>
                </a:solidFill>
                <a:latin typeface="Calibri" pitchFamily="34" charset="0"/>
                <a:ea typeface="Calibri" pitchFamily="34" charset="-122"/>
                <a:cs typeface="Calibri" pitchFamily="34" charset="-120"/>
              </a:rPr>
              <a:t>, Manipulación con MoveIt 2 e integración del stack</a:t>
            </a:r>
            <a:endParaRPr lang="en-US" sz="1300" dirty="0"/>
          </a:p>
        </p:txBody>
      </p:sp>
      <p:sp>
        <p:nvSpPr>
          <p:cNvPr id="29" name="Text 2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B7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Arquitectura de ROS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Grafo de computación · topics y mensajes · DDS y QoS</a:t>
            </a:r>
            <a:endParaRPr lang="en-US" sz="1600" dirty="0"/>
          </a:p>
        </p:txBody>
      </p:sp>
      <p:pic>
        <p:nvPicPr>
          <p:cNvPr id="8" name="Image 0" descr="/home/claude/work/curso_82514/media/fotos/b7_roomba2.jpg">    </p:cNvPr>
          <p:cNvPicPr>
            <a:picLocks noChangeAspect="1"/>
          </p:cNvPicPr>
          <p:nvPr/>
        </p:nvPicPr>
        <p:blipFill>
          <a:blip r:embed="rId1"/>
          <a:stretch>
            <a:fillRect/>
          </a:stretch>
        </p:blipFill>
        <p:spPr>
          <a:xfrm>
            <a:off x="8229600" y="3035808"/>
            <a:ext cx="2926080" cy="2926080"/>
          </a:xfrm>
          <a:prstGeom prst="rect">
            <a:avLst/>
          </a:prstGeom>
        </p:spPr>
      </p:pic>
      <p:sp>
        <p:nvSpPr>
          <p:cNvPr id="9" name="Shape 6"/>
          <p:cNvSpPr/>
          <p:nvPr/>
        </p:nvSpPr>
        <p:spPr>
          <a:xfrm>
            <a:off x="8229600" y="5961888"/>
            <a:ext cx="2926080" cy="54864"/>
          </a:xfrm>
          <a:prstGeom prst="rect">
            <a:avLst/>
          </a:prstGeom>
          <a:solidFill>
            <a:srgbClr val="2FD26E"/>
          </a:solidFill>
          <a:ln/>
        </p:spPr>
        <p:txBody>
          <a:bodyPr/>
          <a:p/>
        </p:txBody>
      </p:sp>
      <p:sp>
        <p:nvSpPr>
          <p:cNvPr id="10" name="Text 7"/>
          <p:cNvSpPr/>
          <p:nvPr/>
        </p:nvSpPr>
        <p:spPr>
          <a:xfrm>
            <a:off x="7589520" y="608990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Roomba: un grafo de sensores y nodos con ruedas</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CEphoto, U. Aranas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S32–S36 · HARDWARE DE REFERENCIA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Las plataformas del stack</a:t>
            </a:r>
            <a:endParaRPr lang="en-US" sz="3000" dirty="0"/>
          </a:p>
        </p:txBody>
      </p:sp>
      <p:pic>
        <p:nvPicPr>
          <p:cNvPr id="4" name="Image 0" descr="/home/claude/work/curso_82514/media/fotos/b7_turtlebot.jpg">    </p:cNvPr>
          <p:cNvPicPr>
            <a:picLocks noChangeAspect="1"/>
          </p:cNvPicPr>
          <p:nvPr/>
        </p:nvPicPr>
        <p:blipFill>
          <a:blip r:embed="rId1"/>
          <a:stretch>
            <a:fillRect/>
          </a:stretch>
        </p:blipFill>
        <p:spPr>
          <a:xfrm>
            <a:off x="1640103" y="1371600"/>
            <a:ext cx="3349195" cy="4572000"/>
          </a:xfrm>
          <a:prstGeom prst="rect">
            <a:avLst/>
          </a:prstGeom>
        </p:spPr>
      </p:pic>
      <p:sp>
        <p:nvSpPr>
          <p:cNvPr id="5" name="Text 2"/>
          <p:cNvSpPr/>
          <p:nvPr/>
        </p:nvSpPr>
        <p:spPr>
          <a:xfrm>
            <a:off x="640080" y="5980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TurtleBot3: la plataforma de referencia de ROS 2 y Nav2</a:t>
            </a:r>
            <a:endParaRPr lang="en-US" sz="1050" dirty="0"/>
          </a:p>
        </p:txBody>
      </p:sp>
      <p:pic>
        <p:nvPicPr>
          <p:cNvPr id="6" name="Image 1" descr="/home/claude/work/curso_82514/media/fotos/b7_almacen.jpg">    </p:cNvPr>
          <p:cNvPicPr>
            <a:picLocks noChangeAspect="1"/>
          </p:cNvPicPr>
          <p:nvPr/>
        </p:nvPicPr>
        <p:blipFill>
          <a:blip r:embed="rId2"/>
          <a:stretch>
            <a:fillRect/>
          </a:stretch>
        </p:blipFill>
        <p:spPr>
          <a:xfrm>
            <a:off x="6172200" y="1817406"/>
            <a:ext cx="5349240" cy="3680389"/>
          </a:xfrm>
          <a:prstGeom prst="rect">
            <a:avLst/>
          </a:prstGeom>
        </p:spPr>
      </p:pic>
      <p:sp>
        <p:nvSpPr>
          <p:cNvPr id="7" name="Text 3"/>
          <p:cNvSpPr/>
          <p:nvPr/>
        </p:nvSpPr>
        <p:spPr>
          <a:xfrm>
            <a:off x="6172200" y="5534370"/>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Flota de robots de almacén (Ocado): el AMR de S6, en producción</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Kuscu0 CC BY-SA 4.0 · Techwords CC BY-SA 4.0 · Wikimedia Commons</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 · ARQUITECTURA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un programa único a un grafo de procesos</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La idea que organiza todo el ecosistema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sistema robótico no es un programa: es un conjunto de procesos independientes, nodos, que se comunican por mensajes.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Cada nodo hace una cosa: leer el LiDAR, estimar la pose, planificar, mandar velocidades a las ruedas.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 ingeniería: se sustituye un nodo sin tocar los demás, se reutiliza código entre robots y se depura por partes.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precio: ya no hay una traza de ejecución única; depurar exige inspeccionar el grafo y los flujos de mensajes.</a:t>
            </a:r>
            <a:endParaRPr lang="en-US" sz="1500" dirty="0"/>
          </a:p>
        </p:txBody>
      </p:sp>
      <p:sp>
        <p:nvSpPr>
          <p:cNvPr id="5" name="Shape 3"/>
          <p:cNvSpPr/>
          <p:nvPr/>
        </p:nvSpPr>
        <p:spPr>
          <a:xfrm>
            <a:off x="7223760" y="1554480"/>
            <a:ext cx="4297680" cy="4480560"/>
          </a:xfrm>
          <a:prstGeom prst="roundRect">
            <a:avLst>
              <a:gd name="adj" fmla="val 1702"/>
            </a:avLst>
          </a:prstGeom>
          <a:solidFill>
            <a:srgbClr val="F2F4FB"/>
          </a:solidFill>
          <a:ln/>
        </p:spPr>
        <p:txBody>
          <a:bodyPr/>
          <a:p/>
        </p:txBody>
      </p:sp>
      <p:sp>
        <p:nvSpPr>
          <p:cNvPr id="6" name="Text 4"/>
          <p:cNvSpPr/>
          <p:nvPr/>
        </p:nvSpPr>
        <p:spPr>
          <a:xfrm>
            <a:off x="7424928" y="17007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Herramientas de inspección</a:t>
            </a:r>
            <a:endParaRPr lang="en-US" sz="1500" dirty="0"/>
          </a:p>
        </p:txBody>
      </p:sp>
      <p:sp>
        <p:nvSpPr>
          <p:cNvPr id="7" name="Text 5"/>
          <p:cNvSpPr/>
          <p:nvPr/>
        </p:nvSpPr>
        <p:spPr>
          <a:xfrm>
            <a:off x="7424928" y="2194560"/>
            <a:ext cx="389534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ros2 node list, qué está corriendo</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list, qué canales existen</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echo, ver mensajes en vivo</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hz, frecuencia real</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rqt_graph, el grafo dibujado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Estos cinco comandos resuelven la mayoría de los problemas del taller.</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Understanding nodes and topics</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 · TRANSPORTE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DDS y calidad de servicio</a:t>
            </a:r>
            <a:endParaRPr lang="en-US" sz="3000" dirty="0"/>
          </a:p>
        </p:txBody>
      </p:sp>
      <p:sp>
        <p:nvSpPr>
          <p:cNvPr id="4" name="Shape 2"/>
          <p:cNvSpPr/>
          <p:nvPr/>
        </p:nvSpPr>
        <p:spPr>
          <a:xfrm>
            <a:off x="640080" y="1572768"/>
            <a:ext cx="5394960" cy="2103120"/>
          </a:xfrm>
          <a:prstGeom prst="roundRect">
            <a:avLst>
              <a:gd name="adj" fmla="val 3478"/>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DDS: el transporte real</a:t>
            </a:r>
            <a:endParaRPr lang="en-US" sz="1500" dirty="0"/>
          </a:p>
        </p:txBody>
      </p:sp>
      <p:sp>
        <p:nvSpPr>
          <p:cNvPr id="6" name="Text 4"/>
          <p:cNvSpPr/>
          <p:nvPr/>
        </p:nvSpPr>
        <p:spPr>
          <a:xfrm>
            <a:off x="841248" y="221284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ROS 2 no inventa su capa de red: se apoya en DDS, un estándar industrial de publicación/suscripción con descubrimiento automático. Por eso no hay un nodo maestro central como en ROS 1.</a:t>
            </a:r>
            <a:endParaRPr lang="en-US" sz="1250" dirty="0"/>
          </a:p>
        </p:txBody>
      </p:sp>
      <p:sp>
        <p:nvSpPr>
          <p:cNvPr id="7" name="Shape 5"/>
          <p:cNvSpPr/>
          <p:nvPr/>
        </p:nvSpPr>
        <p:spPr>
          <a:xfrm>
            <a:off x="6263640" y="1572768"/>
            <a:ext cx="5257800" cy="2103120"/>
          </a:xfrm>
          <a:prstGeom prst="roundRect">
            <a:avLst>
              <a:gd name="adj" fmla="val 3478"/>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en el aula</a:t>
            </a:r>
            <a:endParaRPr lang="en-US" sz="1500" dirty="0"/>
          </a:p>
        </p:txBody>
      </p:sp>
      <p:sp>
        <p:nvSpPr>
          <p:cNvPr id="9" name="Text 7"/>
          <p:cNvSpPr/>
          <p:nvPr/>
        </p:nvSpPr>
        <p:spPr>
          <a:xfrm>
            <a:off x="6464808" y="2212848"/>
            <a:ext cx="485546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dos ordenadores comparten red, sus grafos se ven entre sí. Aislar los equipos con ROS_DOMAIN_ID distintos evita horas de confusión en el taller.</a:t>
            </a:r>
            <a:endParaRPr lang="en-US" sz="1250" dirty="0"/>
          </a:p>
        </p:txBody>
      </p:sp>
      <p:sp>
        <p:nvSpPr>
          <p:cNvPr id="10" name="Shape 8"/>
          <p:cNvSpPr/>
          <p:nvPr/>
        </p:nvSpPr>
        <p:spPr>
          <a:xfrm>
            <a:off x="640080" y="3886200"/>
            <a:ext cx="3474720" cy="2103120"/>
          </a:xfrm>
          <a:prstGeom prst="roundRect">
            <a:avLst>
              <a:gd name="adj" fmla="val 3478"/>
            </a:avLst>
          </a:prstGeom>
          <a:solidFill>
            <a:srgbClr val="F2F4FB"/>
          </a:solidFill>
          <a:ln/>
        </p:spPr>
        <p:txBody>
          <a:bodyPr/>
          <a:p/>
        </p:txBody>
      </p:sp>
      <p:sp>
        <p:nvSpPr>
          <p:cNvPr id="11" name="Shape 9"/>
          <p:cNvSpPr/>
          <p:nvPr/>
        </p:nvSpPr>
        <p:spPr>
          <a:xfrm>
            <a:off x="822960" y="4069080"/>
            <a:ext cx="457200" cy="457200"/>
          </a:xfrm>
          <a:prstGeom prst="ellipse">
            <a:avLst/>
          </a:prstGeom>
          <a:solidFill>
            <a:srgbClr val="2FD26E"/>
          </a:solidFill>
          <a:ln/>
        </p:spPr>
        <p:txBody>
          <a:bodyPr/>
          <a:p/>
        </p:txBody>
      </p:sp>
      <p:sp>
        <p:nvSpPr>
          <p:cNvPr id="12" name="Text 10"/>
          <p:cNvSpPr/>
          <p:nvPr/>
        </p:nvSpPr>
        <p:spPr>
          <a:xfrm>
            <a:off x="82296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13" name="Text 11"/>
          <p:cNvSpPr/>
          <p:nvPr/>
        </p:nvSpPr>
        <p:spPr>
          <a:xfrm>
            <a:off x="141732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Fiabilidad</a:t>
            </a:r>
            <a:endParaRPr lang="en-US" sz="1350" dirty="0"/>
          </a:p>
        </p:txBody>
      </p:sp>
      <p:sp>
        <p:nvSpPr>
          <p:cNvPr id="14" name="Text 12"/>
          <p:cNvSpPr/>
          <p:nvPr/>
        </p:nvSpPr>
        <p:spPr>
          <a:xfrm>
            <a:off x="84124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reliable reenvía hasta confirmar; best effort descarta. Un LiDAR a 40 Hz prefiere best effort; una orden de parada, reliable</a:t>
            </a:r>
            <a:endParaRPr lang="en-US" sz="1150" dirty="0"/>
          </a:p>
        </p:txBody>
      </p:sp>
      <p:sp>
        <p:nvSpPr>
          <p:cNvPr id="15" name="Shape 13"/>
          <p:cNvSpPr/>
          <p:nvPr/>
        </p:nvSpPr>
        <p:spPr>
          <a:xfrm>
            <a:off x="4343400" y="3886200"/>
            <a:ext cx="3474720" cy="2103120"/>
          </a:xfrm>
          <a:prstGeom prst="roundRect">
            <a:avLst>
              <a:gd name="adj" fmla="val 3478"/>
            </a:avLst>
          </a:prstGeom>
          <a:solidFill>
            <a:srgbClr val="F2F4FB"/>
          </a:solidFill>
          <a:ln/>
        </p:spPr>
        <p:txBody>
          <a:bodyPr/>
          <a:p/>
        </p:txBody>
      </p:sp>
      <p:sp>
        <p:nvSpPr>
          <p:cNvPr id="16" name="Shape 14"/>
          <p:cNvSpPr/>
          <p:nvPr/>
        </p:nvSpPr>
        <p:spPr>
          <a:xfrm>
            <a:off x="4526280" y="4069080"/>
            <a:ext cx="457200" cy="457200"/>
          </a:xfrm>
          <a:prstGeom prst="ellipse">
            <a:avLst/>
          </a:prstGeom>
          <a:solidFill>
            <a:srgbClr val="2FD26E"/>
          </a:solidFill>
          <a:ln/>
        </p:spPr>
        <p:txBody>
          <a:bodyPr/>
          <a:p/>
        </p:txBody>
      </p:sp>
      <p:sp>
        <p:nvSpPr>
          <p:cNvPr id="17" name="Text 15"/>
          <p:cNvSpPr/>
          <p:nvPr/>
        </p:nvSpPr>
        <p:spPr>
          <a:xfrm>
            <a:off x="452628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8" name="Text 16"/>
          <p:cNvSpPr/>
          <p:nvPr/>
        </p:nvSpPr>
        <p:spPr>
          <a:xfrm>
            <a:off x="512064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Durabilidad</a:t>
            </a:r>
            <a:endParaRPr lang="en-US" sz="1350" dirty="0"/>
          </a:p>
        </p:txBody>
      </p:sp>
      <p:sp>
        <p:nvSpPr>
          <p:cNvPr id="19" name="Text 17"/>
          <p:cNvSpPr/>
          <p:nvPr/>
        </p:nvSpPr>
        <p:spPr>
          <a:xfrm>
            <a:off x="454456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transient local guarda el último mensaje para quien llegue tarde: así funcionan los mapas y las descripciones del robot</a:t>
            </a:r>
            <a:endParaRPr lang="en-US" sz="1150" dirty="0"/>
          </a:p>
        </p:txBody>
      </p:sp>
      <p:sp>
        <p:nvSpPr>
          <p:cNvPr id="20" name="Shape 18"/>
          <p:cNvSpPr/>
          <p:nvPr/>
        </p:nvSpPr>
        <p:spPr>
          <a:xfrm>
            <a:off x="8046720" y="3886200"/>
            <a:ext cx="3474720" cy="2103120"/>
          </a:xfrm>
          <a:prstGeom prst="roundRect">
            <a:avLst>
              <a:gd name="adj" fmla="val 3478"/>
            </a:avLst>
          </a:prstGeom>
          <a:solidFill>
            <a:srgbClr val="F2F4FB"/>
          </a:solidFill>
          <a:ln/>
        </p:spPr>
        <p:txBody>
          <a:bodyPr/>
          <a:p/>
        </p:txBody>
      </p:sp>
      <p:sp>
        <p:nvSpPr>
          <p:cNvPr id="21" name="Shape 19"/>
          <p:cNvSpPr/>
          <p:nvPr/>
        </p:nvSpPr>
        <p:spPr>
          <a:xfrm>
            <a:off x="8229600" y="4069080"/>
            <a:ext cx="457200" cy="457200"/>
          </a:xfrm>
          <a:prstGeom prst="ellipse">
            <a:avLst/>
          </a:prstGeom>
          <a:solidFill>
            <a:srgbClr val="2FD26E"/>
          </a:solidFill>
          <a:ln/>
        </p:spPr>
        <p:txBody>
          <a:bodyPr/>
          <a:p/>
        </p:txBody>
      </p:sp>
      <p:sp>
        <p:nvSpPr>
          <p:cNvPr id="22" name="Text 20"/>
          <p:cNvSpPr/>
          <p:nvPr/>
        </p:nvSpPr>
        <p:spPr>
          <a:xfrm>
            <a:off x="822960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882396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Perfil incompatible</a:t>
            </a:r>
            <a:endParaRPr lang="en-US" sz="1350" dirty="0"/>
          </a:p>
        </p:txBody>
      </p:sp>
      <p:sp>
        <p:nvSpPr>
          <p:cNvPr id="24" name="Text 22"/>
          <p:cNvSpPr/>
          <p:nvPr/>
        </p:nvSpPr>
        <p:spPr>
          <a:xfrm>
            <a:off x="824788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Si publicador y suscriptor no acuerdan perfil, no se conectan y no hay error visible: causa clásica de «no llega nada»</a:t>
            </a:r>
            <a:endParaRPr lang="en-US" sz="1150" dirty="0"/>
          </a:p>
        </p:txBody>
      </p:sp>
      <p:sp>
        <p:nvSpPr>
          <p:cNvPr id="26" name="Text 2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About QoS settings · About DDS/RMW</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Servicios, acciones y orquestación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Servicios · acciones · parámetros · launch · colcon</a:t>
            </a:r>
            <a:endParaRPr lang="en-US" sz="16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S33 · COMUNICACIÓN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formas de comunicar, tres semánticas</a:t>
            </a:r>
            <a:endParaRPr lang="en-US" sz="3000" dirty="0"/>
          </a:p>
        </p:txBody>
      </p:sp>
      <p:sp>
        <p:nvSpPr>
          <p:cNvPr id="4" name="Shape 2"/>
          <p:cNvSpPr/>
          <p:nvPr/>
        </p:nvSpPr>
        <p:spPr>
          <a:xfrm>
            <a:off x="640080" y="1600200"/>
            <a:ext cx="3474720" cy="3200400"/>
          </a:xfrm>
          <a:prstGeom prst="roundRect">
            <a:avLst>
              <a:gd name="adj" fmla="val 2286"/>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Topic</a:t>
            </a:r>
            <a:endParaRPr lang="en-US" sz="1500" dirty="0"/>
          </a:p>
        </p:txBody>
      </p:sp>
      <p:sp>
        <p:nvSpPr>
          <p:cNvPr id="8" name="Text 6"/>
          <p:cNvSpPr/>
          <p:nvPr/>
        </p:nvSpPr>
        <p:spPr>
          <a:xfrm>
            <a:off x="84124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Flujo continuo, sin respuesta, muchos a muchos.</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Datos de sensor, comandos de velocidad, estado.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«Publico lo que sé; quien quiera, que escuche».</a:t>
            </a:r>
            <a:endParaRPr lang="en-US" sz="1200" dirty="0"/>
          </a:p>
        </p:txBody>
      </p:sp>
      <p:sp>
        <p:nvSpPr>
          <p:cNvPr id="9" name="Shape 7"/>
          <p:cNvSpPr/>
          <p:nvPr/>
        </p:nvSpPr>
        <p:spPr>
          <a:xfrm>
            <a:off x="4343400" y="1600200"/>
            <a:ext cx="3474720" cy="3200400"/>
          </a:xfrm>
          <a:prstGeom prst="roundRect">
            <a:avLst>
              <a:gd name="adj" fmla="val 2286"/>
            </a:avLst>
          </a:prstGeom>
          <a:solidFill>
            <a:srgbClr val="F2F4FB"/>
          </a:solidFill>
          <a:ln/>
        </p:spPr>
        <p:txBody>
          <a:bodyPr/>
          <a:p/>
        </p:txBody>
      </p:sp>
      <p:sp>
        <p:nvSpPr>
          <p:cNvPr id="10" name="Shape 8"/>
          <p:cNvSpPr/>
          <p:nvPr/>
        </p:nvSpPr>
        <p:spPr>
          <a:xfrm>
            <a:off x="4526280" y="1783080"/>
            <a:ext cx="457200" cy="457200"/>
          </a:xfrm>
          <a:prstGeom prst="ellipse">
            <a:avLst/>
          </a:prstGeom>
          <a:solidFill>
            <a:srgbClr val="2FD26E"/>
          </a:solidFill>
          <a:ln/>
        </p:spPr>
        <p:txBody>
          <a:bodyPr/>
          <a:p/>
        </p:txBody>
      </p:sp>
      <p:sp>
        <p:nvSpPr>
          <p:cNvPr id="11" name="Text 9"/>
          <p:cNvSpPr/>
          <p:nvPr/>
        </p:nvSpPr>
        <p:spPr>
          <a:xfrm>
            <a:off x="452628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Servicio</a:t>
            </a:r>
            <a:endParaRPr lang="en-US" sz="1500" dirty="0"/>
          </a:p>
        </p:txBody>
      </p:sp>
      <p:sp>
        <p:nvSpPr>
          <p:cNvPr id="13" name="Text 11"/>
          <p:cNvSpPr/>
          <p:nvPr/>
        </p:nvSpPr>
        <p:spPr>
          <a:xfrm>
            <a:off x="454456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Petición y respuesta, bloqueante y breve.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Consultar una configuración, activar un modo.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«Te pregunto y espero tu respuesta ahora».</a:t>
            </a:r>
            <a:endParaRPr lang="en-US" sz="1200" dirty="0"/>
          </a:p>
        </p:txBody>
      </p:sp>
      <p:sp>
        <p:nvSpPr>
          <p:cNvPr id="14" name="Shape 12"/>
          <p:cNvSpPr/>
          <p:nvPr/>
        </p:nvSpPr>
        <p:spPr>
          <a:xfrm>
            <a:off x="8046720" y="1600200"/>
            <a:ext cx="3474720" cy="3200400"/>
          </a:xfrm>
          <a:prstGeom prst="roundRect">
            <a:avLst>
              <a:gd name="adj" fmla="val 2286"/>
            </a:avLst>
          </a:prstGeom>
          <a:solidFill>
            <a:srgbClr val="F2F4FB"/>
          </a:solidFill>
          <a:ln/>
        </p:spPr>
        <p:txBody>
          <a:bodyPr/>
          <a:p/>
        </p:txBody>
      </p:sp>
      <p:sp>
        <p:nvSpPr>
          <p:cNvPr id="15" name="Shape 13"/>
          <p:cNvSpPr/>
          <p:nvPr/>
        </p:nvSpPr>
        <p:spPr>
          <a:xfrm>
            <a:off x="8229600" y="1783080"/>
            <a:ext cx="457200" cy="457200"/>
          </a:xfrm>
          <a:prstGeom prst="ellipse">
            <a:avLst/>
          </a:prstGeom>
          <a:solidFill>
            <a:srgbClr val="2FD26E"/>
          </a:solidFill>
          <a:ln/>
        </p:spPr>
        <p:txBody>
          <a:bodyPr/>
          <a:p/>
        </p:txBody>
      </p:sp>
      <p:sp>
        <p:nvSpPr>
          <p:cNvPr id="16" name="Text 14"/>
          <p:cNvSpPr/>
          <p:nvPr/>
        </p:nvSpPr>
        <p:spPr>
          <a:xfrm>
            <a:off x="822960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Acción</a:t>
            </a:r>
            <a:endParaRPr lang="en-US" sz="1500" dirty="0"/>
          </a:p>
        </p:txBody>
      </p:sp>
      <p:sp>
        <p:nvSpPr>
          <p:cNvPr id="18" name="Text 16"/>
          <p:cNvSpPr/>
          <p:nvPr/>
        </p:nvSpPr>
        <p:spPr>
          <a:xfrm>
            <a:off x="824788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Objetivo de larga duración con retroalimentación y cancelación.</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Navegar a un punto, ejecutar una trayectoria.</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«Encárgate de esto, ve informando, puedo cancelar».</a:t>
            </a:r>
            <a:endParaRPr lang="en-US" sz="1200" dirty="0"/>
          </a:p>
        </p:txBody>
      </p:sp>
      <p:sp>
        <p:nvSpPr>
          <p:cNvPr id="19" name="Shape 17"/>
          <p:cNvSpPr/>
          <p:nvPr/>
        </p:nvSpPr>
        <p:spPr>
          <a:xfrm>
            <a:off x="640080" y="5029200"/>
            <a:ext cx="10881360" cy="1051560"/>
          </a:xfrm>
          <a:prstGeom prst="roundRect">
            <a:avLst>
              <a:gd name="adj" fmla="val 6957"/>
            </a:avLst>
          </a:prstGeom>
          <a:solidFill>
            <a:srgbClr val="E3F7EC"/>
          </a:solidFill>
          <a:ln/>
        </p:spPr>
        <p:txBody>
          <a:bodyPr/>
          <a:p/>
        </p:txBody>
      </p:sp>
      <p:sp>
        <p:nvSpPr>
          <p:cNvPr id="20" name="Text 18"/>
          <p:cNvSpPr/>
          <p:nvPr/>
        </p:nvSpPr>
        <p:spPr>
          <a:xfrm>
            <a:off x="841248" y="5138928"/>
            <a:ext cx="10479024" cy="81381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Regla práctica: si la tarea puede tardar y podría querer cancelarse, es una acción. Nav2 y MoveIt 2 exponen precisamente sus interfaces principales como acciones.</a:t>
            </a:r>
            <a:endParaRPr lang="en-US" sz="1250" dirty="0"/>
          </a:p>
        </p:txBody>
      </p:sp>
      <p:sp>
        <p:nvSpPr>
          <p:cNvPr id="22" name="Text 1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Understanding services, actions, parameters</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S33 · ORQUESTACIÓN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Configurar, lanzar y construir</a:t>
            </a:r>
            <a:endParaRPr lang="en-US" sz="3000" dirty="0"/>
          </a:p>
        </p:txBody>
      </p:sp>
      <p:sp>
        <p:nvSpPr>
          <p:cNvPr id="4" name="Shape 2"/>
          <p:cNvSpPr/>
          <p:nvPr/>
        </p:nvSpPr>
        <p:spPr>
          <a:xfrm>
            <a:off x="640080" y="1600200"/>
            <a:ext cx="5349240" cy="2011680"/>
          </a:xfrm>
          <a:prstGeom prst="roundRect">
            <a:avLst>
              <a:gd name="adj" fmla="val 3636"/>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4650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Parámetros</a:t>
            </a:r>
            <a:endParaRPr lang="en-US" sz="1400" dirty="0"/>
          </a:p>
        </p:txBody>
      </p:sp>
      <p:sp>
        <p:nvSpPr>
          <p:cNvPr id="8" name="Text 6"/>
          <p:cNvSpPr/>
          <p:nvPr/>
        </p:nvSpPr>
        <p:spPr>
          <a:xfrm>
            <a:off x="841248" y="237744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Configuración con nombre y tipo por nodo, ajustable sin recompilar y consultable en marcha: el mismo nodo sirve para varios robots</a:t>
            </a:r>
            <a:endParaRPr lang="en-US" sz="1200" dirty="0"/>
          </a:p>
        </p:txBody>
      </p:sp>
      <p:sp>
        <p:nvSpPr>
          <p:cNvPr id="9" name="Shape 7"/>
          <p:cNvSpPr/>
          <p:nvPr/>
        </p:nvSpPr>
        <p:spPr>
          <a:xfrm>
            <a:off x="6217920" y="1600200"/>
            <a:ext cx="5349240" cy="2011680"/>
          </a:xfrm>
          <a:prstGeom prst="roundRect">
            <a:avLst>
              <a:gd name="adj" fmla="val 3636"/>
            </a:avLst>
          </a:prstGeom>
          <a:solidFill>
            <a:srgbClr val="F2F4FB"/>
          </a:solidFill>
          <a:ln/>
        </p:spPr>
        <p:txBody>
          <a:bodyPr/>
          <a:p/>
        </p:txBody>
      </p:sp>
      <p:sp>
        <p:nvSpPr>
          <p:cNvPr id="10" name="Shape 8"/>
          <p:cNvSpPr/>
          <p:nvPr/>
        </p:nvSpPr>
        <p:spPr>
          <a:xfrm>
            <a:off x="6400800" y="1783080"/>
            <a:ext cx="457200" cy="457200"/>
          </a:xfrm>
          <a:prstGeom prst="ellipse">
            <a:avLst/>
          </a:prstGeom>
          <a:solidFill>
            <a:srgbClr val="2FD26E"/>
          </a:solidFill>
          <a:ln/>
        </p:spPr>
        <p:txBody>
          <a:bodyPr/>
          <a:p/>
        </p:txBody>
      </p:sp>
      <p:sp>
        <p:nvSpPr>
          <p:cNvPr id="11" name="Text 9"/>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4650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Launch files</a:t>
            </a:r>
            <a:endParaRPr lang="en-US" sz="1400" dirty="0"/>
          </a:p>
        </p:txBody>
      </p:sp>
      <p:sp>
        <p:nvSpPr>
          <p:cNvPr id="13" name="Text 11"/>
          <p:cNvSpPr/>
          <p:nvPr/>
        </p:nvSpPr>
        <p:spPr>
          <a:xfrm>
            <a:off x="6419088" y="237744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sistema real arranca decenas de nodos; el launch los declara con sus parámetros y remapeos, y los levanta con una orden</a:t>
            </a:r>
            <a:endParaRPr lang="en-US" sz="1200" dirty="0"/>
          </a:p>
        </p:txBody>
      </p:sp>
      <p:sp>
        <p:nvSpPr>
          <p:cNvPr id="14" name="Shape 12"/>
          <p:cNvSpPr/>
          <p:nvPr/>
        </p:nvSpPr>
        <p:spPr>
          <a:xfrm>
            <a:off x="640080" y="3840480"/>
            <a:ext cx="5349240" cy="2011680"/>
          </a:xfrm>
          <a:prstGeom prst="roundRect">
            <a:avLst>
              <a:gd name="adj" fmla="val 3636"/>
            </a:avLst>
          </a:prstGeom>
          <a:solidFill>
            <a:srgbClr val="F2F4FB"/>
          </a:solidFill>
          <a:ln/>
        </p:spPr>
        <p:txBody>
          <a:bodyPr/>
          <a:p/>
        </p:txBody>
      </p:sp>
      <p:sp>
        <p:nvSpPr>
          <p:cNvPr id="15" name="Shape 13"/>
          <p:cNvSpPr/>
          <p:nvPr/>
        </p:nvSpPr>
        <p:spPr>
          <a:xfrm>
            <a:off x="822960" y="4023360"/>
            <a:ext cx="457200" cy="457200"/>
          </a:xfrm>
          <a:prstGeom prst="ellipse">
            <a:avLst/>
          </a:prstGeom>
          <a:solidFill>
            <a:srgbClr val="2FD26E"/>
          </a:solidFill>
          <a:ln/>
        </p:spPr>
        <p:txBody>
          <a:bodyPr/>
          <a:p/>
        </p:txBody>
      </p:sp>
      <p:sp>
        <p:nvSpPr>
          <p:cNvPr id="16" name="Text 14"/>
          <p:cNvSpPr/>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8678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Workspace y paquetes</a:t>
            </a:r>
            <a:endParaRPr lang="en-US" sz="1400" dirty="0"/>
          </a:p>
        </p:txBody>
      </p:sp>
      <p:sp>
        <p:nvSpPr>
          <p:cNvPr id="18" name="Text 16"/>
          <p:cNvSpPr/>
          <p:nvPr/>
        </p:nvSpPr>
        <p:spPr>
          <a:xfrm>
            <a:off x="841248" y="461772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código vive en paquetes dentro de un workspace; el paquete es la unidad de reutilización y distribución</a:t>
            </a:r>
            <a:endParaRPr lang="en-US" sz="1200" dirty="0"/>
          </a:p>
        </p:txBody>
      </p:sp>
      <p:sp>
        <p:nvSpPr>
          <p:cNvPr id="19" name="Shape 17"/>
          <p:cNvSpPr/>
          <p:nvPr/>
        </p:nvSpPr>
        <p:spPr>
          <a:xfrm>
            <a:off x="6217920" y="3840480"/>
            <a:ext cx="5349240" cy="2011680"/>
          </a:xfrm>
          <a:prstGeom prst="roundRect">
            <a:avLst>
              <a:gd name="adj" fmla="val 3636"/>
            </a:avLst>
          </a:prstGeom>
          <a:solidFill>
            <a:srgbClr val="F2F4FB"/>
          </a:solidFill>
          <a:ln/>
        </p:spPr>
        <p:txBody>
          <a:bodyPr/>
          <a:p/>
        </p:txBody>
      </p:sp>
      <p:sp>
        <p:nvSpPr>
          <p:cNvPr id="20" name="Shape 18"/>
          <p:cNvSpPr/>
          <p:nvPr/>
        </p:nvSpPr>
        <p:spPr>
          <a:xfrm>
            <a:off x="6400800" y="4023360"/>
            <a:ext cx="457200" cy="457200"/>
          </a:xfrm>
          <a:prstGeom prst="ellipse">
            <a:avLst/>
          </a:prstGeom>
          <a:solidFill>
            <a:srgbClr val="2FD26E"/>
          </a:solidFill>
          <a:ln/>
        </p:spPr>
        <p:txBody>
          <a:bodyPr/>
          <a:p/>
        </p:txBody>
      </p:sp>
      <p:sp>
        <p:nvSpPr>
          <p:cNvPr id="21" name="Text 19"/>
          <p:cNvSpPr/>
          <p:nvPr/>
        </p:nvSpPr>
        <p:spPr>
          <a:xfrm>
            <a:off x="6400800" y="4023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8678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colcon</a:t>
            </a:r>
            <a:endParaRPr lang="en-US" sz="1400" dirty="0"/>
          </a:p>
        </p:txBody>
      </p:sp>
      <p:sp>
        <p:nvSpPr>
          <p:cNvPr id="23" name="Text 21"/>
          <p:cNvSpPr/>
          <p:nvPr/>
        </p:nvSpPr>
        <p:spPr>
          <a:xfrm>
            <a:off x="6419088" y="461772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Construye todos los paquetes resolviendo dependencias. Con --symlink-install los cambios en Python se aplican sin reconstruir</a:t>
            </a:r>
            <a:endParaRPr lang="en-US" sz="1200" dirty="0"/>
          </a:p>
        </p:txBody>
      </p:sp>
      <p:sp>
        <p:nvSpPr>
          <p:cNvPr id="24" name="Shape 22"/>
          <p:cNvSpPr/>
          <p:nvPr/>
        </p:nvSpPr>
        <p:spPr>
          <a:xfrm>
            <a:off x="640080" y="5852160"/>
            <a:ext cx="10881360" cy="640080"/>
          </a:xfrm>
          <a:prstGeom prst="roundRect">
            <a:avLst>
              <a:gd name="adj" fmla="val 11429"/>
            </a:avLst>
          </a:prstGeom>
          <a:solidFill>
            <a:srgbClr val="E3F7EC"/>
          </a:solidFill>
          <a:ln/>
        </p:spPr>
        <p:txBody>
          <a:bodyPr/>
          <a:p/>
        </p:txBody>
      </p:sp>
      <p:sp>
        <p:nvSpPr>
          <p:cNvPr id="25" name="Text 23"/>
          <p:cNvSpPr/>
          <p:nvPr/>
        </p:nvSpPr>
        <p:spPr>
          <a:xfrm>
            <a:off x="841248" y="5961888"/>
            <a:ext cx="10479024" cy="4023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Antes de S34: ros2 pkg create --build-type ament_python mi_paquete · colcon build --symlink-install · source install/setup.bash</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Creating a workspace, package and launch file</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S34</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Taller: rclpy, Gazebo y TF2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Nodo en Python · simulación · árbol de transformadas</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S34</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S34 · TALLER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Anatomía de un nodo y del taller</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Un nodo rclpy en cinco piezas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Heredar de Node y darle nombre; crear publicadores y suscriptores con su tipo de mensaje, tema y perfil de QoS.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temporizador marca el ritmo de publicación; las devoluciones de llamada reaccionan a lo que llega.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rclpy.spin cede el control al ejecutor: a partir de ahí manda el flujo de mensajes, no el programa.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punto de entrada se declara en setup.py para que colcon genere el ejecutable.</a:t>
            </a:r>
            <a:endParaRPr lang="en-US" sz="1500" dirty="0"/>
          </a:p>
        </p:txBody>
      </p:sp>
      <p:sp>
        <p:nvSpPr>
          <p:cNvPr id="5" name="Shape 3"/>
          <p:cNvSpPr/>
          <p:nvPr/>
        </p:nvSpPr>
        <p:spPr>
          <a:xfrm>
            <a:off x="7223760" y="1554480"/>
            <a:ext cx="4297680" cy="4480560"/>
          </a:xfrm>
          <a:prstGeom prst="roundRect">
            <a:avLst>
              <a:gd name="adj" fmla="val 1702"/>
            </a:avLst>
          </a:prstGeom>
          <a:solidFill>
            <a:srgbClr val="F2F4FB"/>
          </a:solidFill>
          <a:ln/>
        </p:spPr>
        <p:txBody>
          <a:bodyPr/>
          <a:p/>
        </p:txBody>
      </p:sp>
      <p:sp>
        <p:nvSpPr>
          <p:cNvPr id="6" name="Text 4"/>
          <p:cNvSpPr/>
          <p:nvPr/>
        </p:nvSpPr>
        <p:spPr>
          <a:xfrm>
            <a:off x="7424928" y="17007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Comandos del taller</a:t>
            </a:r>
            <a:endParaRPr lang="en-US" sz="1500" dirty="0"/>
          </a:p>
        </p:txBody>
      </p:sp>
      <p:sp>
        <p:nvSpPr>
          <p:cNvPr id="7" name="Text 5"/>
          <p:cNvSpPr/>
          <p:nvPr/>
        </p:nvSpPr>
        <p:spPr>
          <a:xfrm>
            <a:off x="7424928" y="2194560"/>
            <a:ext cx="3895344" cy="3712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ros2 run mi_paquete mi_nodo</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topic echo /cmd_vel</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topic hz /scan</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rqt_graph</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launch nav2_bringup</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 tb3_simulation_launch.py</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run tf2_tools view_frames</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run tf2_ros tf2_echo map base_link</a:t>
            </a:r>
            <a:endParaRPr lang="en-US" sz="12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rclpy · gazebosim.org · ros_gz</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S34 · GAZEBO Y TF2</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Simulación y el árbol de transformadas</a:t>
            </a:r>
            <a:endParaRPr lang="en-US" sz="3000" dirty="0"/>
          </a:p>
        </p:txBody>
      </p:sp>
      <p:sp>
        <p:nvSpPr>
          <p:cNvPr id="4" name="Shape 2"/>
          <p:cNvSpPr/>
          <p:nvPr/>
        </p:nvSpPr>
        <p:spPr>
          <a:xfrm>
            <a:off x="640080" y="1572768"/>
            <a:ext cx="5394960" cy="2286000"/>
          </a:xfrm>
          <a:prstGeom prst="roundRect">
            <a:avLst>
              <a:gd name="adj" fmla="val 3200"/>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Gazebo y el puente ros_gz</a:t>
            </a:r>
            <a:endParaRPr lang="en-US" sz="1500" dirty="0"/>
          </a:p>
        </p:txBody>
      </p:sp>
      <p:sp>
        <p:nvSpPr>
          <p:cNvPr id="6" name="Text 4"/>
          <p:cNvSpPr/>
          <p:nvPr/>
        </p:nvSpPr>
        <p:spPr>
          <a:xfrm>
            <a:off x="841248" y="2212848"/>
            <a:ext cx="4992624" cy="15179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simulador aporta física, sensores sintéticos y mundo; el puente traduce entre los mensajes de Gazebo y los de ROS 2.</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Permite desarrollar el stack completo sin tocar hardware, y sin poder romperlo.</a:t>
            </a:r>
            <a:endParaRPr lang="en-US" sz="1250" dirty="0"/>
          </a:p>
        </p:txBody>
      </p:sp>
      <p:sp>
        <p:nvSpPr>
          <p:cNvPr id="7" name="Shape 5"/>
          <p:cNvSpPr/>
          <p:nvPr/>
        </p:nvSpPr>
        <p:spPr>
          <a:xfrm>
            <a:off x="6263640" y="1572768"/>
            <a:ext cx="5257800" cy="2286000"/>
          </a:xfrm>
          <a:prstGeom prst="roundRect">
            <a:avLst>
              <a:gd name="adj" fmla="val 3200"/>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TF2: quién está dónde</a:t>
            </a:r>
            <a:endParaRPr lang="en-US" sz="1500" dirty="0"/>
          </a:p>
        </p:txBody>
      </p:sp>
      <p:sp>
        <p:nvSpPr>
          <p:cNvPr id="9" name="Text 7"/>
          <p:cNvSpPr/>
          <p:nvPr/>
        </p:nvSpPr>
        <p:spPr>
          <a:xfrm>
            <a:off x="6464808" y="2212848"/>
            <a:ext cx="4855464" cy="15179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Mantiene el árbol de transformadas entre todos los marcos del robot y del mundo, con su historia temporal.</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Permite preguntar «dónde estaba el sensor respecto al mapa en el instante de esta medida»: sin eso, fusionar sensores es imposible.</a:t>
            </a:r>
            <a:endParaRPr lang="en-US" sz="1250" dirty="0"/>
          </a:p>
        </p:txBody>
      </p:sp>
      <p:sp>
        <p:nvSpPr>
          <p:cNvPr id="10" name="Shape 8"/>
          <p:cNvSpPr/>
          <p:nvPr/>
        </p:nvSpPr>
        <p:spPr>
          <a:xfrm>
            <a:off x="640080" y="4041648"/>
            <a:ext cx="10881360" cy="2011680"/>
          </a:xfrm>
          <a:prstGeom prst="roundRect">
            <a:avLst>
              <a:gd name="adj" fmla="val 3636"/>
            </a:avLst>
          </a:prstGeom>
          <a:solidFill>
            <a:srgbClr val="E3F7EC"/>
          </a:solidFill>
          <a:ln/>
        </p:spPr>
        <p:txBody>
          <a:bodyPr/>
          <a:p/>
        </p:txBody>
      </p:sp>
      <p:sp>
        <p:nvSpPr>
          <p:cNvPr id="11" name="Text 9"/>
          <p:cNvSpPr/>
          <p:nvPr/>
        </p:nvSpPr>
        <p:spPr>
          <a:xfrm>
            <a:off x="841248" y="418795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convención que ordena la navegación (REP 105)</a:t>
            </a:r>
            <a:endParaRPr lang="en-US" sz="1500" dirty="0"/>
          </a:p>
        </p:txBody>
      </p:sp>
      <p:sp>
        <p:nvSpPr>
          <p:cNvPr id="12" name="Text 10"/>
          <p:cNvSpPr/>
          <p:nvPr/>
        </p:nvSpPr>
        <p:spPr>
          <a:xfrm>
            <a:off x="841248" y="4681728"/>
            <a:ext cx="10479024" cy="12435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map → odom → base_link → marcos de sensores. La transformada odom→base_link es continua pero deriva; la map→odom la corrige a saltos cuando la localización se actualiza. Entender esta cadena explica por qué el robot «salta» en RViz al cerrar un bucle, y conecta directamente con la localización del bloque 6 y con AMCL en S36.</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Introducing tf2 · REP 105</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S35</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Planificación de trayectorias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Mapas y C-space · A* · PRM y RRT · campos potenciales</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S35</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FIGURA Y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Buscar y muestrear, en imágenes</a:t>
            </a:r>
            <a:endParaRPr lang="en-US" sz="3000" dirty="0"/>
          </a:p>
        </p:txBody>
      </p:sp>
      <p:pic>
        <p:nvPicPr>
          <p:cNvPr id="4" name="Image 0" descr="/home/claude/work/curso_82514/media/figs/b7_astar_dijkstra.png">    </p:cNvPr>
          <p:cNvPicPr>
            <a:picLocks noChangeAspect="1"/>
          </p:cNvPicPr>
          <p:nvPr/>
        </p:nvPicPr>
        <p:blipFill>
          <a:blip r:embed="rId1"/>
          <a:stretch>
            <a:fillRect/>
          </a:stretch>
        </p:blipFill>
        <p:spPr>
          <a:xfrm>
            <a:off x="640080" y="1849435"/>
            <a:ext cx="6675120" cy="2244731"/>
          </a:xfrm>
          <a:prstGeom prst="rect">
            <a:avLst/>
          </a:prstGeom>
        </p:spPr>
      </p:pic>
      <p:sp>
        <p:nvSpPr>
          <p:cNvPr id="5" name="Text 2"/>
          <p:cNvSpPr/>
          <p:nvPr/>
        </p:nvSpPr>
        <p:spPr>
          <a:xfrm>
            <a:off x="640080" y="4130741"/>
            <a:ext cx="667512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Mismo mapa, mismo camino óptimo: A* expande menos de la mitad de nodos</a:t>
            </a:r>
            <a:endParaRPr lang="en-US" sz="1050" dirty="0"/>
          </a:p>
        </p:txBody>
      </p:sp>
      <p:pic>
        <p:nvPicPr>
          <p:cNvPr id="6" name="Image 1" descr="/home/claude/work/curso_82514/media/gifs/b7_rrt.gif">    </p:cNvPr>
          <p:cNvPicPr>
            <a:picLocks noChangeAspect="1"/>
          </p:cNvPicPr>
          <p:nvPr/>
        </p:nvPicPr>
        <p:blipFill>
          <a:blip r:embed="rId2"/>
          <a:stretch>
            <a:fillRect/>
          </a:stretch>
        </p:blipFill>
        <p:spPr>
          <a:xfrm>
            <a:off x="7452360" y="1631224"/>
            <a:ext cx="4069080" cy="3778431"/>
          </a:xfrm>
          <a:prstGeom prst="rect">
            <a:avLst/>
          </a:prstGeom>
        </p:spPr>
      </p:pic>
      <p:sp>
        <p:nvSpPr>
          <p:cNvPr id="7" name="Text 3"/>
          <p:cNvSpPr/>
          <p:nvPr/>
        </p:nvSpPr>
        <p:spPr>
          <a:xfrm>
            <a:off x="7452360" y="5446232"/>
            <a:ext cx="40690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RRT: las muestras tiran del árbol (cuaderno S35)</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 y animación propias del curso (cuaderno S35)</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FORMULACIÓN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mapa al espacio de configuraciones</a:t>
            </a:r>
            <a:endParaRPr lang="en-US" sz="3000" dirty="0"/>
          </a:p>
        </p:txBody>
      </p:sp>
      <p:sp>
        <p:nvSpPr>
          <p:cNvPr id="4" name="Text 2"/>
          <p:cNvSpPr/>
          <p:nvPr/>
        </p:nvSpPr>
        <p:spPr>
          <a:xfrm>
            <a:off x="640080" y="1463040"/>
            <a:ext cx="640080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Planificar no es dibujar una línea en el mapa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problema se plantea en el espacio de configuraciones: hallar un camino en C</a:t>
            </a:r>
            <a:pPr indent="0" marL="0">
              <a:spcAft>
                <a:spcPts val="800"/>
              </a:spcAft>
              <a:buNone/>
            </a:pPr>
            <a:r>
              <a:rPr lang="en-US" sz="1400" baseline="-40000" dirty="0">
                <a:solidFill>
                  <a:srgbClr val="1A1A2E"/>
                </a:solidFill>
                <a:latin typeface="Calibri" pitchFamily="34" charset="0"/>
                <a:ea typeface="Calibri" pitchFamily="34" charset="-122"/>
                <a:cs typeface="Calibri" pitchFamily="34" charset="-120"/>
              </a:rPr>
              <a:t>libre</a:t>
            </a:r>
            <a:pPr indent="0" marL="0">
              <a:spcAft>
                <a:spcPts val="800"/>
              </a:spcAft>
              <a:buNone/>
            </a:pPr>
            <a:r>
              <a:rPr lang="en-US" sz="1400" dirty="0">
                <a:solidFill>
                  <a:srgbClr val="1A1A2E"/>
                </a:solidFill>
                <a:latin typeface="Calibri" pitchFamily="34" charset="0"/>
                <a:ea typeface="Calibri" pitchFamily="34" charset="-122"/>
                <a:cs typeface="Calibri" pitchFamily="34" charset="-120"/>
              </a:rPr>
              <a:t> desde la configuración inicial a la meta (Lynch y Park, 2017, p. 353).</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robot circular en el plano se convierte en un punto si se inflan los obstáculos con su radio (Lynch y Park, 2017, p. 359).</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Inflar el obstáculo con el tamaño del robot es exactamente lo que hace la capa de inflado del costmap (Corke, 2023, p. 181).</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Completitud: un planificador puede ser completo, completo en resolución o completo probabilísticamente (Lynch y Park, 2017, p. 356).</a:t>
            </a:r>
            <a:endParaRPr lang="en-US" sz="1500" dirty="0"/>
          </a:p>
        </p:txBody>
      </p:sp>
      <p:sp>
        <p:nvSpPr>
          <p:cNvPr id="5" name="Shape 3"/>
          <p:cNvSpPr/>
          <p:nvPr/>
        </p:nvSpPr>
        <p:spPr>
          <a:xfrm>
            <a:off x="7315200" y="1554480"/>
            <a:ext cx="4206240" cy="4480560"/>
          </a:xfrm>
          <a:prstGeom prst="roundRect">
            <a:avLst>
              <a:gd name="adj" fmla="val 1739"/>
            </a:avLst>
          </a:prstGeom>
          <a:solidFill>
            <a:srgbClr val="F2F4FB"/>
          </a:solidFill>
          <a:ln/>
        </p:spPr>
        <p:txBody>
          <a:bodyPr/>
          <a:p/>
        </p:txBody>
      </p:sp>
      <p:sp>
        <p:nvSpPr>
          <p:cNvPr id="6" name="Text 4"/>
          <p:cNvSpPr/>
          <p:nvPr/>
        </p:nvSpPr>
        <p:spPr>
          <a:xfrm>
            <a:off x="7516368" y="1700784"/>
            <a:ext cx="38039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Dos mapas, dos papeles</a:t>
            </a:r>
            <a:endParaRPr lang="en-US" sz="1500" dirty="0"/>
          </a:p>
        </p:txBody>
      </p:sp>
      <p:sp>
        <p:nvSpPr>
          <p:cNvPr id="7" name="Text 5"/>
          <p:cNvSpPr/>
          <p:nvPr/>
        </p:nvSpPr>
        <p:spPr>
          <a:xfrm>
            <a:off x="7516368" y="2194560"/>
            <a:ext cx="3803904" cy="3712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Mapa de ocupación: qué celdas están libres, ocupadas o desconocidas, evidencia acumulada (Thrun et al., 2005, pp. 284-286).</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Mapa de coste: cuánto cuesta pasar por cada celda, con obstáculos inflados y gradiente de proximidad (Corke, 2023, p. 182).</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El primero describe el mundo; el segundo codifica la política de conducción.</a:t>
            </a:r>
            <a:endParaRPr lang="en-US" sz="12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353-359 · Corke, 2023, pp. 177-182</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ALGORITMOS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Buscar y muestrear</a:t>
            </a:r>
            <a:endParaRPr lang="en-US" sz="3000" dirty="0"/>
          </a:p>
        </p:txBody>
      </p:sp>
      <p:sp>
        <p:nvSpPr>
          <p:cNvPr id="4" name="Shape 2"/>
          <p:cNvSpPr/>
          <p:nvPr/>
        </p:nvSpPr>
        <p:spPr>
          <a:xfrm>
            <a:off x="640080" y="1572768"/>
            <a:ext cx="5349240" cy="2057400"/>
          </a:xfrm>
          <a:prstGeom prst="roundRect">
            <a:avLst>
              <a:gd name="adj" fmla="val 3556"/>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Transformada de distancia</a:t>
            </a:r>
            <a:endParaRPr lang="en-US" sz="1400" dirty="0"/>
          </a:p>
        </p:txBody>
      </p:sp>
      <p:sp>
        <p:nvSpPr>
          <p:cNvPr id="8" name="Text 6"/>
          <p:cNvSpPr/>
          <p:nvPr/>
        </p:nvSpPr>
        <p:spPr>
          <a:xfrm>
            <a:off x="84124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Propaga la distancia a la meta por todo el mapa; después basta descender el gradiente. Cara, pero da el camino óptimo desde cualquier punto (Corke, 2023, pp. 177-181).</a:t>
            </a:r>
            <a:endParaRPr lang="en-US" sz="1150" dirty="0"/>
          </a:p>
        </p:txBody>
      </p:sp>
      <p:sp>
        <p:nvSpPr>
          <p:cNvPr id="9" name="Shape 7"/>
          <p:cNvSpPr/>
          <p:nvPr/>
        </p:nvSpPr>
        <p:spPr>
          <a:xfrm>
            <a:off x="6217920" y="1572768"/>
            <a:ext cx="5349240" cy="2057400"/>
          </a:xfrm>
          <a:prstGeom prst="roundRect">
            <a:avLst>
              <a:gd name="adj" fmla="val 3556"/>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a:t>
            </a:r>
            <a:endParaRPr lang="en-US" sz="1400" dirty="0"/>
          </a:p>
        </p:txBody>
      </p:sp>
      <p:sp>
        <p:nvSpPr>
          <p:cNvPr id="13" name="Text 11"/>
          <p:cNvSpPr/>
          <p:nvPr/>
        </p:nvSpPr>
        <p:spPr>
          <a:xfrm>
            <a:off x="641908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Búsqueda informada: coste acumulado más heurística de coste restante. Garantiza optimalidad solo si la heurística es admisible, es decir, nunca sobreestima (Corke, 2023, p. 175).</a:t>
            </a:r>
            <a:endParaRPr lang="en-US" sz="1150" dirty="0"/>
          </a:p>
        </p:txBody>
      </p:sp>
      <p:sp>
        <p:nvSpPr>
          <p:cNvPr id="14" name="Shape 12"/>
          <p:cNvSpPr/>
          <p:nvPr/>
        </p:nvSpPr>
        <p:spPr>
          <a:xfrm>
            <a:off x="640080" y="3858768"/>
            <a:ext cx="5349240" cy="2057400"/>
          </a:xfrm>
          <a:prstGeom prst="roundRect">
            <a:avLst>
              <a:gd name="adj" fmla="val 3556"/>
            </a:avLst>
          </a:prstGeom>
          <a:solidFill>
            <a:srgbClr val="F2F4FB"/>
          </a:solidFill>
          <a:ln/>
        </p:spPr>
        <p:txBody>
          <a:bodyPr/>
          <a:p/>
        </p:txBody>
      </p:sp>
      <p:sp>
        <p:nvSpPr>
          <p:cNvPr id="15" name="Shape 13"/>
          <p:cNvSpPr/>
          <p:nvPr/>
        </p:nvSpPr>
        <p:spPr>
          <a:xfrm>
            <a:off x="822960" y="4041648"/>
            <a:ext cx="457200" cy="457200"/>
          </a:xfrm>
          <a:prstGeom prst="ellipse">
            <a:avLst/>
          </a:prstGeom>
          <a:solidFill>
            <a:srgbClr val="2FD26E"/>
          </a:solidFill>
          <a:ln/>
        </p:spPr>
        <p:txBody>
          <a:bodyPr/>
          <a:p/>
        </p:txBody>
      </p:sp>
      <p:sp>
        <p:nvSpPr>
          <p:cNvPr id="16" name="Text 14"/>
          <p:cNvSpPr/>
          <p:nvPr/>
        </p:nvSpPr>
        <p:spPr>
          <a:xfrm>
            <a:off x="82296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PRM</a:t>
            </a:r>
            <a:endParaRPr lang="en-US" sz="1400" dirty="0"/>
          </a:p>
        </p:txBody>
      </p:sp>
      <p:sp>
        <p:nvSpPr>
          <p:cNvPr id="18" name="Text 16"/>
          <p:cNvSpPr/>
          <p:nvPr/>
        </p:nvSpPr>
        <p:spPr>
          <a:xfrm>
            <a:off x="84124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Muestrea configuraciones libres, las conecta en un grafo y luego consulta con A*. Compensa cuando hay muchas consultas sobre el mismo mapa (Lynch y Park, 2017, p. 384).</a:t>
            </a:r>
            <a:endParaRPr lang="en-US" sz="1150" dirty="0"/>
          </a:p>
        </p:txBody>
      </p:sp>
      <p:sp>
        <p:nvSpPr>
          <p:cNvPr id="19" name="Shape 17"/>
          <p:cNvSpPr/>
          <p:nvPr/>
        </p:nvSpPr>
        <p:spPr>
          <a:xfrm>
            <a:off x="6217920" y="3858768"/>
            <a:ext cx="5349240" cy="2057400"/>
          </a:xfrm>
          <a:prstGeom prst="roundRect">
            <a:avLst>
              <a:gd name="adj" fmla="val 3556"/>
            </a:avLst>
          </a:prstGeom>
          <a:solidFill>
            <a:srgbClr val="F2F4FB"/>
          </a:solidFill>
          <a:ln/>
        </p:spPr>
        <p:txBody>
          <a:bodyPr/>
          <a:p/>
        </p:txBody>
      </p:sp>
      <p:sp>
        <p:nvSpPr>
          <p:cNvPr id="20" name="Shape 18"/>
          <p:cNvSpPr/>
          <p:nvPr/>
        </p:nvSpPr>
        <p:spPr>
          <a:xfrm>
            <a:off x="6400800" y="4041648"/>
            <a:ext cx="457200" cy="457200"/>
          </a:xfrm>
          <a:prstGeom prst="ellipse">
            <a:avLst/>
          </a:prstGeom>
          <a:solidFill>
            <a:srgbClr val="2FD26E"/>
          </a:solidFill>
          <a:ln/>
        </p:spPr>
        <p:txBody>
          <a:bodyPr/>
          <a:p/>
        </p:txBody>
      </p:sp>
      <p:sp>
        <p:nvSpPr>
          <p:cNvPr id="21" name="Text 19"/>
          <p:cNvSpPr/>
          <p:nvPr/>
        </p:nvSpPr>
        <p:spPr>
          <a:xfrm>
            <a:off x="640080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RRT</a:t>
            </a:r>
            <a:endParaRPr lang="en-US" sz="1400" dirty="0"/>
          </a:p>
        </p:txBody>
      </p:sp>
      <p:sp>
        <p:nvSpPr>
          <p:cNvPr id="23" name="Text 21"/>
          <p:cNvSpPr/>
          <p:nvPr/>
        </p:nvSpPr>
        <p:spPr>
          <a:xfrm>
            <a:off x="641908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Crece un árbol hacia muestras aleatorias: «las muestras tiran del árbol» (Lynch y Park, 2017, p. 379). Domina en alta dimensión y admite restricciones no holonómicas (Corke, 2023, pp. 196-199).</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174-199 · Lynch y Park, 2017, pp. 378-386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S36</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Navegación autónoma con Nav2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Servidores · costmaps por capas · behavior trees · AMCL</a:t>
            </a:r>
            <a:endParaRPr lang="en-US" sz="16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S36 · ARQUITECTURA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Nav2: cómo se organiza un stack real</a:t>
            </a:r>
            <a:endParaRPr lang="en-US" sz="3000" dirty="0"/>
          </a:p>
        </p:txBody>
      </p:sp>
      <p:sp>
        <p:nvSpPr>
          <p:cNvPr id="4" name="Shape 2"/>
          <p:cNvSpPr/>
          <p:nvPr/>
        </p:nvSpPr>
        <p:spPr>
          <a:xfrm>
            <a:off x="640080" y="1572768"/>
            <a:ext cx="5349240" cy="2057400"/>
          </a:xfrm>
          <a:prstGeom prst="roundRect">
            <a:avLst>
              <a:gd name="adj" fmla="val 3556"/>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Servidores especializados</a:t>
            </a:r>
            <a:endParaRPr lang="en-US" sz="1400" dirty="0"/>
          </a:p>
        </p:txBody>
      </p:sp>
      <p:sp>
        <p:nvSpPr>
          <p:cNvPr id="8" name="Text 6"/>
          <p:cNvSpPr/>
          <p:nvPr/>
        </p:nvSpPr>
        <p:spPr>
          <a:xfrm>
            <a:off x="84124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Planificador global, controlador local, suavizador, comportamientos de recuperación: cada uno es un servidor con su interfaz de acción, sustituible por configuración</a:t>
            </a:r>
            <a:endParaRPr lang="en-US" sz="1150" dirty="0"/>
          </a:p>
        </p:txBody>
      </p:sp>
      <p:sp>
        <p:nvSpPr>
          <p:cNvPr id="9" name="Shape 7"/>
          <p:cNvSpPr/>
          <p:nvPr/>
        </p:nvSpPr>
        <p:spPr>
          <a:xfrm>
            <a:off x="6217920" y="1572768"/>
            <a:ext cx="5349240" cy="2057400"/>
          </a:xfrm>
          <a:prstGeom prst="roundRect">
            <a:avLst>
              <a:gd name="adj" fmla="val 3556"/>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Costmaps por capas</a:t>
            </a:r>
            <a:endParaRPr lang="en-US" sz="1400" dirty="0"/>
          </a:p>
        </p:txBody>
      </p:sp>
      <p:sp>
        <p:nvSpPr>
          <p:cNvPr id="13" name="Text 11"/>
          <p:cNvSpPr/>
          <p:nvPr/>
        </p:nvSpPr>
        <p:spPr>
          <a:xfrm>
            <a:off x="641908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Estática (el mapa), obstáculos (sensores en vivo), inflado (margen del robot). Se combinan en un único mapa de coste maestro</a:t>
            </a:r>
            <a:endParaRPr lang="en-US" sz="1150" dirty="0"/>
          </a:p>
        </p:txBody>
      </p:sp>
      <p:sp>
        <p:nvSpPr>
          <p:cNvPr id="14" name="Shape 12"/>
          <p:cNvSpPr/>
          <p:nvPr/>
        </p:nvSpPr>
        <p:spPr>
          <a:xfrm>
            <a:off x="640080" y="3858768"/>
            <a:ext cx="5349240" cy="2057400"/>
          </a:xfrm>
          <a:prstGeom prst="roundRect">
            <a:avLst>
              <a:gd name="adj" fmla="val 3556"/>
            </a:avLst>
          </a:prstGeom>
          <a:solidFill>
            <a:srgbClr val="F2F4FB"/>
          </a:solidFill>
          <a:ln/>
        </p:spPr>
        <p:txBody>
          <a:bodyPr/>
          <a:p/>
        </p:txBody>
      </p:sp>
      <p:sp>
        <p:nvSpPr>
          <p:cNvPr id="15" name="Shape 13"/>
          <p:cNvSpPr/>
          <p:nvPr/>
        </p:nvSpPr>
        <p:spPr>
          <a:xfrm>
            <a:off x="822960" y="4041648"/>
            <a:ext cx="457200" cy="457200"/>
          </a:xfrm>
          <a:prstGeom prst="ellipse">
            <a:avLst/>
          </a:prstGeom>
          <a:solidFill>
            <a:srgbClr val="2FD26E"/>
          </a:solidFill>
          <a:ln/>
        </p:spPr>
        <p:txBody>
          <a:bodyPr/>
          <a:p/>
        </p:txBody>
      </p:sp>
      <p:sp>
        <p:nvSpPr>
          <p:cNvPr id="16" name="Text 14"/>
          <p:cNvSpPr/>
          <p:nvPr/>
        </p:nvSpPr>
        <p:spPr>
          <a:xfrm>
            <a:off x="82296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Behavior tree</a:t>
            </a:r>
            <a:endParaRPr lang="en-US" sz="1400" dirty="0"/>
          </a:p>
        </p:txBody>
      </p:sp>
      <p:sp>
        <p:nvSpPr>
          <p:cNvPr id="18" name="Text 16"/>
          <p:cNvSpPr/>
          <p:nvPr/>
        </p:nvSpPr>
        <p:spPr>
          <a:xfrm>
            <a:off x="84124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lógica de navegación no está cableada: es un árbol que decide qué hacer y cómo reaccionar al fallo, reintentar, limpiar el costmap, girar en el sitio</a:t>
            </a:r>
            <a:endParaRPr lang="en-US" sz="1150" dirty="0"/>
          </a:p>
        </p:txBody>
      </p:sp>
      <p:sp>
        <p:nvSpPr>
          <p:cNvPr id="19" name="Shape 17"/>
          <p:cNvSpPr/>
          <p:nvPr/>
        </p:nvSpPr>
        <p:spPr>
          <a:xfrm>
            <a:off x="6217920" y="3858768"/>
            <a:ext cx="5349240" cy="2057400"/>
          </a:xfrm>
          <a:prstGeom prst="roundRect">
            <a:avLst>
              <a:gd name="adj" fmla="val 3556"/>
            </a:avLst>
          </a:prstGeom>
          <a:solidFill>
            <a:srgbClr val="F2F4FB"/>
          </a:solidFill>
          <a:ln/>
        </p:spPr>
        <p:txBody>
          <a:bodyPr/>
          <a:p/>
        </p:txBody>
      </p:sp>
      <p:sp>
        <p:nvSpPr>
          <p:cNvPr id="20" name="Shape 18"/>
          <p:cNvSpPr/>
          <p:nvPr/>
        </p:nvSpPr>
        <p:spPr>
          <a:xfrm>
            <a:off x="6400800" y="4041648"/>
            <a:ext cx="457200" cy="457200"/>
          </a:xfrm>
          <a:prstGeom prst="ellipse">
            <a:avLst/>
          </a:prstGeom>
          <a:solidFill>
            <a:srgbClr val="2FD26E"/>
          </a:solidFill>
          <a:ln/>
        </p:spPr>
        <p:txBody>
          <a:bodyPr/>
          <a:p/>
        </p:txBody>
      </p:sp>
      <p:sp>
        <p:nvSpPr>
          <p:cNvPr id="21" name="Text 19"/>
          <p:cNvSpPr/>
          <p:nvPr/>
        </p:nvSpPr>
        <p:spPr>
          <a:xfrm>
            <a:off x="640080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AMCL</a:t>
            </a:r>
            <a:endParaRPr lang="en-US" sz="1400" dirty="0"/>
          </a:p>
        </p:txBody>
      </p:sp>
      <p:sp>
        <p:nvSpPr>
          <p:cNvPr id="23" name="Text 21"/>
          <p:cNvSpPr/>
          <p:nvPr/>
        </p:nvSpPr>
        <p:spPr>
          <a:xfrm>
            <a:off x="641908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localización de Nav2 es el filtro de partículas adaptativo del bloque 6: aquí es donde aquella teoría se convierte en un nodo que se lanza</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docs.nav2.org · Navigation Concepts, Costmap 2D, Behavior Trees, AMCL</a:t>
            </a:r>
            <a:endParaRPr lang="en-US" sz="1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S37</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MoveIt 2 e integración del stack</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move_group · planning scene · OMPL · planificación cartesiana</a:t>
            </a:r>
            <a:endParaRPr lang="en-US" sz="1600" dirty="0"/>
          </a:p>
        </p:txBody>
      </p:sp>
      <p:pic>
        <p:nvPicPr>
          <p:cNvPr id="8" name="Image 0" descr="/home/claude/work/curso_82514/media/fotos/b4_paletizado.png">    </p:cNvPr>
          <p:cNvPicPr>
            <a:picLocks noChangeAspect="1"/>
          </p:cNvPicPr>
          <p:nvPr/>
        </p:nvPicPr>
        <p:blipFill>
          <a:blip r:embed="rId1"/>
          <a:stretch>
            <a:fillRect/>
          </a:stretch>
        </p:blipFill>
        <p:spPr>
          <a:xfrm>
            <a:off x="7818120" y="3216443"/>
            <a:ext cx="3749040" cy="2564810"/>
          </a:xfrm>
          <a:prstGeom prst="rect">
            <a:avLst/>
          </a:prstGeom>
        </p:spPr>
      </p:pic>
      <p:sp>
        <p:nvSpPr>
          <p:cNvPr id="9" name="Shape 6"/>
          <p:cNvSpPr/>
          <p:nvPr/>
        </p:nvSpPr>
        <p:spPr>
          <a:xfrm>
            <a:off x="7818120" y="5781253"/>
            <a:ext cx="3749040" cy="54864"/>
          </a:xfrm>
          <a:prstGeom prst="rect">
            <a:avLst/>
          </a:prstGeom>
          <a:solidFill>
            <a:srgbClr val="2FD26E"/>
          </a:solidFill>
          <a:ln/>
        </p:spPr>
        <p:txBody>
          <a:bodyPr/>
          <a:p/>
        </p:txBody>
      </p:sp>
      <p:sp>
        <p:nvSpPr>
          <p:cNvPr id="10" name="Text 7"/>
          <p:cNvSpPr/>
          <p:nvPr/>
        </p:nvSpPr>
        <p:spPr>
          <a:xfrm>
            <a:off x="7589520" y="5909269"/>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Pick and place: la tarea canónica de MoveIt</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CollaborativePalletizer CC BY-SA 4.0 · Wikimedia Commons</a:t>
            </a:r>
            <a:endParaRPr lang="en-US" sz="8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S37 · MANIPULACIÓN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MoveIt 2: planificar con el mundo dentro</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move_group</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nodo orquestador: recibe objetivos como acción, consulta la cinemática del bloque 4, invoca al planificador y devuelve una trayectoria ejecutable.</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Planning scene</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modelo del mundo del manipulador: el robot, los obstáculos conocidos y los objetos percibidos.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Planificar sin escena es planificar contra el aire: aquí entra la percepción del bloque 6.</a:t>
            </a:r>
            <a:endParaRPr lang="en-US" sz="1250" dirty="0"/>
          </a:p>
        </p:txBody>
      </p:sp>
      <p:sp>
        <p:nvSpPr>
          <p:cNvPr id="10" name="Shape 8"/>
          <p:cNvSpPr/>
          <p:nvPr/>
        </p:nvSpPr>
        <p:spPr>
          <a:xfrm>
            <a:off x="640080" y="3995928"/>
            <a:ext cx="5394960" cy="2057400"/>
          </a:xfrm>
          <a:prstGeom prst="roundRect">
            <a:avLst>
              <a:gd name="adj" fmla="val 3556"/>
            </a:avLst>
          </a:prstGeom>
          <a:solidFill>
            <a:srgbClr val="F2F4FB"/>
          </a:solidFill>
          <a:ln/>
        </p:spPr>
        <p:txBody>
          <a:bodyPr/>
          <a:p/>
        </p:txBody>
      </p:sp>
      <p:sp>
        <p:nvSpPr>
          <p:cNvPr id="11" name="Text 9"/>
          <p:cNvSpPr/>
          <p:nvPr/>
        </p:nvSpPr>
        <p:spPr>
          <a:xfrm>
            <a:off x="841248" y="414223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OMPL y la elección del planificador</a:t>
            </a:r>
            <a:endParaRPr lang="en-US" sz="1500" dirty="0"/>
          </a:p>
        </p:txBody>
      </p:sp>
      <p:sp>
        <p:nvSpPr>
          <p:cNvPr id="12" name="Text 10"/>
          <p:cNvSpPr/>
          <p:nvPr/>
        </p:nvSpPr>
        <p:spPr>
          <a:xfrm>
            <a:off x="841248" y="4636008"/>
            <a:ext cx="49926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biblioteca de planificadores de muestreo por defecto. RRT-Connect, el RRT bidireccional de Lynch y Park, 2017, p. 382, es el caballo de batalla: rápido, sin garantía de optimalidad.</a:t>
            </a:r>
            <a:endParaRPr lang="en-US" sz="1250" dirty="0"/>
          </a:p>
        </p:txBody>
      </p:sp>
      <p:sp>
        <p:nvSpPr>
          <p:cNvPr id="13" name="Shape 11"/>
          <p:cNvSpPr/>
          <p:nvPr/>
        </p:nvSpPr>
        <p:spPr>
          <a:xfrm>
            <a:off x="6263640" y="3995928"/>
            <a:ext cx="5257800" cy="2057400"/>
          </a:xfrm>
          <a:prstGeom prst="roundRect">
            <a:avLst>
              <a:gd name="adj" fmla="val 3556"/>
            </a:avLst>
          </a:prstGeom>
          <a:solidFill>
            <a:srgbClr val="F2F4FB"/>
          </a:solidFill>
          <a:ln/>
        </p:spPr>
        <p:txBody>
          <a:bodyPr/>
          <a:p/>
        </p:txBody>
      </p:sp>
      <p:sp>
        <p:nvSpPr>
          <p:cNvPr id="14" name="Text 12"/>
          <p:cNvSpPr/>
          <p:nvPr/>
        </p:nvSpPr>
        <p:spPr>
          <a:xfrm>
            <a:off x="6464808" y="414223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Cartesiano frente a articular</a:t>
            </a:r>
            <a:endParaRPr lang="en-US" sz="1500" dirty="0"/>
          </a:p>
        </p:txBody>
      </p:sp>
      <p:sp>
        <p:nvSpPr>
          <p:cNvPr id="15" name="Text 13"/>
          <p:cNvSpPr/>
          <p:nvPr/>
        </p:nvSpPr>
        <p:spPr>
          <a:xfrm>
            <a:off x="6464808" y="4636008"/>
            <a:ext cx="485546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la tarea exige una trayectoria recta del efector, soldar, dispensar, insertar, se planifica en el espacio cartesiano y se paga en riesgo de singularidad (bloque 4). Si no, la planificación articular es más robusta.</a:t>
            </a:r>
            <a:endParaRPr lang="en-US" sz="12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moveit.picknik.ai · Concepts, OMPL, computeCartesianPath</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